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Corbel"/>
      <p:regular r:id="rId42"/>
      <p:bold r:id="rId43"/>
      <p:italic r:id="rId44"/>
      <p:boldItalic r:id="rId45"/>
    </p:embeddedFont>
    <p:embeddedFont>
      <p:font typeface="Tahoma"/>
      <p:regular r:id="rId46"/>
      <p:bold r:id="rId47"/>
    </p:embeddedFont>
    <p:embeddedFont>
      <p:font typeface="Century Gothic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j/Hn72waHEF2bchPcib2oKU4dx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E5ED6D-400C-4668-B19C-BAA0915D5659}">
  <a:tblStyle styleId="{60E5ED6D-400C-4668-B19C-BAA0915D5659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/>
      <a:tcStyle>
        <a:fill>
          <a:solidFill>
            <a:srgbClr val="CCE2F8"/>
          </a:solidFill>
        </a:fill>
      </a:tcStyle>
    </a:band1H>
    <a:band2H>
      <a:tcTxStyle/>
    </a:band2H>
    <a:band1V>
      <a:tcTxStyle/>
      <a:tcStyle>
        <a:fill>
          <a:solidFill>
            <a:srgbClr val="CCE2F8"/>
          </a:solidFill>
        </a:fill>
      </a:tcStyle>
    </a:band1V>
    <a:band2V>
      <a:tcTxStyle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Corbel-regular.fntdata"/><Relationship Id="rId41" Type="http://schemas.openxmlformats.org/officeDocument/2006/relationships/slide" Target="slides/slide35.xml"/><Relationship Id="rId44" Type="http://schemas.openxmlformats.org/officeDocument/2006/relationships/font" Target="fonts/Corbel-italic.fntdata"/><Relationship Id="rId43" Type="http://schemas.openxmlformats.org/officeDocument/2006/relationships/font" Target="fonts/Corbel-bold.fntdata"/><Relationship Id="rId46" Type="http://schemas.openxmlformats.org/officeDocument/2006/relationships/font" Target="fonts/Tahoma-regular.fntdata"/><Relationship Id="rId45" Type="http://schemas.openxmlformats.org/officeDocument/2006/relationships/font" Target="fonts/Corbel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enturyGothic-regular.fntdata"/><Relationship Id="rId47" Type="http://schemas.openxmlformats.org/officeDocument/2006/relationships/font" Target="fonts/Tahoma-bold.fntdata"/><Relationship Id="rId49" Type="http://schemas.openxmlformats.org/officeDocument/2006/relationships/font" Target="fonts/CenturyGothic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enturyGothic-boldItalic.fntdata"/><Relationship Id="rId50" Type="http://schemas.openxmlformats.org/officeDocument/2006/relationships/font" Target="fonts/CenturyGothic-italic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8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38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38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38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38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38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38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4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42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42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42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4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1" name="Google Shape;101;p4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2" name="Google Shape;102;p4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4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4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6" name="Google Shape;116;p5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7" name="Google Shape;117;p5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5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5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4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7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7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37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37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37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37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37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3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37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Relationship Id="rId4" Type="http://schemas.openxmlformats.org/officeDocument/2006/relationships/image" Target="../media/image2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jpg"/><Relationship Id="rId4" Type="http://schemas.openxmlformats.org/officeDocument/2006/relationships/image" Target="../media/image2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jpg"/><Relationship Id="rId4" Type="http://schemas.openxmlformats.org/officeDocument/2006/relationships/image" Target="../media/image20.jpg"/><Relationship Id="rId5" Type="http://schemas.openxmlformats.org/officeDocument/2006/relationships/image" Target="../media/image31.jpg"/><Relationship Id="rId6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jpg"/><Relationship Id="rId4" Type="http://schemas.openxmlformats.org/officeDocument/2006/relationships/image" Target="../media/image1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30.jpg"/><Relationship Id="rId7" Type="http://schemas.openxmlformats.org/officeDocument/2006/relationships/image" Target="../media/image27.jpg"/><Relationship Id="rId8" Type="http://schemas.openxmlformats.org/officeDocument/2006/relationships/image" Target="../media/image2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jpg"/><Relationship Id="rId4" Type="http://schemas.openxmlformats.org/officeDocument/2006/relationships/image" Target="../media/image2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 txBox="1"/>
          <p:nvPr/>
        </p:nvSpPr>
        <p:spPr>
          <a:xfrm>
            <a:off x="1143001" y="274922"/>
            <a:ext cx="11537576" cy="3554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Arab Academy for Science , Technology &amp; Maritime Transport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College of Computing and Information Technology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Algorithms (CS212)</a:t>
            </a:r>
            <a:endParaRPr/>
          </a:p>
        </p:txBody>
      </p:sp>
      <p:sp>
        <p:nvSpPr>
          <p:cNvPr id="147" name="Google Shape;147;p1"/>
          <p:cNvSpPr txBox="1"/>
          <p:nvPr/>
        </p:nvSpPr>
        <p:spPr>
          <a:xfrm>
            <a:off x="5674659" y="5822576"/>
            <a:ext cx="584947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Eng. Youssef Ahmed Mehanna</a:t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Youssefmohana7@gmail.com</a:t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235537" y="1856598"/>
            <a:ext cx="1653981" cy="1653981"/>
          </a:xfrm>
          <a:prstGeom prst="ellipse">
            <a:avLst/>
          </a:prstGeom>
          <a:solidFill>
            <a:srgbClr val="F2F2F2"/>
          </a:solidFill>
          <a:ln cap="flat" cmpd="sng" w="76200">
            <a:solidFill>
              <a:schemeClr val="dk1">
                <a:alpha val="3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E:\Photoshop\CCIT_LOGO\CCIT2012_Mhmoudko\1000px.png"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537" y="1949824"/>
            <a:ext cx="1682672" cy="1531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786" y="5189502"/>
            <a:ext cx="1662131" cy="128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877" y="5264033"/>
            <a:ext cx="1129880" cy="87069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"/>
          <p:cNvSpPr txBox="1"/>
          <p:nvPr/>
        </p:nvSpPr>
        <p:spPr>
          <a:xfrm>
            <a:off x="5096435" y="4020673"/>
            <a:ext cx="642769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4D86"/>
                </a:solidFill>
                <a:latin typeface="Calibri"/>
                <a:ea typeface="Calibri"/>
                <a:cs typeface="Calibri"/>
                <a:sym typeface="Calibri"/>
              </a:rPr>
              <a:t>Section 01 :</a:t>
            </a:r>
            <a:br>
              <a:rPr b="1" i="0" lang="en-US" sz="4800" u="none" cap="none" strike="noStrike">
                <a:solidFill>
                  <a:srgbClr val="004D8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4D86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i="0" sz="4800" u="none" cap="none" strike="noStrike">
              <a:solidFill>
                <a:srgbClr val="004D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Index</a:t>
            </a:r>
            <a:endParaRPr b="1" i="1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1794893" y="1440329"/>
            <a:ext cx="9225395" cy="4613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✔"/>
            </a:pPr>
            <a:r>
              <a:rPr b="1" i="0" lang="en-US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Data Structures ?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✔"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Course Assessment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✔"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Pointer &amp; Structures Quick Revision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✔"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How to use Pointers with Structures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✔"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 vs C++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Data Structures</a:t>
            </a:r>
            <a:endParaRPr b="1" i="1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1190064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i="0" lang="en-US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Different Ways of Storing Data in Memory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4369527" y="2013534"/>
            <a:ext cx="3733325" cy="4616648"/>
          </a:xfrm>
          <a:prstGeom prst="rect">
            <a:avLst/>
          </a:prstGeom>
          <a:solidFill>
            <a:srgbClr val="D4EDFB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Single Linked Lists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Double Linked Lists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Circular Linked Lists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Stacks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Queues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Tree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Graph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Hashtables</a:t>
            </a:r>
            <a:endParaRPr b="1" i="0" sz="2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4445252" y="2109457"/>
            <a:ext cx="3548958" cy="1611517"/>
          </a:xfrm>
          <a:prstGeom prst="rect">
            <a:avLst/>
          </a:prstGeom>
          <a:solidFill>
            <a:srgbClr val="FFFF00">
              <a:alpha val="21176"/>
            </a:srgbClr>
          </a:solidFill>
          <a:ln cap="rnd" cmpd="sng" w="15875">
            <a:solidFill>
              <a:srgbClr val="207DAD">
                <a:alpha val="2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4445252" y="3833318"/>
            <a:ext cx="3548958" cy="927295"/>
          </a:xfrm>
          <a:prstGeom prst="rect">
            <a:avLst/>
          </a:prstGeom>
          <a:solidFill>
            <a:schemeClr val="accent6">
              <a:alpha val="21176"/>
            </a:schemeClr>
          </a:solidFill>
          <a:ln cap="rnd" cmpd="sng" w="15875">
            <a:solidFill>
              <a:srgbClr val="207DAD">
                <a:alpha val="2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445252" y="4900116"/>
            <a:ext cx="3548958" cy="927295"/>
          </a:xfrm>
          <a:prstGeom prst="rect">
            <a:avLst/>
          </a:prstGeom>
          <a:solidFill>
            <a:srgbClr val="00B0F0">
              <a:alpha val="21176"/>
            </a:srgbClr>
          </a:solidFill>
          <a:ln cap="rnd" cmpd="sng" w="15875">
            <a:solidFill>
              <a:srgbClr val="207DAD">
                <a:alpha val="2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4445252" y="5966914"/>
            <a:ext cx="3548958" cy="463647"/>
          </a:xfrm>
          <a:prstGeom prst="rect">
            <a:avLst/>
          </a:prstGeom>
          <a:solidFill>
            <a:schemeClr val="lt2">
              <a:alpha val="21176"/>
            </a:schemeClr>
          </a:solidFill>
          <a:ln cap="rnd" cmpd="sng" w="15875">
            <a:solidFill>
              <a:srgbClr val="207DAD">
                <a:alpha val="2117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1334619" y="1065052"/>
            <a:ext cx="1069713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❑"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Is a variable used to point to other variables</a:t>
            </a:r>
            <a:b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(or to store memory addresses) .</a:t>
            </a:r>
            <a:endParaRPr/>
          </a:p>
          <a:p>
            <a:pPr indent="-254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Char char="❑"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It can be int , float , char , etc….</a:t>
            </a:r>
            <a:b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But it must be the same type of the variable that points to it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2241176" y="4998284"/>
            <a:ext cx="8539444" cy="110799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dataType </a:t>
            </a:r>
            <a:r>
              <a:rPr b="0" i="0" lang="en-US" sz="6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*ptr;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9435914" y="4998284"/>
            <a:ext cx="1344706" cy="400110"/>
          </a:xfrm>
          <a:prstGeom prst="rect">
            <a:avLst/>
          </a:prstGeom>
          <a:gradFill>
            <a:gsLst>
              <a:gs pos="0">
                <a:srgbClr val="B9D9F5"/>
              </a:gs>
              <a:gs pos="100000">
                <a:srgbClr val="75BCEF"/>
              </a:gs>
            </a:gsLst>
            <a:lin ang="5400000" scaled="0"/>
          </a:gradFill>
          <a:ln cap="rnd" cmpd="sng" w="9525">
            <a:solidFill>
              <a:srgbClr val="ABD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Syntax</a:t>
            </a:r>
            <a:endParaRPr b="1"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 : example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2241176" y="789360"/>
            <a:ext cx="8539444" cy="14465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5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US" sz="4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*ptr = &amp;x ;</a:t>
            </a:r>
            <a:endParaRPr/>
          </a:p>
        </p:txBody>
      </p:sp>
      <p:graphicFrame>
        <p:nvGraphicFramePr>
          <p:cNvPr id="188" name="Google Shape;188;p5"/>
          <p:cNvGraphicFramePr/>
          <p:nvPr/>
        </p:nvGraphicFramePr>
        <p:xfrm>
          <a:off x="1447799" y="2433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{60E5ED6D-400C-4668-B19C-BAA0915D5659}</a:tableStyleId>
              </a:tblPr>
              <a:tblGrid>
                <a:gridCol w="2301700"/>
                <a:gridCol w="2301700"/>
              </a:tblGrid>
              <a:tr h="62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Pointer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Points to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*ptr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0x23FD74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9" name="Google Shape;189;p5"/>
          <p:cNvGraphicFramePr/>
          <p:nvPr/>
        </p:nvGraphicFramePr>
        <p:xfrm>
          <a:off x="3581961" y="36889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{60E5ED6D-400C-4668-B19C-BAA0915D5659}</a:tableStyleId>
              </a:tblPr>
              <a:tblGrid>
                <a:gridCol w="2649075"/>
                <a:gridCol w="1877550"/>
                <a:gridCol w="2510675"/>
              </a:tblGrid>
              <a:tr h="62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Address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Arial"/>
                          <a:ea typeface="Arial"/>
                          <a:cs typeface="Arial"/>
                          <a:sym typeface="Arial"/>
                        </a:rPr>
                        <a:t>0x23FD74</a:t>
                      </a:r>
                      <a:endParaRPr sz="2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190" name="Google Shape;190;p5"/>
          <p:cNvCxnSpPr/>
          <p:nvPr/>
        </p:nvCxnSpPr>
        <p:spPr>
          <a:xfrm>
            <a:off x="5768788" y="3321425"/>
            <a:ext cx="4410600" cy="1290900"/>
          </a:xfrm>
          <a:prstGeom prst="curvedConnector3">
            <a:avLst>
              <a:gd fmla="val 142379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5"/>
          <p:cNvSpPr txBox="1"/>
          <p:nvPr/>
        </p:nvSpPr>
        <p:spPr>
          <a:xfrm>
            <a:off x="605118" y="5273984"/>
            <a:ext cx="11292167" cy="1323439"/>
          </a:xfrm>
          <a:prstGeom prst="rect">
            <a:avLst/>
          </a:prstGeom>
          <a:gradFill>
            <a:gsLst>
              <a:gs pos="0">
                <a:srgbClr val="F0D3BA"/>
              </a:gs>
              <a:gs pos="100000">
                <a:srgbClr val="E7B17A"/>
              </a:gs>
            </a:gsLst>
            <a:lin ang="5400000" scaled="0"/>
          </a:gradFill>
          <a:ln cap="rnd" cmpd="sng" w="9525">
            <a:solidFill>
              <a:srgbClr val="EECB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access the </a:t>
            </a:r>
            <a:r>
              <a:rPr b="1"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x : 					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or *ptr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access the </a:t>
            </a:r>
            <a:r>
              <a:rPr b="1"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x :				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&amp;x or ptr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8686800" y="905829"/>
            <a:ext cx="2985247" cy="968188"/>
          </a:xfrm>
          <a:prstGeom prst="cloudCallout">
            <a:avLst>
              <a:gd fmla="val -112619" name="adj1"/>
              <a:gd fmla="val 29167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&amp;x = means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Address of x</a:t>
            </a:r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2245660" y="251236"/>
            <a:ext cx="1102658" cy="400110"/>
          </a:xfrm>
          <a:prstGeom prst="rect">
            <a:avLst/>
          </a:prstGeom>
          <a:gradFill>
            <a:gsLst>
              <a:gs pos="0">
                <a:srgbClr val="F0D3BA"/>
              </a:gs>
              <a:gs pos="100000">
                <a:srgbClr val="E7B17A"/>
              </a:gs>
            </a:gsLst>
            <a:lin ang="5400000" scaled="0"/>
          </a:gradFill>
          <a:ln cap="rnd" cmpd="sng" w="9525">
            <a:solidFill>
              <a:srgbClr val="EECB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PART1</a:t>
            </a:r>
            <a:endParaRPr b="1"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 : example</a:t>
            </a:r>
            <a:endParaRPr/>
          </a:p>
        </p:txBody>
      </p:sp>
      <p:pic>
        <p:nvPicPr>
          <p:cNvPr id="200" name="Google Shape;2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277" y="1398493"/>
            <a:ext cx="6396373" cy="376257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 txBox="1"/>
          <p:nvPr/>
        </p:nvSpPr>
        <p:spPr>
          <a:xfrm>
            <a:off x="605118" y="5273984"/>
            <a:ext cx="11292167" cy="1323439"/>
          </a:xfrm>
          <a:prstGeom prst="rect">
            <a:avLst/>
          </a:prstGeom>
          <a:gradFill>
            <a:gsLst>
              <a:gs pos="0">
                <a:srgbClr val="F0D3BA"/>
              </a:gs>
              <a:gs pos="100000">
                <a:srgbClr val="E7B17A"/>
              </a:gs>
            </a:gsLst>
            <a:lin ang="5400000" scaled="0"/>
          </a:gradFill>
          <a:ln cap="rnd" cmpd="sng" w="9525">
            <a:solidFill>
              <a:srgbClr val="EECB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access the </a:t>
            </a:r>
            <a:r>
              <a:rPr b="1"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x : 					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or *ptr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access the </a:t>
            </a:r>
            <a:r>
              <a:rPr b="1"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x :				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&amp;x or ptr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605118" y="833719"/>
            <a:ext cx="11292167" cy="523220"/>
          </a:xfrm>
          <a:prstGeom prst="rect">
            <a:avLst/>
          </a:prstGeom>
          <a:gradFill>
            <a:gsLst>
              <a:gs pos="0">
                <a:srgbClr val="B9D9F5"/>
              </a:gs>
              <a:gs pos="100000">
                <a:srgbClr val="75BCEF"/>
              </a:gs>
            </a:gsLst>
            <a:lin ang="5400000" scaled="0"/>
          </a:gradFill>
          <a:ln cap="rnd" cmpd="sng" w="9525">
            <a:solidFill>
              <a:srgbClr val="ABD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the value of x and it’s address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3" name="Google Shape;2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7594" y="1977580"/>
            <a:ext cx="5594406" cy="220816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6597594" y="1510232"/>
            <a:ext cx="2698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Run: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Pointers : example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605118" y="5273984"/>
            <a:ext cx="11292167" cy="1323439"/>
          </a:xfrm>
          <a:prstGeom prst="rect">
            <a:avLst/>
          </a:prstGeom>
          <a:gradFill>
            <a:gsLst>
              <a:gs pos="0">
                <a:srgbClr val="F0D3BA"/>
              </a:gs>
              <a:gs pos="100000">
                <a:srgbClr val="E7B17A"/>
              </a:gs>
            </a:gsLst>
            <a:lin ang="5400000" scaled="0"/>
          </a:gradFill>
          <a:ln cap="rnd" cmpd="sng" w="9525">
            <a:solidFill>
              <a:srgbClr val="EECB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access the </a:t>
            </a:r>
            <a:r>
              <a:rPr b="1"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x : 					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or *ptr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access the </a:t>
            </a:r>
            <a:r>
              <a:rPr b="1"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r>
              <a:rPr lang="en-US" sz="3200">
                <a:solidFill>
                  <a:srgbClr val="004D8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x :				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&amp;x or ptr</a:t>
            </a:r>
            <a:endParaRPr sz="3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2" name="Google Shape;2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276" y="1089212"/>
            <a:ext cx="6396373" cy="382477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7"/>
          <p:cNvSpPr/>
          <p:nvPr/>
        </p:nvSpPr>
        <p:spPr>
          <a:xfrm>
            <a:off x="4612341" y="3001597"/>
            <a:ext cx="524435" cy="279485"/>
          </a:xfrm>
          <a:prstGeom prst="rect">
            <a:avLst/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636265" y="3818046"/>
            <a:ext cx="524435" cy="279485"/>
          </a:xfrm>
          <a:prstGeom prst="rect">
            <a:avLst/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763309" y="4310623"/>
            <a:ext cx="5083549" cy="968188"/>
          </a:xfrm>
          <a:prstGeom prst="cloudCallout">
            <a:avLst>
              <a:gd fmla="val -79345" name="adj1"/>
              <a:gd fmla="val -66666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Use placeholder </a:t>
            </a:r>
            <a:r>
              <a:rPr b="1"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%p</a:t>
            </a:r>
            <a:endParaRPr b="1"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To print memory in hex</a:t>
            </a:r>
            <a:endParaRPr sz="24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5670" y="1632765"/>
            <a:ext cx="5442054" cy="218528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6540649" y="1171100"/>
            <a:ext cx="26988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Run: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pic>
        <p:nvPicPr>
          <p:cNvPr id="224" name="Google Shape;2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765" y="1160703"/>
            <a:ext cx="5773060" cy="533094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/>
          <p:nvPr/>
        </p:nvSpPr>
        <p:spPr>
          <a:xfrm>
            <a:off x="4282289" y="2921494"/>
            <a:ext cx="3625114" cy="116723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This Code Have a problem, let’s find it</a:t>
            </a:r>
            <a:endParaRPr b="1" sz="40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pic>
        <p:nvPicPr>
          <p:cNvPr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765" y="1160703"/>
            <a:ext cx="5773060" cy="533094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9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1217993" y="4697604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765" y="1160703"/>
            <a:ext cx="5773060" cy="533094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swap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1217993" y="5114063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1872419" y="4996367"/>
            <a:ext cx="1694646" cy="349751"/>
          </a:xfrm>
          <a:prstGeom prst="rect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45" name="Google Shape;245;p10"/>
          <p:cNvCxnSpPr/>
          <p:nvPr/>
        </p:nvCxnSpPr>
        <p:spPr>
          <a:xfrm flipH="1" rot="10800000">
            <a:off x="2630379" y="2245259"/>
            <a:ext cx="1066011" cy="2787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" name="Google Shape;246;p10"/>
          <p:cNvCxnSpPr/>
          <p:nvPr/>
        </p:nvCxnSpPr>
        <p:spPr>
          <a:xfrm flipH="1" rot="10800000">
            <a:off x="3085518" y="2245259"/>
            <a:ext cx="1830514" cy="286880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pic>
        <p:nvPicPr>
          <p:cNvPr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765" y="1160703"/>
            <a:ext cx="5773060" cy="533094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swap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temp=10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217993" y="2388970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872419" y="4996367"/>
            <a:ext cx="1694646" cy="349751"/>
          </a:xfrm>
          <a:prstGeom prst="rect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pic>
        <p:nvPicPr>
          <p:cNvPr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765" y="1160703"/>
            <a:ext cx="5773060" cy="533094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swap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</a:t>
            </a:r>
            <a:r>
              <a:rPr b="1"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x=20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temp=10</a:t>
            </a:r>
            <a:endParaRPr/>
          </a:p>
        </p:txBody>
      </p:sp>
      <p:sp>
        <p:nvSpPr>
          <p:cNvPr id="265" name="Google Shape;265;p12"/>
          <p:cNvSpPr/>
          <p:nvPr/>
        </p:nvSpPr>
        <p:spPr>
          <a:xfrm>
            <a:off x="1217993" y="2760162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1872419" y="4996367"/>
            <a:ext cx="1694646" cy="349751"/>
          </a:xfrm>
          <a:prstGeom prst="rect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pic>
        <p:nvPicPr>
          <p:cNvPr id="273" name="Google Shape;2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765" y="1160703"/>
            <a:ext cx="5773060" cy="533094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3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swap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</a:t>
            </a:r>
            <a:r>
              <a:rPr b="1"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y=10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temp=10</a:t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1217993" y="3137383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1872419" y="4996367"/>
            <a:ext cx="1694646" cy="349751"/>
          </a:xfrm>
          <a:prstGeom prst="rect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765" y="1160703"/>
            <a:ext cx="5773060" cy="533094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4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swap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temp=10</a:t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1217993" y="5439987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4729636" y="4218916"/>
            <a:ext cx="3503691" cy="10687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Nothing Changed, So We must use reference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(pointers)</a:t>
            </a:r>
            <a:endParaRPr b="1" sz="32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87" name="Google Shape;287;p14"/>
          <p:cNvCxnSpPr>
            <a:stCxn id="288" idx="0"/>
          </p:cNvCxnSpPr>
          <p:nvPr/>
        </p:nvCxnSpPr>
        <p:spPr>
          <a:xfrm flipH="1" rot="10800000">
            <a:off x="6481480" y="1494860"/>
            <a:ext cx="2086500" cy="2076300"/>
          </a:xfrm>
          <a:prstGeom prst="straightConnector1">
            <a:avLst/>
          </a:prstGeom>
          <a:noFill/>
          <a:ln cap="flat" cmpd="sng" w="76200">
            <a:solidFill>
              <a:srgbClr val="3F6622"/>
            </a:solidFill>
            <a:prstDash val="solid"/>
            <a:round/>
            <a:headEnd len="med" w="med" type="triangle"/>
            <a:tailEnd len="sm" w="sm" type="none"/>
          </a:ln>
        </p:spPr>
      </p:cxnSp>
      <p:pic>
        <p:nvPicPr>
          <p:cNvPr id="288" name="Google Shape;2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4986" y="3571160"/>
            <a:ext cx="2872989" cy="647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96" name="Google Shape;2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323" y="1049786"/>
            <a:ext cx="6093318" cy="56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</p:txBody>
      </p:sp>
      <p:pic>
        <p:nvPicPr>
          <p:cNvPr id="304" name="Google Shape;3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323" y="1049786"/>
            <a:ext cx="6093318" cy="56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/>
          <p:nvPr/>
        </p:nvSpPr>
        <p:spPr>
          <a:xfrm>
            <a:off x="1217993" y="4779081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</p:txBody>
      </p:sp>
      <p:pic>
        <p:nvPicPr>
          <p:cNvPr id="313" name="Google Shape;3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323" y="1049786"/>
            <a:ext cx="6093318" cy="56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/>
          <p:nvPr/>
        </p:nvSpPr>
        <p:spPr>
          <a:xfrm>
            <a:off x="1217993" y="5177434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1872419" y="5032583"/>
            <a:ext cx="2274068" cy="426657"/>
          </a:xfrm>
          <a:prstGeom prst="rect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16" name="Google Shape;316;p17"/>
          <p:cNvCxnSpPr/>
          <p:nvPr/>
        </p:nvCxnSpPr>
        <p:spPr>
          <a:xfrm flipH="1" rot="10800000">
            <a:off x="3085518" y="2143949"/>
            <a:ext cx="909469" cy="303348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17"/>
          <p:cNvCxnSpPr/>
          <p:nvPr/>
        </p:nvCxnSpPr>
        <p:spPr>
          <a:xfrm flipH="1" rot="10800000">
            <a:off x="3693814" y="2157819"/>
            <a:ext cx="1756372" cy="294833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17"/>
          <p:cNvSpPr txBox="1"/>
          <p:nvPr/>
        </p:nvSpPr>
        <p:spPr>
          <a:xfrm>
            <a:off x="7595856" y="2118510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*y</a:t>
            </a:r>
            <a:endParaRPr/>
          </a:p>
        </p:txBody>
      </p:sp>
      <p:sp>
        <p:nvSpPr>
          <p:cNvPr id="319" name="Google Shape;319;p17"/>
          <p:cNvSpPr txBox="1"/>
          <p:nvPr/>
        </p:nvSpPr>
        <p:spPr>
          <a:xfrm>
            <a:off x="7595856" y="1428172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*x</a:t>
            </a:r>
            <a:endParaRPr/>
          </a:p>
        </p:txBody>
      </p:sp>
      <p:cxnSp>
        <p:nvCxnSpPr>
          <p:cNvPr id="320" name="Google Shape;320;p17"/>
          <p:cNvCxnSpPr>
            <a:stCxn id="318" idx="3"/>
          </p:cNvCxnSpPr>
          <p:nvPr/>
        </p:nvCxnSpPr>
        <p:spPr>
          <a:xfrm flipH="1" rot="10800000">
            <a:off x="8154022" y="2290420"/>
            <a:ext cx="727500" cy="897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1" name="Google Shape;321;p17"/>
          <p:cNvCxnSpPr/>
          <p:nvPr/>
        </p:nvCxnSpPr>
        <p:spPr>
          <a:xfrm>
            <a:off x="8154022" y="1765425"/>
            <a:ext cx="653424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swap</a:t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temp=10</a:t>
            </a:r>
            <a:endParaRPr/>
          </a:p>
        </p:txBody>
      </p:sp>
      <p:pic>
        <p:nvPicPr>
          <p:cNvPr id="329" name="Google Shape;3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323" y="1049786"/>
            <a:ext cx="6093318" cy="56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8"/>
          <p:cNvSpPr/>
          <p:nvPr/>
        </p:nvSpPr>
        <p:spPr>
          <a:xfrm>
            <a:off x="1217993" y="2339850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1872419" y="5032583"/>
            <a:ext cx="2274068" cy="426657"/>
          </a:xfrm>
          <a:prstGeom prst="rect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7595856" y="2118510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*y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7595856" y="1428172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*x</a:t>
            </a:r>
            <a:endParaRPr/>
          </a:p>
        </p:txBody>
      </p:sp>
      <p:cxnSp>
        <p:nvCxnSpPr>
          <p:cNvPr id="334" name="Google Shape;334;p18"/>
          <p:cNvCxnSpPr>
            <a:stCxn id="332" idx="3"/>
          </p:cNvCxnSpPr>
          <p:nvPr/>
        </p:nvCxnSpPr>
        <p:spPr>
          <a:xfrm flipH="1" rot="10800000">
            <a:off x="8154022" y="2299720"/>
            <a:ext cx="736500" cy="804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5" name="Google Shape;335;p18"/>
          <p:cNvCxnSpPr/>
          <p:nvPr/>
        </p:nvCxnSpPr>
        <p:spPr>
          <a:xfrm>
            <a:off x="8154022" y="1765425"/>
            <a:ext cx="653424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</a:t>
            </a:r>
            <a:r>
              <a:rPr b="1"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x=20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swap</a:t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temp=10</a:t>
            </a:r>
            <a:endParaRPr/>
          </a:p>
        </p:txBody>
      </p:sp>
      <p:pic>
        <p:nvPicPr>
          <p:cNvPr id="343" name="Google Shape;3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323" y="1049786"/>
            <a:ext cx="6093318" cy="56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9"/>
          <p:cNvSpPr/>
          <p:nvPr/>
        </p:nvSpPr>
        <p:spPr>
          <a:xfrm>
            <a:off x="1217993" y="2729149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1872419" y="5032583"/>
            <a:ext cx="2274068" cy="426657"/>
          </a:xfrm>
          <a:prstGeom prst="rect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595856" y="2118510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*y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7595856" y="1428172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*x</a:t>
            </a:r>
            <a:endParaRPr/>
          </a:p>
        </p:txBody>
      </p:sp>
      <p:cxnSp>
        <p:nvCxnSpPr>
          <p:cNvPr id="348" name="Google Shape;348;p19"/>
          <p:cNvCxnSpPr>
            <a:stCxn id="346" idx="3"/>
          </p:cNvCxnSpPr>
          <p:nvPr/>
        </p:nvCxnSpPr>
        <p:spPr>
          <a:xfrm flipH="1" rot="10800000">
            <a:off x="8154022" y="2299720"/>
            <a:ext cx="736500" cy="804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9" name="Google Shape;349;p19"/>
          <p:cNvCxnSpPr/>
          <p:nvPr/>
        </p:nvCxnSpPr>
        <p:spPr>
          <a:xfrm>
            <a:off x="8154022" y="1765425"/>
            <a:ext cx="653424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</a:t>
            </a:r>
            <a:r>
              <a:rPr b="1"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y=10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swap</a:t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temp=10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57" name="Google Shape;3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323" y="1049786"/>
            <a:ext cx="6093318" cy="56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0"/>
          <p:cNvSpPr/>
          <p:nvPr/>
        </p:nvSpPr>
        <p:spPr>
          <a:xfrm>
            <a:off x="1217993" y="3136555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1872419" y="5032583"/>
            <a:ext cx="2274068" cy="426657"/>
          </a:xfrm>
          <a:prstGeom prst="rect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7595856" y="2118510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*y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7595856" y="1428172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*x</a:t>
            </a:r>
            <a:endParaRPr/>
          </a:p>
        </p:txBody>
      </p:sp>
      <p:cxnSp>
        <p:nvCxnSpPr>
          <p:cNvPr id="362" name="Google Shape;362;p20"/>
          <p:cNvCxnSpPr>
            <a:stCxn id="360" idx="3"/>
          </p:cNvCxnSpPr>
          <p:nvPr/>
        </p:nvCxnSpPr>
        <p:spPr>
          <a:xfrm flipH="1" rot="10800000">
            <a:off x="8154022" y="2299720"/>
            <a:ext cx="736500" cy="804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63" name="Google Shape;363;p20"/>
          <p:cNvCxnSpPr/>
          <p:nvPr/>
        </p:nvCxnSpPr>
        <p:spPr>
          <a:xfrm>
            <a:off x="8154022" y="1765425"/>
            <a:ext cx="653424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8247706" y="877341"/>
            <a:ext cx="3648546" cy="589766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x=20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y=10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swap</a:t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temp=10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71" name="Google Shape;3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323" y="1049786"/>
            <a:ext cx="6093318" cy="56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1"/>
          <p:cNvSpPr/>
          <p:nvPr/>
        </p:nvSpPr>
        <p:spPr>
          <a:xfrm>
            <a:off x="1217993" y="5580991"/>
            <a:ext cx="525101" cy="16296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7595856" y="2118510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*y</a:t>
            </a:r>
            <a:endParaRPr/>
          </a:p>
        </p:txBody>
      </p:sp>
      <p:sp>
        <p:nvSpPr>
          <p:cNvPr id="374" name="Google Shape;374;p21"/>
          <p:cNvSpPr txBox="1"/>
          <p:nvPr/>
        </p:nvSpPr>
        <p:spPr>
          <a:xfrm>
            <a:off x="7595856" y="1428172"/>
            <a:ext cx="558166" cy="52322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*x</a:t>
            </a:r>
            <a:endParaRPr/>
          </a:p>
        </p:txBody>
      </p:sp>
      <p:cxnSp>
        <p:nvCxnSpPr>
          <p:cNvPr id="375" name="Google Shape;375;p21"/>
          <p:cNvCxnSpPr>
            <a:stCxn id="373" idx="3"/>
          </p:cNvCxnSpPr>
          <p:nvPr/>
        </p:nvCxnSpPr>
        <p:spPr>
          <a:xfrm flipH="1" rot="10800000">
            <a:off x="8154022" y="2299720"/>
            <a:ext cx="736500" cy="804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6" name="Google Shape;376;p21"/>
          <p:cNvCxnSpPr/>
          <p:nvPr/>
        </p:nvCxnSpPr>
        <p:spPr>
          <a:xfrm>
            <a:off x="8154022" y="1765425"/>
            <a:ext cx="653424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377" name="Google Shape;3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4939" y="5319542"/>
            <a:ext cx="2796782" cy="68585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1"/>
          <p:cNvSpPr/>
          <p:nvPr/>
        </p:nvSpPr>
        <p:spPr>
          <a:xfrm>
            <a:off x="9513527" y="4554222"/>
            <a:ext cx="1639605" cy="50015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Output</a:t>
            </a:r>
            <a:endParaRPr b="1" sz="3200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Swap X and Y using Pointers</a:t>
            </a:r>
            <a:endParaRPr/>
          </a:p>
        </p:txBody>
      </p:sp>
      <p:pic>
        <p:nvPicPr>
          <p:cNvPr id="385" name="Google Shape;3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323" y="1049786"/>
            <a:ext cx="5541857" cy="56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4731" y="1049786"/>
            <a:ext cx="5604743" cy="56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2"/>
          <p:cNvSpPr/>
          <p:nvPr/>
        </p:nvSpPr>
        <p:spPr>
          <a:xfrm>
            <a:off x="4037846" y="959668"/>
            <a:ext cx="2245259" cy="75143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9D9F5"/>
              </a:gs>
              <a:gs pos="100000">
                <a:srgbClr val="75BCEF"/>
              </a:gs>
            </a:gsLst>
            <a:lin ang="5400000" scaled="0"/>
          </a:gradFill>
          <a:ln cap="rnd" cmpd="sng" w="9525">
            <a:solidFill>
              <a:srgbClr val="ABD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 Pointers</a:t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10148935" y="959668"/>
            <a:ext cx="2001952" cy="75143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9D9F5"/>
              </a:gs>
              <a:gs pos="100000">
                <a:srgbClr val="75BCEF"/>
              </a:gs>
            </a:gsLst>
            <a:lin ang="5400000" scaled="0"/>
          </a:gradFill>
          <a:ln cap="rnd" cmpd="sng" w="9525">
            <a:solidFill>
              <a:srgbClr val="ABD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C++ Ref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Revision on Structures</a:t>
            </a:r>
            <a:endParaRPr/>
          </a:p>
        </p:txBody>
      </p:sp>
      <p:sp>
        <p:nvSpPr>
          <p:cNvPr id="395" name="Google Shape;395;p23"/>
          <p:cNvSpPr txBox="1"/>
          <p:nvPr/>
        </p:nvSpPr>
        <p:spPr>
          <a:xfrm>
            <a:off x="1240490" y="890241"/>
            <a:ext cx="1069713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is a complex data type declaration that defines a grouped list of variables to be placed under one name in a block of memory</a:t>
            </a:r>
            <a:endParaRPr/>
          </a:p>
        </p:txBody>
      </p:sp>
      <p:sp>
        <p:nvSpPr>
          <p:cNvPr id="396" name="Google Shape;396;p23"/>
          <p:cNvSpPr txBox="1"/>
          <p:nvPr/>
        </p:nvSpPr>
        <p:spPr>
          <a:xfrm>
            <a:off x="2760568" y="2147512"/>
            <a:ext cx="7441828" cy="440120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structName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4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dataType 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variable1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4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dataType 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variable2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			.</a:t>
            </a:r>
            <a:b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			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4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dataType </a:t>
            </a: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variableN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  <p:sp>
        <p:nvSpPr>
          <p:cNvPr id="397" name="Google Shape;397;p23"/>
          <p:cNvSpPr txBox="1"/>
          <p:nvPr/>
        </p:nvSpPr>
        <p:spPr>
          <a:xfrm>
            <a:off x="8857690" y="2147512"/>
            <a:ext cx="1344706" cy="400110"/>
          </a:xfrm>
          <a:prstGeom prst="rect">
            <a:avLst/>
          </a:prstGeom>
          <a:gradFill>
            <a:gsLst>
              <a:gs pos="0">
                <a:srgbClr val="B9D9F5"/>
              </a:gs>
              <a:gs pos="100000">
                <a:srgbClr val="75BCEF"/>
              </a:gs>
            </a:gsLst>
            <a:lin ang="5400000" scaled="0"/>
          </a:gradFill>
          <a:ln cap="rnd" cmpd="sng" w="9525">
            <a:solidFill>
              <a:srgbClr val="ABD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Syntax</a:t>
            </a:r>
            <a:endParaRPr b="1" sz="20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</a:t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1735247" y="982932"/>
            <a:ext cx="8576649" cy="1323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struct that stores the information about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(name, age, GPA, semester). Then Create 2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Student’s Name is Ahmed, age=20, GPA=3.2, semester=4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Student’s Name is Mohamed, age=21, GPA=3.5, semester=7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</a:t>
            </a:r>
            <a:endParaRPr/>
          </a:p>
        </p:txBody>
      </p:sp>
      <p:sp>
        <p:nvSpPr>
          <p:cNvPr id="411" name="Google Shape;411;p25"/>
          <p:cNvSpPr/>
          <p:nvPr/>
        </p:nvSpPr>
        <p:spPr>
          <a:xfrm>
            <a:off x="1735247" y="982932"/>
            <a:ext cx="8576649" cy="1323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struct that stores the information about students</a:t>
            </a:r>
            <a:b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(name, age, GPA, semester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Then Create 2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Student’s Name is Ahmed, age=20, GPA=3.2, semester=4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Student’s Name is Mohamed, age=21, GPA=3.5, semester=7</a:t>
            </a:r>
            <a:endParaRPr/>
          </a:p>
        </p:txBody>
      </p:sp>
      <p:pic>
        <p:nvPicPr>
          <p:cNvPr id="412" name="Google Shape;4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794" y="2724484"/>
            <a:ext cx="3398327" cy="311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6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</a:t>
            </a:r>
            <a:endParaRPr/>
          </a:p>
        </p:txBody>
      </p:sp>
      <p:sp>
        <p:nvSpPr>
          <p:cNvPr id="419" name="Google Shape;419;p26"/>
          <p:cNvSpPr/>
          <p:nvPr/>
        </p:nvSpPr>
        <p:spPr>
          <a:xfrm>
            <a:off x="1735247" y="982932"/>
            <a:ext cx="8576649" cy="1323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struct that stores the information about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(name, age, GPA, semester). Then Create 2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Student’s Name is Ahmed, age=20, GPA=3.2, semester=4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Student’s Name is Mohamed, age=21, GPA=3.5, semester=7</a:t>
            </a:r>
            <a:endParaRPr/>
          </a:p>
        </p:txBody>
      </p:sp>
      <p:pic>
        <p:nvPicPr>
          <p:cNvPr id="420" name="Google Shape;4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794" y="2724484"/>
            <a:ext cx="3398327" cy="311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9666" y="2396901"/>
            <a:ext cx="4992014" cy="188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</a:t>
            </a:r>
            <a:endParaRPr/>
          </a:p>
        </p:txBody>
      </p:sp>
      <p:sp>
        <p:nvSpPr>
          <p:cNvPr id="428" name="Google Shape;428;p27"/>
          <p:cNvSpPr/>
          <p:nvPr/>
        </p:nvSpPr>
        <p:spPr>
          <a:xfrm>
            <a:off x="1735247" y="982932"/>
            <a:ext cx="8576649" cy="1323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struct that stores the information about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(name, age, GPA, semester). Then Create 2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Student’s Name is Ahmed, age=20, GPA=3.2, semester=4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Student’s Name is Mohamed, age=21, GPA=3.5, semester=7</a:t>
            </a:r>
            <a:endParaRPr/>
          </a:p>
        </p:txBody>
      </p:sp>
      <p:pic>
        <p:nvPicPr>
          <p:cNvPr id="429" name="Google Shape;4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794" y="2724484"/>
            <a:ext cx="3398327" cy="311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9666" y="2396901"/>
            <a:ext cx="4992014" cy="1884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8077" y="4465058"/>
            <a:ext cx="4973603" cy="2035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7806" y="4753013"/>
            <a:ext cx="3818295" cy="121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8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</a:t>
            </a:r>
            <a:endParaRPr/>
          </a:p>
        </p:txBody>
      </p:sp>
      <p:sp>
        <p:nvSpPr>
          <p:cNvPr id="439" name="Google Shape;439;p28"/>
          <p:cNvSpPr/>
          <p:nvPr/>
        </p:nvSpPr>
        <p:spPr>
          <a:xfrm>
            <a:off x="1735247" y="1258074"/>
            <a:ext cx="8576649" cy="1323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struct that stores the information about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(name, age, GPA, semester). Then Create 2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Student’s Name is Ahmed, age=20, GPA=3.2, semester=4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Student’s Name is Mohamed, age=21, GPA=3.5, semester=7</a:t>
            </a:r>
            <a:endParaRPr/>
          </a:p>
        </p:txBody>
      </p:sp>
      <p:sp>
        <p:nvSpPr>
          <p:cNvPr id="440" name="Google Shape;440;p28"/>
          <p:cNvSpPr/>
          <p:nvPr/>
        </p:nvSpPr>
        <p:spPr>
          <a:xfrm>
            <a:off x="2211268" y="805524"/>
            <a:ext cx="8576649" cy="40011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 the same problem but this time use Pointers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</a:t>
            </a:r>
            <a:endParaRPr/>
          </a:p>
        </p:txBody>
      </p:sp>
      <p:sp>
        <p:nvSpPr>
          <p:cNvPr id="447" name="Google Shape;447;p29"/>
          <p:cNvSpPr/>
          <p:nvPr/>
        </p:nvSpPr>
        <p:spPr>
          <a:xfrm>
            <a:off x="1735247" y="1258074"/>
            <a:ext cx="8576649" cy="1323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struct that stores the information about students</a:t>
            </a:r>
            <a:b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(name, age, GPA, semester).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Create 2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Student’s Name is Ahmed, age=20, GPA=3.2, semester=4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Student’s Name is Mohamed, age=21, GPA=3.5, semester=7</a:t>
            </a:r>
            <a:endParaRPr/>
          </a:p>
        </p:txBody>
      </p:sp>
      <p:pic>
        <p:nvPicPr>
          <p:cNvPr id="448" name="Google Shape;4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9734" y="2968928"/>
            <a:ext cx="3398327" cy="311447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9"/>
          <p:cNvSpPr/>
          <p:nvPr/>
        </p:nvSpPr>
        <p:spPr>
          <a:xfrm>
            <a:off x="2211268" y="805524"/>
            <a:ext cx="8576649" cy="40011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 the same problem but this time use Pointers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0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</a:t>
            </a:r>
            <a:endParaRPr/>
          </a:p>
        </p:txBody>
      </p:sp>
      <p:sp>
        <p:nvSpPr>
          <p:cNvPr id="456" name="Google Shape;456;p30"/>
          <p:cNvSpPr/>
          <p:nvPr/>
        </p:nvSpPr>
        <p:spPr>
          <a:xfrm>
            <a:off x="1735247" y="1258074"/>
            <a:ext cx="8576649" cy="1323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struct that stores the information about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(name, age, GPA, semester). Then Create 2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Student’s Name is Ahmed, age=20, GPA=3.2, semester=4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Student’s Name is Mohamed, age=21, GPA=3.5, semester=7</a:t>
            </a:r>
            <a:endParaRPr/>
          </a:p>
        </p:txBody>
      </p:sp>
      <p:pic>
        <p:nvPicPr>
          <p:cNvPr id="457" name="Google Shape;45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9734" y="2968928"/>
            <a:ext cx="3398327" cy="311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3022" y="2635832"/>
            <a:ext cx="5558120" cy="193668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0"/>
          <p:cNvSpPr/>
          <p:nvPr/>
        </p:nvSpPr>
        <p:spPr>
          <a:xfrm>
            <a:off x="2211268" y="805524"/>
            <a:ext cx="8576649" cy="40011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 the same problem but this time use Pointers</a:t>
            </a:r>
            <a:endParaRPr/>
          </a:p>
        </p:txBody>
      </p:sp>
      <p:sp>
        <p:nvSpPr>
          <p:cNvPr id="460" name="Google Shape;460;p30"/>
          <p:cNvSpPr/>
          <p:nvPr/>
        </p:nvSpPr>
        <p:spPr>
          <a:xfrm>
            <a:off x="10446612" y="886673"/>
            <a:ext cx="1706800" cy="1466662"/>
          </a:xfrm>
          <a:prstGeom prst="cloudCallout">
            <a:avLst>
              <a:gd fmla="val -122669" name="adj1"/>
              <a:gd fmla="val 92129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C++ Only</a:t>
            </a:r>
            <a:endParaRPr/>
          </a:p>
        </p:txBody>
      </p:sp>
      <p:sp>
        <p:nvSpPr>
          <p:cNvPr id="461" name="Google Shape;461;p30"/>
          <p:cNvSpPr/>
          <p:nvPr/>
        </p:nvSpPr>
        <p:spPr>
          <a:xfrm>
            <a:off x="8483097" y="2897109"/>
            <a:ext cx="651850" cy="389299"/>
          </a:xfrm>
          <a:prstGeom prst="ellipse">
            <a:avLst/>
          </a:prstGeom>
          <a:noFill/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</a:t>
            </a:r>
            <a:endParaRPr/>
          </a:p>
        </p:txBody>
      </p:sp>
      <p:sp>
        <p:nvSpPr>
          <p:cNvPr id="468" name="Google Shape;468;p31"/>
          <p:cNvSpPr/>
          <p:nvPr/>
        </p:nvSpPr>
        <p:spPr>
          <a:xfrm>
            <a:off x="1735247" y="1258074"/>
            <a:ext cx="8576649" cy="1323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struct that stores the information about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(name, age, GPA, semester). Then Create 2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Student’s Name is Ahmed, age=20, GPA=3.2, semester=4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Student’s Name is Mohamed, age=21, GPA=3.5, semester=7</a:t>
            </a:r>
            <a:endParaRPr/>
          </a:p>
        </p:txBody>
      </p:sp>
      <p:pic>
        <p:nvPicPr>
          <p:cNvPr id="469" name="Google Shape;46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9734" y="2968928"/>
            <a:ext cx="3398327" cy="311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3022" y="2635832"/>
            <a:ext cx="5558120" cy="193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5862" y="4572514"/>
            <a:ext cx="5558119" cy="2229529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1"/>
          <p:cNvSpPr/>
          <p:nvPr/>
        </p:nvSpPr>
        <p:spPr>
          <a:xfrm>
            <a:off x="2211268" y="805524"/>
            <a:ext cx="8576649" cy="40011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 the same problem but this time use Pointers</a:t>
            </a:r>
            <a:endParaRPr/>
          </a:p>
        </p:txBody>
      </p:sp>
      <p:pic>
        <p:nvPicPr>
          <p:cNvPr id="473" name="Google Shape;47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33309" y="5283141"/>
            <a:ext cx="735157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2918" y="5868496"/>
            <a:ext cx="14478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1"/>
          <p:cNvPicPr preferRelativeResize="0"/>
          <p:nvPr/>
        </p:nvPicPr>
        <p:blipFill rotWithShape="1">
          <a:blip r:embed="rId8">
            <a:alphaModFix/>
          </a:blip>
          <a:srcRect b="0" l="23665" r="0" t="6537"/>
          <a:stretch/>
        </p:blipFill>
        <p:spPr>
          <a:xfrm>
            <a:off x="7803573" y="4914900"/>
            <a:ext cx="789709" cy="24685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1"/>
          <p:cNvSpPr/>
          <p:nvPr/>
        </p:nvSpPr>
        <p:spPr>
          <a:xfrm>
            <a:off x="10446612" y="886673"/>
            <a:ext cx="1706800" cy="1466662"/>
          </a:xfrm>
          <a:prstGeom prst="cloudCallout">
            <a:avLst>
              <a:gd fmla="val -122669" name="adj1"/>
              <a:gd fmla="val 92129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C++ Only</a:t>
            </a:r>
            <a:endParaRPr/>
          </a:p>
        </p:txBody>
      </p:sp>
      <p:sp>
        <p:nvSpPr>
          <p:cNvPr id="477" name="Google Shape;477;p31"/>
          <p:cNvSpPr/>
          <p:nvPr/>
        </p:nvSpPr>
        <p:spPr>
          <a:xfrm>
            <a:off x="8483097" y="2897109"/>
            <a:ext cx="651850" cy="389299"/>
          </a:xfrm>
          <a:prstGeom prst="ellipse">
            <a:avLst/>
          </a:prstGeom>
          <a:noFill/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2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Structures: Example</a:t>
            </a:r>
            <a:endParaRPr/>
          </a:p>
        </p:txBody>
      </p:sp>
      <p:sp>
        <p:nvSpPr>
          <p:cNvPr id="484" name="Google Shape;484;p32"/>
          <p:cNvSpPr/>
          <p:nvPr/>
        </p:nvSpPr>
        <p:spPr>
          <a:xfrm>
            <a:off x="1735247" y="1258074"/>
            <a:ext cx="8576649" cy="1323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struct that stores the information about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(name, age, GPA, semester). Then Create 2 Students</a:t>
            </a:r>
            <a:b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Student’s Name is Ahmed, age=20, GPA=3.2, semester=4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Student’s Name is Mohamed, age=21, GPA=3.5, semester=7</a:t>
            </a:r>
            <a:endParaRPr/>
          </a:p>
        </p:txBody>
      </p:sp>
      <p:sp>
        <p:nvSpPr>
          <p:cNvPr id="485" name="Google Shape;485;p32"/>
          <p:cNvSpPr/>
          <p:nvPr/>
        </p:nvSpPr>
        <p:spPr>
          <a:xfrm>
            <a:off x="2211268" y="805524"/>
            <a:ext cx="8576649" cy="400110"/>
          </a:xfrm>
          <a:prstGeom prst="rect">
            <a:avLst/>
          </a:prstGeom>
          <a:gradFill>
            <a:gsLst>
              <a:gs pos="0">
                <a:srgbClr val="C8E1BC"/>
              </a:gs>
              <a:gs pos="100000">
                <a:srgbClr val="9DCE81"/>
              </a:gs>
            </a:gsLst>
            <a:lin ang="5400000" scaled="0"/>
          </a:gradFill>
          <a:ln cap="rnd" cmpd="sng" w="9525">
            <a:solidFill>
              <a:srgbClr val="BFDD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Solve the same problem but this time use Pointers</a:t>
            </a:r>
            <a:endParaRPr/>
          </a:p>
        </p:txBody>
      </p:sp>
      <p:pic>
        <p:nvPicPr>
          <p:cNvPr id="486" name="Google Shape;4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86" y="2817052"/>
            <a:ext cx="3717564" cy="3692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1347" y="2861539"/>
            <a:ext cx="7457440" cy="3603413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2"/>
          <p:cNvSpPr/>
          <p:nvPr/>
        </p:nvSpPr>
        <p:spPr>
          <a:xfrm>
            <a:off x="10446612" y="886673"/>
            <a:ext cx="1706800" cy="1466662"/>
          </a:xfrm>
          <a:prstGeom prst="cloudCallout">
            <a:avLst>
              <a:gd fmla="val -121608" name="adj1"/>
              <a:gd fmla="val 93363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 Only</a:t>
            </a:r>
            <a:endParaRPr/>
          </a:p>
        </p:txBody>
      </p:sp>
      <p:sp>
        <p:nvSpPr>
          <p:cNvPr id="489" name="Google Shape;489;p32"/>
          <p:cNvSpPr/>
          <p:nvPr/>
        </p:nvSpPr>
        <p:spPr>
          <a:xfrm>
            <a:off x="905347" y="3512745"/>
            <a:ext cx="3096285" cy="307817"/>
          </a:xfrm>
          <a:prstGeom prst="rect">
            <a:avLst/>
          </a:prstGeom>
          <a:noFill/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0" name="Google Shape;490;p32"/>
          <p:cNvSpPr/>
          <p:nvPr/>
        </p:nvSpPr>
        <p:spPr>
          <a:xfrm>
            <a:off x="8492333" y="3089717"/>
            <a:ext cx="873339" cy="389299"/>
          </a:xfrm>
          <a:prstGeom prst="ellipse">
            <a:avLst/>
          </a:prstGeom>
          <a:noFill/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3"/>
          <p:cNvSpPr txBox="1"/>
          <p:nvPr>
            <p:ph type="title"/>
          </p:nvPr>
        </p:nvSpPr>
        <p:spPr>
          <a:xfrm>
            <a:off x="1484312" y="1899830"/>
            <a:ext cx="3078724" cy="53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Sunday 10:30</a:t>
            </a:r>
            <a:endParaRPr/>
          </a:p>
        </p:txBody>
      </p:sp>
      <p:sp>
        <p:nvSpPr>
          <p:cNvPr id="496" name="Google Shape;496;p3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64770" lvl="0" marL="285750" rtl="0" algn="l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497" name="Google Shape;497;p33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Classroom Code</a:t>
            </a:r>
            <a:endParaRPr/>
          </a:p>
        </p:txBody>
      </p:sp>
      <p:pic>
        <p:nvPicPr>
          <p:cNvPr id="498" name="Google Shape;49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7494" y="2666999"/>
            <a:ext cx="6187976" cy="27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4"/>
          <p:cNvSpPr txBox="1"/>
          <p:nvPr>
            <p:ph type="title"/>
          </p:nvPr>
        </p:nvSpPr>
        <p:spPr>
          <a:xfrm>
            <a:off x="1484312" y="1899830"/>
            <a:ext cx="3078724" cy="5385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Sunday 2:30</a:t>
            </a:r>
            <a:endParaRPr/>
          </a:p>
        </p:txBody>
      </p:sp>
      <p:sp>
        <p:nvSpPr>
          <p:cNvPr id="504" name="Google Shape;504;p34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64770" lvl="0" marL="285750" rtl="0" algn="l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1662952" y="32686"/>
            <a:ext cx="9637060" cy="814480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Classroom Code</a:t>
            </a:r>
            <a:endParaRPr/>
          </a:p>
        </p:txBody>
      </p:sp>
      <p:pic>
        <p:nvPicPr>
          <p:cNvPr id="506" name="Google Shape;5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545" y="2666999"/>
            <a:ext cx="6149873" cy="2682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6"/>
          <p:cNvSpPr txBox="1"/>
          <p:nvPr/>
        </p:nvSpPr>
        <p:spPr>
          <a:xfrm>
            <a:off x="2380130" y="893487"/>
            <a:ext cx="9533964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of Section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☺</a:t>
            </a:r>
            <a:endParaRPr i="1" sz="1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2014-09-28T23:12:02Z</dcterms:created>
  <dc:creator>Mhmoudko Osama</dc:creator>
</cp:coreProperties>
</file>