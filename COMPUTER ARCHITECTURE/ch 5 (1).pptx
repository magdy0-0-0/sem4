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33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37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8.xml" ContentType="application/vnd.openxmlformats-officedocument.presentationml.notesSlide+xml"/>
  <Override PartName="/ppt/theme/themeOverride36.xml" ContentType="application/vnd.openxmlformats-officedocument.themeOverride+xml"/>
  <Override PartName="/ppt/notesSlides/notesSlide39.xml" ContentType="application/vnd.openxmlformats-officedocument.presentationml.notesSlide+xml"/>
  <Override PartName="/ppt/theme/themeOverride37.xml" ContentType="application/vnd.openxmlformats-officedocument.themeOverr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7"/>
  </p:notesMasterIdLst>
  <p:sldIdLst>
    <p:sldId id="258" r:id="rId2"/>
    <p:sldId id="256" r:id="rId3"/>
    <p:sldId id="259" r:id="rId4"/>
    <p:sldId id="548" r:id="rId5"/>
    <p:sldId id="604" r:id="rId6"/>
    <p:sldId id="550" r:id="rId7"/>
    <p:sldId id="621" r:id="rId8"/>
    <p:sldId id="552" r:id="rId9"/>
    <p:sldId id="553" r:id="rId10"/>
    <p:sldId id="625" r:id="rId11"/>
    <p:sldId id="554" r:id="rId12"/>
    <p:sldId id="611" r:id="rId13"/>
    <p:sldId id="613" r:id="rId14"/>
    <p:sldId id="614" r:id="rId15"/>
    <p:sldId id="615" r:id="rId16"/>
    <p:sldId id="557" r:id="rId17"/>
    <p:sldId id="616" r:id="rId18"/>
    <p:sldId id="558" r:id="rId19"/>
    <p:sldId id="590" r:id="rId20"/>
    <p:sldId id="622" r:id="rId21"/>
    <p:sldId id="563" r:id="rId22"/>
    <p:sldId id="560" r:id="rId23"/>
    <p:sldId id="564" r:id="rId24"/>
    <p:sldId id="565" r:id="rId25"/>
    <p:sldId id="623" r:id="rId26"/>
    <p:sldId id="566" r:id="rId27"/>
    <p:sldId id="624" r:id="rId28"/>
    <p:sldId id="601" r:id="rId29"/>
    <p:sldId id="603" r:id="rId30"/>
    <p:sldId id="567" r:id="rId31"/>
    <p:sldId id="568" r:id="rId32"/>
    <p:sldId id="570" r:id="rId33"/>
    <p:sldId id="572" r:id="rId34"/>
    <p:sldId id="574" r:id="rId35"/>
    <p:sldId id="620" r:id="rId36"/>
    <p:sldId id="619" r:id="rId37"/>
    <p:sldId id="576" r:id="rId38"/>
    <p:sldId id="577" r:id="rId39"/>
    <p:sldId id="579" r:id="rId40"/>
    <p:sldId id="626" r:id="rId41"/>
    <p:sldId id="580" r:id="rId42"/>
    <p:sldId id="547" r:id="rId43"/>
    <p:sldId id="588" r:id="rId44"/>
    <p:sldId id="589" r:id="rId45"/>
    <p:sldId id="284" r:id="rId46"/>
  </p:sldIdLst>
  <p:sldSz cx="9144000" cy="6858000" type="screen4x3"/>
  <p:notesSz cx="9296400" cy="6881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 baseline="3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93B9DF"/>
    <a:srgbClr val="FFFFE6"/>
    <a:srgbClr val="FFFFFF"/>
    <a:srgbClr val="B9C0F5"/>
    <a:srgbClr val="FCE9FF"/>
    <a:srgbClr val="FFCCCC"/>
    <a:srgbClr val="99CCFF"/>
    <a:srgbClr val="CC33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07" autoAdjust="0"/>
    <p:restoredTop sz="94660"/>
  </p:normalViewPr>
  <p:slideViewPr>
    <p:cSldViewPr>
      <p:cViewPr varScale="1">
        <p:scale>
          <a:sx n="82" d="100"/>
          <a:sy n="82" d="100"/>
        </p:scale>
        <p:origin x="9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68"/>
    </p:cViewPr>
  </p:sorterViewPr>
  <p:notesViewPr>
    <p:cSldViewPr>
      <p:cViewPr varScale="1">
        <p:scale>
          <a:sx n="37" d="100"/>
          <a:sy n="37" d="100"/>
        </p:scale>
        <p:origin x="-1374" y="-96"/>
      </p:cViewPr>
      <p:guideLst>
        <p:guide orient="horz" pos="216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aseline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7325" y="0"/>
            <a:ext cx="4029075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aseline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27350" y="515938"/>
            <a:ext cx="3441700" cy="2581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838" y="3268663"/>
            <a:ext cx="6816725" cy="30972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37325"/>
            <a:ext cx="4029075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aseline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325" y="6537325"/>
            <a:ext cx="4029075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fld id="{E2BB2789-4A4E-4328-B9AE-1835A5E32C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415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273DDF1-9155-4206-9654-55870BF547E8}" type="slidenum">
              <a:rPr lang="en-US" altLang="en-US" sz="1200" baseline="0"/>
              <a:pPr/>
              <a:t>3</a:t>
            </a:fld>
            <a:endParaRPr lang="en-US" altLang="en-US" sz="1200" baseline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809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2A51AA-1FC2-42FC-8774-9E9EAE35A599}" type="slidenum">
              <a:rPr lang="en-US" altLang="en-US" sz="1200" baseline="0"/>
              <a:pPr/>
              <a:t>4</a:t>
            </a:fld>
            <a:endParaRPr lang="en-US" altLang="en-US" sz="1200" baseline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7645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000405-B56B-464E-A329-25EC0EE96AC2}" type="slidenum">
              <a:rPr lang="en-US" altLang="en-US" sz="1200" baseline="0"/>
              <a:pPr/>
              <a:t>5</a:t>
            </a:fld>
            <a:endParaRPr lang="en-US" altLang="en-US" sz="1200" baseline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7253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83717C-53E5-447B-8A09-58B9E020375D}" type="slidenum">
              <a:rPr lang="en-US" altLang="en-US" sz="1200" baseline="0"/>
              <a:pPr/>
              <a:t>6</a:t>
            </a:fld>
            <a:endParaRPr lang="en-US" altLang="en-US" sz="1200" baseline="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743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94217C-DA65-4486-A4C3-EFCF809064E5}" type="slidenum">
              <a:rPr lang="en-US" altLang="en-US" sz="1200" baseline="0"/>
              <a:pPr/>
              <a:t>7</a:t>
            </a:fld>
            <a:endParaRPr lang="en-US" altLang="en-US" sz="1200" baseline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7245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622394-6748-4F3F-8030-8AC69A22C47D}" type="slidenum">
              <a:rPr lang="en-US" altLang="en-US" sz="1200" baseline="0"/>
              <a:pPr/>
              <a:t>8</a:t>
            </a:fld>
            <a:endParaRPr lang="en-US" altLang="en-US" sz="1200" baseline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7908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59DF129-F5B9-4EBB-A305-793EE393F401}" type="slidenum">
              <a:rPr lang="en-US" altLang="en-US" sz="1200" baseline="0"/>
              <a:pPr/>
              <a:t>9</a:t>
            </a:fld>
            <a:endParaRPr lang="en-US" altLang="en-US" sz="1200" baseline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700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59DF129-F5B9-4EBB-A305-793EE393F401}" type="slidenum">
              <a:rPr lang="en-US" altLang="en-US" sz="1200" baseline="0"/>
              <a:pPr/>
              <a:t>10</a:t>
            </a:fld>
            <a:endParaRPr lang="en-US" altLang="en-US" sz="1200" baseline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629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A822D35-111E-4078-AD78-37206902F70A}" type="slidenum">
              <a:rPr lang="en-US" altLang="en-US" sz="1200" baseline="0"/>
              <a:pPr/>
              <a:t>11</a:t>
            </a:fld>
            <a:endParaRPr lang="en-US" altLang="en-US" sz="1200" baseline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5078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EDA6B0-9940-4C13-B47B-AE0A4924BDBB}" type="slidenum">
              <a:rPr lang="en-US" altLang="en-US" sz="1200" baseline="0"/>
              <a:pPr/>
              <a:t>12</a:t>
            </a:fld>
            <a:endParaRPr lang="en-US" altLang="en-US" sz="1200" baseline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554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3FAEFE1-3E98-44D5-8878-3F2047D836B6}" type="slidenum">
              <a:rPr lang="en-US" altLang="en-US" sz="1200" baseline="0"/>
              <a:pPr/>
              <a:t>13</a:t>
            </a:fld>
            <a:endParaRPr lang="en-US" altLang="en-US" sz="1200" baseline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0423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BCA1FC-CDC3-4A44-A9A2-69D75D044362}" type="slidenum">
              <a:rPr lang="en-US" altLang="en-US" sz="1200" baseline="0"/>
              <a:pPr/>
              <a:t>14</a:t>
            </a:fld>
            <a:endParaRPr lang="en-US" altLang="en-US" sz="1200" baseline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781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37CD780-8481-4ABA-9D46-9041A92D30ED}" type="slidenum">
              <a:rPr lang="en-US" altLang="en-US" sz="1200" baseline="0"/>
              <a:pPr/>
              <a:t>15</a:t>
            </a:fld>
            <a:endParaRPr lang="en-US" altLang="en-US" sz="1200" baseline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7124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47715D-1924-49AE-A110-6A3729B922AE}" type="slidenum">
              <a:rPr lang="en-US" altLang="en-US" sz="1200" baseline="0"/>
              <a:pPr/>
              <a:t>16</a:t>
            </a:fld>
            <a:endParaRPr lang="en-US" altLang="en-US" sz="1200" baseline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169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F61E21-A0C7-40EA-8AE3-84F36CC29A7D}" type="slidenum">
              <a:rPr lang="en-US" altLang="en-US" sz="1200" baseline="0"/>
              <a:pPr/>
              <a:t>17</a:t>
            </a:fld>
            <a:endParaRPr lang="en-US" altLang="en-US" sz="1200" baseline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1353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F72A09E-F232-455B-B10B-3ADA16E53B1A}" type="slidenum">
              <a:rPr lang="en-US" altLang="en-US" sz="1200" baseline="0"/>
              <a:pPr/>
              <a:t>18</a:t>
            </a:fld>
            <a:endParaRPr lang="en-US" altLang="en-US" sz="1200" baseline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795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88D866-98F0-46F2-A779-88381AA34D28}" type="slidenum">
              <a:rPr lang="en-US" altLang="en-US" sz="1200" baseline="0"/>
              <a:pPr/>
              <a:t>19</a:t>
            </a:fld>
            <a:endParaRPr lang="en-US" altLang="en-US" sz="1200" baseline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7860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47263C3-2A17-47D1-8747-47A6CBA6C263}" type="slidenum">
              <a:rPr lang="en-US" altLang="en-US" sz="1200" baseline="0"/>
              <a:pPr/>
              <a:t>21</a:t>
            </a:fld>
            <a:endParaRPr lang="en-US" altLang="en-US" sz="1200" baseline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0223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AD20C50-8A8A-4A9C-8F9C-A21427C9687D}" type="slidenum">
              <a:rPr lang="en-US" altLang="en-US" sz="1200" baseline="0"/>
              <a:pPr/>
              <a:t>22</a:t>
            </a:fld>
            <a:endParaRPr lang="en-US" altLang="en-US" sz="1200" baseline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99835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C1BD73F-3B5E-44A9-BCC7-0F0831BD7141}" type="slidenum">
              <a:rPr lang="en-US" altLang="en-US" sz="1200" baseline="0"/>
              <a:pPr/>
              <a:t>23</a:t>
            </a:fld>
            <a:endParaRPr lang="en-US" altLang="en-US" sz="1200" baseline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3454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D3BBBA4-1E85-45BB-AC16-52C48FA9007A}" type="slidenum">
              <a:rPr lang="en-US" altLang="en-US" sz="1200" baseline="0"/>
              <a:pPr/>
              <a:t>24</a:t>
            </a:fld>
            <a:endParaRPr lang="en-US" altLang="en-US" sz="1200" baseline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705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C5E202-4B91-4DA6-BEDB-69DA2CC1AAED}" type="slidenum">
              <a:rPr lang="en-US" altLang="en-US" sz="1200" baseline="0"/>
              <a:pPr/>
              <a:t>26</a:t>
            </a:fld>
            <a:endParaRPr lang="en-US" altLang="en-US" sz="1200" baseline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547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BFAE66-A2A4-4A0B-A305-3BD56D6A739A}" type="slidenum">
              <a:rPr lang="en-US" altLang="en-US" sz="1200" baseline="0"/>
              <a:pPr/>
              <a:t>28</a:t>
            </a:fld>
            <a:endParaRPr lang="en-US" altLang="en-US" sz="1200" baseline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88217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4D6C2C-906D-4E0B-8EF8-6CEE04E01C7D}" type="slidenum">
              <a:rPr lang="en-US" altLang="en-US" sz="1200" baseline="0"/>
              <a:pPr/>
              <a:t>29</a:t>
            </a:fld>
            <a:endParaRPr lang="en-US" altLang="en-US" sz="1200" baseline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2936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E29C4BD-5308-4037-82BE-332A353A562A}" type="slidenum">
              <a:rPr lang="en-US" altLang="en-US" sz="1200" baseline="0"/>
              <a:pPr/>
              <a:t>30</a:t>
            </a:fld>
            <a:endParaRPr lang="en-US" altLang="en-US" sz="1200" baseline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3518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361317-DBFA-4D28-A54D-FB3BFEA43644}" type="slidenum">
              <a:rPr lang="en-US" altLang="en-US" sz="1200" baseline="0"/>
              <a:pPr/>
              <a:t>31</a:t>
            </a:fld>
            <a:endParaRPr lang="en-US" altLang="en-US" sz="1200" baseline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6554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94CB378-EA9E-40D0-8CB2-90BC68F410C1}" type="slidenum">
              <a:rPr lang="en-US" altLang="en-US" sz="1200" baseline="0"/>
              <a:pPr/>
              <a:t>32</a:t>
            </a:fld>
            <a:endParaRPr lang="en-US" altLang="en-US" sz="1200" baseline="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1318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DEDB05E-A59F-4E14-B9F2-53FF4F5E89EE}" type="slidenum">
              <a:rPr lang="en-US" altLang="en-US" sz="1200" baseline="0"/>
              <a:pPr/>
              <a:t>33</a:t>
            </a:fld>
            <a:endParaRPr lang="en-US" altLang="en-US" sz="1200" baseline="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0687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C84564-C442-4FE0-81D4-8172AEE1138A}" type="slidenum">
              <a:rPr lang="en-US" altLang="en-US" sz="1200" baseline="0"/>
              <a:pPr/>
              <a:t>34</a:t>
            </a:fld>
            <a:endParaRPr lang="en-US" altLang="en-US" sz="1200" baseline="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73101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3457E7-66E3-415E-9F24-300C8EA20ECC}" type="slidenum">
              <a:rPr lang="en-US" altLang="en-US" sz="1200" baseline="0"/>
              <a:pPr/>
              <a:t>35</a:t>
            </a:fld>
            <a:endParaRPr lang="en-US" altLang="en-US" sz="1200" baseline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72330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98D6F8-B44F-4AF9-9F27-ADE2F679E747}" type="slidenum">
              <a:rPr lang="en-US" altLang="en-US" sz="1200" baseline="0"/>
              <a:pPr/>
              <a:t>36</a:t>
            </a:fld>
            <a:endParaRPr lang="en-US" altLang="en-US" sz="1200" baseline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75436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2D2710-EAEF-437B-93AD-84C89C9EBE12}" type="slidenum">
              <a:rPr lang="en-US" altLang="en-US" sz="1200" baseline="0"/>
              <a:pPr/>
              <a:t>37</a:t>
            </a:fld>
            <a:endParaRPr lang="en-US" altLang="en-US" sz="1200" baseline="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6434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99D368-C188-44D4-AABC-6567A4C43CAD}" type="slidenum">
              <a:rPr lang="en-US" altLang="en-US" sz="1200" baseline="0"/>
              <a:pPr/>
              <a:t>38</a:t>
            </a:fld>
            <a:endParaRPr lang="en-US" altLang="en-US" sz="1200" baseline="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563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8F3DC4-4735-461B-84F9-ED10CFDD7C75}" type="slidenum">
              <a:rPr lang="en-US" altLang="en-US" sz="1200" baseline="0"/>
              <a:pPr/>
              <a:t>39</a:t>
            </a:fld>
            <a:endParaRPr lang="en-US" altLang="en-US" sz="1200" baseline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20830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8F3DC4-4735-461B-84F9-ED10CFDD7C75}" type="slidenum">
              <a:rPr lang="en-US" altLang="en-US" sz="1200" baseline="0"/>
              <a:pPr/>
              <a:t>40</a:t>
            </a:fld>
            <a:endParaRPr lang="en-US" altLang="en-US" sz="1200" baseline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41275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523538-3EC4-41F0-9D28-3BDBD39221F7}" type="slidenum">
              <a:rPr lang="en-US" altLang="en-US" sz="1200" baseline="0"/>
              <a:pPr/>
              <a:t>41</a:t>
            </a:fld>
            <a:endParaRPr lang="en-US" altLang="en-US" sz="1200" baseline="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02128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FB3385-81F3-40CE-B46C-94C6EC01D658}" type="slidenum">
              <a:rPr lang="en-US" altLang="en-US" sz="1200" baseline="0"/>
              <a:pPr/>
              <a:t>42</a:t>
            </a:fld>
            <a:endParaRPr lang="en-US" altLang="en-US" sz="1200" baseline="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7033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A462B7A-3D88-45BF-8152-54A60C8E69CF}" type="slidenum">
              <a:rPr lang="en-US" altLang="en-US" sz="1200" baseline="0"/>
              <a:pPr/>
              <a:t>43</a:t>
            </a:fld>
            <a:endParaRPr lang="en-US" altLang="en-US" sz="1200" baseline="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5139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52433B-6C11-4A45-B1D5-7B4C51284A4B}" type="slidenum">
              <a:rPr lang="en-US" altLang="en-US" sz="1200" baseline="0"/>
              <a:pPr/>
              <a:t>44</a:t>
            </a:fld>
            <a:endParaRPr lang="en-US" altLang="en-US" sz="1200" baseline="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3285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F78DC01-B62E-46E7-AF35-5A7DBDCBB640}" type="slidenum">
              <a:rPr lang="en-US" altLang="en-US" sz="1200" baseline="0"/>
              <a:pPr/>
              <a:t>45</a:t>
            </a:fld>
            <a:endParaRPr lang="en-US" altLang="en-US" sz="1200" baseline="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2579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788BF8-1937-41ED-BD32-E0724F6D05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61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83CA3C-056D-478E-9066-2B4F635742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081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233D4B-16B0-42F1-8C99-5505F121D9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72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6B831A-5A47-4976-A133-F8FD8869D9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28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794683-BC8A-4101-9FC5-63289567A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96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8C163A-582D-49EC-9DCB-CB3357B95C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29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6E4E8-46AF-4284-8039-AE5F25681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267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ADAE60-7861-4645-A02E-92EB75FCE7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751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6ECD1-84C9-4E7D-B239-8CD4270BC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6971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8F18EB-E9C8-47F4-B68B-9D1D874090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205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97B8A7-9C69-4323-BFCD-4B38A081D7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19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baseline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 baseline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/>
            </a:lvl1pPr>
          </a:lstStyle>
          <a:p>
            <a:fld id="{EB79CDB8-196E-475C-9115-30FFCD7DA76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00" y="2819400"/>
            <a:ext cx="4038600" cy="838200"/>
          </a:xfrm>
        </p:spPr>
        <p:txBody>
          <a:bodyPr anchor="ctr"/>
          <a:lstStyle/>
          <a:p>
            <a:r>
              <a:rPr lang="en-US" altLang="en-US" sz="5600" b="1">
                <a:solidFill>
                  <a:schemeClr val="tx1"/>
                </a:solidFill>
                <a:latin typeface="Arial" panose="020B0604020202020204" pitchFamily="34" charset="0"/>
              </a:rPr>
              <a:t>Chapter 5</a:t>
            </a:r>
            <a:endParaRPr lang="en-US" altLang="en-US"/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724400" y="3733800"/>
            <a:ext cx="3810000" cy="1981200"/>
          </a:xfrm>
        </p:spPr>
        <p:txBody>
          <a:bodyPr/>
          <a:lstStyle/>
          <a:p>
            <a:pPr algn="r"/>
            <a:r>
              <a:rPr lang="en-US" altLang="en-US" sz="3800">
                <a:latin typeface="Arial" panose="020B0604020202020204" pitchFamily="34" charset="0"/>
              </a:rPr>
              <a:t>A Closer Look at Instruction Set Architectures</a:t>
            </a:r>
            <a:endParaRPr lang="en-US" altLang="en-US" sz="4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41D820-0CA8-42B6-AB09-CED2D0BB6B7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304800"/>
            <a:ext cx="5715000" cy="547688"/>
          </a:xfrm>
        </p:spPr>
        <p:txBody>
          <a:bodyPr/>
          <a:lstStyle/>
          <a:p>
            <a:r>
              <a:rPr lang="en-US" altLang="en-US" sz="3400" b="1">
                <a:solidFill>
                  <a:schemeClr val="tx1"/>
                </a:solidFill>
                <a:latin typeface="Arial" panose="020B0604020202020204" pitchFamily="34" charset="0"/>
              </a:rPr>
              <a:t>Chapter 5 Objectives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001000" cy="42672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800">
                <a:latin typeface="Arial" panose="020B0604020202020204" pitchFamily="34" charset="0"/>
              </a:rPr>
              <a:t>Understand the factors involved in instruction set architecture design.</a:t>
            </a:r>
          </a:p>
          <a:p>
            <a:pPr>
              <a:lnSpc>
                <a:spcPct val="120000"/>
              </a:lnSpc>
            </a:pPr>
            <a:r>
              <a:rPr lang="en-US" altLang="en-US" sz="2800">
                <a:latin typeface="Arial" panose="020B0604020202020204" pitchFamily="34" charset="0"/>
              </a:rPr>
              <a:t>Gain familiarity with memory addressing modes.</a:t>
            </a:r>
          </a:p>
          <a:p>
            <a:pPr>
              <a:lnSpc>
                <a:spcPct val="120000"/>
              </a:lnSpc>
            </a:pPr>
            <a:r>
              <a:rPr lang="en-US" altLang="en-US" sz="2800">
                <a:latin typeface="Arial" panose="020B0604020202020204" pitchFamily="34" charset="0"/>
              </a:rPr>
              <a:t>Understand the concepts of instruction-level pipelining and its affect upon execution performance.</a:t>
            </a:r>
            <a:endParaRPr lang="en-US" altLang="en-US" sz="26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4D4231-A3FF-4013-B4BA-6FB9BCB4243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5.1 Introduction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574582"/>
            <a:ext cx="8991600" cy="1863818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169863" indent="-169863">
              <a:spcBef>
                <a:spcPts val="600"/>
              </a:spcBef>
            </a:pPr>
            <a:r>
              <a:rPr lang="en-US" altLang="en-US" sz="2000" dirty="0">
                <a:latin typeface="+mj-lt"/>
              </a:rPr>
              <a:t>We saw in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Chapter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4</a:t>
            </a:r>
            <a:r>
              <a:rPr lang="en-US" altLang="en-US" sz="2000" dirty="0">
                <a:latin typeface="+mj-lt"/>
              </a:rPr>
              <a:t> that </a:t>
            </a:r>
            <a:r>
              <a:rPr lang="en-US" altLang="en-US" sz="2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machine instructions </a:t>
            </a:r>
            <a:r>
              <a:rPr lang="en-US" altLang="en-US" sz="2000" dirty="0">
                <a:latin typeface="+mj-lt"/>
              </a:rPr>
              <a:t>consist of </a:t>
            </a:r>
            <a:r>
              <a:rPr lang="en-US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opcodes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altLang="en-US" sz="2000" dirty="0">
                <a:latin typeface="+mj-lt"/>
              </a:rPr>
              <a:t>and </a:t>
            </a:r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operands</a:t>
            </a:r>
            <a:r>
              <a:rPr lang="en-US" altLang="en-US" sz="2000" dirty="0">
                <a:latin typeface="+mj-lt"/>
              </a:rPr>
              <a:t>. </a:t>
            </a:r>
          </a:p>
          <a:p>
            <a:pPr marL="690563" lvl="1" indent="-233363">
              <a:spcBef>
                <a:spcPts val="600"/>
              </a:spcBef>
              <a:buFont typeface="Times New Roman" panose="02020603050405020304" pitchFamily="18" charset="0"/>
              <a:buAutoNum type="arabicPeriod"/>
            </a:pPr>
            <a:r>
              <a:rPr lang="en-US" altLang="en-US" sz="2000" dirty="0">
                <a:latin typeface="+mj-lt"/>
              </a:rPr>
              <a:t>The </a:t>
            </a:r>
            <a:r>
              <a:rPr lang="en-US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opcodes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altLang="en-US" sz="2000" dirty="0">
                <a:latin typeface="+mj-lt"/>
              </a:rPr>
              <a:t>specify the operations to be executed.</a:t>
            </a:r>
          </a:p>
          <a:p>
            <a:pPr marL="690563" lvl="1" indent="-233363">
              <a:spcBef>
                <a:spcPts val="600"/>
              </a:spcBef>
              <a:buFont typeface="Times New Roman" panose="02020603050405020304" pitchFamily="18" charset="0"/>
              <a:buAutoNum type="arabicPeriod"/>
            </a:pPr>
            <a:r>
              <a:rPr lang="en-US" altLang="en-US" sz="2000" dirty="0">
                <a:latin typeface="+mj-lt"/>
              </a:rPr>
              <a:t>The </a:t>
            </a:r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operands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altLang="en-US" sz="2000" dirty="0">
                <a:latin typeface="+mj-lt"/>
              </a:rPr>
              <a:t>specify register or memory locations of data.</a:t>
            </a:r>
            <a:endParaRPr lang="en-US" altLang="en-US" sz="2000" b="1" dirty="0">
              <a:latin typeface="+mj-lt"/>
            </a:endParaRPr>
          </a:p>
          <a:p>
            <a:pPr marL="169863" indent="-169863">
              <a:spcBef>
                <a:spcPts val="600"/>
              </a:spcBef>
            </a:pPr>
            <a:r>
              <a:rPr lang="en-US" altLang="en-US" sz="2000" dirty="0">
                <a:latin typeface="+mj-lt"/>
              </a:rPr>
              <a:t>In the case of using high level languages such as C, C++, or Java, should we be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concerned with machine instructions</a:t>
            </a:r>
            <a:r>
              <a:rPr lang="en-US" altLang="en-US" sz="2000" dirty="0">
                <a:latin typeface="+mj-lt"/>
              </a:rPr>
              <a:t>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2633008"/>
            <a:ext cx="3886200" cy="193899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need for that as high level languages hide all these details (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convert and which machine instructions are related to each high level language instruction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0" y="3235333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4572000"/>
            <a:ext cx="4267200" cy="132343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Programmers with assembly background (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solid background in computer architecture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are able to write efficient and effective programs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2" grpId="0" animBg="1"/>
      <p:bldP spid="4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74DF46-D8C3-4021-8FC1-AB0FD407CDC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17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" y="2598241"/>
            <a:ext cx="8839198" cy="268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40000"/>
              </a:spcBef>
              <a:buFontTx/>
              <a:buNone/>
            </a:pPr>
            <a:r>
              <a:rPr lang="en-US" altLang="en-US" sz="2200" baseline="0" dirty="0">
                <a:latin typeface="+mj-lt"/>
              </a:rPr>
              <a:t>Therefore, </a:t>
            </a:r>
            <a:r>
              <a:rPr lang="en-US" alt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Instruction set architectures </a:t>
            </a:r>
            <a:r>
              <a:rPr lang="en-US" altLang="en-US" sz="2200" baseline="0" dirty="0">
                <a:latin typeface="+mj-lt"/>
              </a:rPr>
              <a:t>are </a:t>
            </a:r>
            <a:r>
              <a:rPr lang="en-US" alt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measured</a:t>
            </a:r>
            <a:r>
              <a:rPr lang="en-US" altLang="en-US" sz="2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altLang="en-US" sz="2200" baseline="0" dirty="0">
                <a:latin typeface="+mj-lt"/>
              </a:rPr>
              <a:t>according to:</a:t>
            </a:r>
          </a:p>
          <a:p>
            <a:pPr marL="457200" lvl="1" indent="-169863">
              <a:spcBef>
                <a:spcPct val="40000"/>
              </a:spcBef>
              <a:buFontTx/>
              <a:buChar char="•"/>
            </a:pPr>
            <a:r>
              <a:rPr lang="en-US" alt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Main memory</a:t>
            </a:r>
            <a:r>
              <a:rPr lang="en-US" altLang="en-US" sz="2200" baseline="0" dirty="0">
                <a:latin typeface="+mj-lt"/>
              </a:rPr>
              <a:t> space occupied by a program.</a:t>
            </a:r>
          </a:p>
          <a:p>
            <a:pPr marL="457200" lvl="1" indent="-169863">
              <a:spcBef>
                <a:spcPct val="40000"/>
              </a:spcBef>
              <a:buFontTx/>
              <a:buChar char="•"/>
            </a:pPr>
            <a:r>
              <a:rPr lang="en-US" alt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Instruction complexity </a:t>
            </a:r>
            <a:r>
              <a:rPr lang="en-US" altLang="en-US" sz="2200" baseline="0" dirty="0">
                <a:latin typeface="+mj-lt"/>
              </a:rPr>
              <a:t>(in terms of </a:t>
            </a:r>
            <a:r>
              <a:rPr lang="en-US" alt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amount of decoding </a:t>
            </a:r>
            <a:r>
              <a:rPr lang="en-US" altLang="en-US" sz="2200" baseline="0" dirty="0">
                <a:latin typeface="+mj-lt"/>
              </a:rPr>
              <a:t>required and </a:t>
            </a:r>
            <a:r>
              <a:rPr lang="en-US" alt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complexity of tasks </a:t>
            </a:r>
            <a:r>
              <a:rPr lang="en-US" altLang="en-US" sz="2200" baseline="0" dirty="0">
                <a:latin typeface="+mj-lt"/>
              </a:rPr>
              <a:t>being performed).</a:t>
            </a:r>
          </a:p>
          <a:p>
            <a:pPr marL="457200" lvl="1" indent="-169863">
              <a:spcBef>
                <a:spcPct val="40000"/>
              </a:spcBef>
              <a:buFontTx/>
              <a:buChar char="•"/>
            </a:pPr>
            <a:r>
              <a:rPr lang="en-US" alt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Instruction length </a:t>
            </a:r>
            <a:r>
              <a:rPr lang="en-US" altLang="en-US" sz="2200" baseline="0" dirty="0">
                <a:latin typeface="+mj-lt"/>
              </a:rPr>
              <a:t>(in bits).</a:t>
            </a:r>
          </a:p>
          <a:p>
            <a:pPr marL="457200" lvl="1" indent="-169863">
              <a:spcBef>
                <a:spcPct val="40000"/>
              </a:spcBef>
              <a:buFontTx/>
              <a:buChar char="•"/>
            </a:pPr>
            <a:r>
              <a:rPr lang="en-US" altLang="en-US" sz="2200" baseline="0" dirty="0">
                <a:latin typeface="+mj-lt"/>
              </a:rPr>
              <a:t>Total </a:t>
            </a:r>
            <a:r>
              <a:rPr lang="en-US" alt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number of instructions </a:t>
            </a:r>
            <a:r>
              <a:rPr lang="en-US" altLang="en-US" sz="2200" baseline="0" dirty="0">
                <a:latin typeface="+mj-lt"/>
              </a:rPr>
              <a:t>in the instruction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334434"/>
            <a:ext cx="3124199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how to measure of ISA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7688"/>
            <a:ext cx="868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aseline="0" dirty="0"/>
              <a:t>For proper design of the instruction set, a match between this set and the architecture 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be established</a:t>
            </a:r>
            <a:r>
              <a:rPr lang="en-US" sz="2200" baseline="0" dirty="0"/>
              <a:t>. This will ensure </a:t>
            </a:r>
            <a:r>
              <a:rPr 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efficient</a:t>
            </a:r>
            <a:r>
              <a:rPr lang="en-US" sz="2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aseline="0" dirty="0"/>
              <a:t>and </a:t>
            </a:r>
            <a:r>
              <a:rPr 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effective</a:t>
            </a:r>
            <a:r>
              <a:rPr lang="en-US" sz="2200" baseline="0" dirty="0"/>
              <a:t> utilization of the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hardware</a:t>
            </a:r>
            <a:r>
              <a:rPr lang="en-US" sz="2200" baseline="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745159"/>
            <a:ext cx="9067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When a 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computer architecture </a:t>
            </a:r>
            <a:r>
              <a:rPr 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is in the </a:t>
            </a:r>
            <a:r>
              <a:rPr 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design phase</a:t>
            </a:r>
            <a:r>
              <a:rPr 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the </a:t>
            </a:r>
            <a:r>
              <a:rPr 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instruction set format</a:t>
            </a:r>
            <a:r>
              <a:rPr 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must be determined before many other decisions can be made.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3E4363-2669-433A-A4B0-91605079868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15400" cy="2057400"/>
          </a:xfrm>
        </p:spPr>
        <p:txBody>
          <a:bodyPr/>
          <a:lstStyle/>
          <a:p>
            <a:pPr marL="168275" indent="-168275">
              <a:spcBef>
                <a:spcPct val="10000"/>
              </a:spcBef>
              <a:defRPr/>
            </a:pPr>
            <a:r>
              <a:rPr lang="en-US" sz="19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MARIE</a:t>
            </a:r>
            <a:r>
              <a:rPr lang="en-US" sz="19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 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had an instruction length of </a:t>
            </a:r>
            <a:r>
              <a:rPr lang="en-US" sz="19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16 bits 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and could have at most, </a:t>
            </a:r>
            <a:r>
              <a:rPr lang="en-US" sz="19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1 operand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.</a:t>
            </a:r>
          </a:p>
          <a:p>
            <a:pPr marL="168275" indent="-168275" algn="just">
              <a:defRPr/>
            </a:pPr>
            <a:r>
              <a:rPr lang="en-US" sz="19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Architectures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 are </a:t>
            </a:r>
            <a:r>
              <a:rPr lang="en-US" sz="19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differentiated</a:t>
            </a:r>
            <a:r>
              <a:rPr lang="en-US" sz="1900" dirty="0">
                <a:solidFill>
                  <a:srgbClr val="0070C0"/>
                </a:solidFill>
                <a:latin typeface="Times-Roman"/>
              </a:rPr>
              <a:t> 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from one another by:</a:t>
            </a:r>
          </a:p>
          <a:p>
            <a:pPr marL="568325" lvl="1" indent="-168275" algn="just">
              <a:defRPr/>
            </a:pPr>
            <a:r>
              <a:rPr lang="en-US" sz="1900" dirty="0">
                <a:solidFill>
                  <a:srgbClr val="272526"/>
                </a:solidFill>
                <a:latin typeface="Times-Roman"/>
              </a:rPr>
              <a:t> the </a:t>
            </a:r>
            <a:r>
              <a:rPr lang="en-US" sz="19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number of bits 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allowed per instruction (</a:t>
            </a:r>
            <a:r>
              <a:rPr lang="en-US" sz="19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16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, </a:t>
            </a:r>
            <a:r>
              <a:rPr lang="en-US" sz="19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32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, and </a:t>
            </a:r>
            <a:r>
              <a:rPr lang="en-US" sz="19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64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 are the most common).</a:t>
            </a:r>
          </a:p>
          <a:p>
            <a:pPr marL="568325" lvl="1" indent="-168275" algn="just">
              <a:defRPr/>
            </a:pPr>
            <a:r>
              <a:rPr lang="en-US" sz="1900" dirty="0">
                <a:solidFill>
                  <a:srgbClr val="272526"/>
                </a:solidFill>
                <a:latin typeface="Times-Roman"/>
              </a:rPr>
              <a:t>the </a:t>
            </a:r>
            <a:r>
              <a:rPr lang="en-US" sz="19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number of operands 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allowed per instruction.</a:t>
            </a:r>
          </a:p>
          <a:p>
            <a:pPr marL="568325" lvl="1" indent="-168275" algn="just">
              <a:defRPr/>
            </a:pPr>
            <a:r>
              <a:rPr lang="en-US" sz="1900" dirty="0">
                <a:solidFill>
                  <a:srgbClr val="272526"/>
                </a:solidFill>
                <a:latin typeface="Times-Roman"/>
              </a:rPr>
              <a:t>the </a:t>
            </a:r>
            <a:r>
              <a:rPr lang="en-US" sz="19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types of instructions 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and </a:t>
            </a:r>
            <a:r>
              <a:rPr lang="en-US" sz="19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data</a:t>
            </a:r>
            <a:r>
              <a:rPr lang="en-US" sz="190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 </a:t>
            </a:r>
            <a:r>
              <a:rPr lang="en-US" sz="1900" dirty="0">
                <a:solidFill>
                  <a:srgbClr val="272526"/>
                </a:solidFill>
                <a:latin typeface="Times-Roman"/>
              </a:rPr>
              <a:t>each can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2724430"/>
            <a:ext cx="88392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More specifically, </a:t>
            </a:r>
            <a:r>
              <a:rPr lang="en-US" sz="19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instruction sets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 are </a:t>
            </a:r>
            <a:r>
              <a:rPr lang="en-US" sz="19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differentiated</a:t>
            </a:r>
            <a:r>
              <a:rPr lang="en-US" sz="19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 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by the following features:</a:t>
            </a:r>
          </a:p>
          <a:p>
            <a:pPr marL="401638" lvl="1" indent="-342900">
              <a:buFont typeface="+mj-lt"/>
              <a:buAutoNum type="arabicPeriod"/>
              <a:defRPr/>
            </a:pPr>
            <a:r>
              <a:rPr lang="en-US" sz="19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Operand storage 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in the CPU (data can be stored in a stack structure or in registers)</a:t>
            </a:r>
          </a:p>
          <a:p>
            <a:pPr marL="401638" lvl="1" indent="-342900">
              <a:buFont typeface="+mj-lt"/>
              <a:buAutoNum type="arabicPeriod"/>
              <a:defRPr/>
            </a:pPr>
            <a:r>
              <a:rPr lang="en-US" sz="19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Number of explicit operands 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per instruction (</a:t>
            </a:r>
            <a:r>
              <a:rPr lang="en-US" sz="19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zero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, </a:t>
            </a:r>
            <a:r>
              <a:rPr lang="en-US" sz="19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one,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 </a:t>
            </a:r>
            <a:r>
              <a:rPr lang="en-US" sz="19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two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, and </a:t>
            </a:r>
            <a:r>
              <a:rPr lang="en-US" sz="19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three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 being the most common)</a:t>
            </a:r>
          </a:p>
          <a:p>
            <a:pPr marL="401638" lvl="1" indent="-342900">
              <a:buFont typeface="+mj-lt"/>
              <a:buAutoNum type="arabicPeriod"/>
              <a:defRPr/>
            </a:pPr>
            <a:r>
              <a:rPr lang="en-US" sz="19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Operand location 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(instructions can be classified as </a:t>
            </a:r>
            <a:r>
              <a:rPr lang="en-US" sz="19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register-to-register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, </a:t>
            </a:r>
            <a:r>
              <a:rPr lang="en-US" sz="19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register-to- memory 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or </a:t>
            </a:r>
            <a:r>
              <a:rPr lang="en-US" sz="19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memory-to-memory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, which simply refer to the combinations of operands allowed per instruction) (</a:t>
            </a:r>
            <a:r>
              <a:rPr lang="en-US" sz="19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see Slide 11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)</a:t>
            </a:r>
          </a:p>
          <a:p>
            <a:pPr marL="401638" lvl="1" indent="-342900">
              <a:buFont typeface="+mj-lt"/>
              <a:buAutoNum type="arabicPeriod"/>
              <a:defRPr/>
            </a:pPr>
            <a:r>
              <a:rPr lang="en-US" sz="19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Operations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 (including not only types of operations but also which instructions can access memory and which cannot)</a:t>
            </a:r>
          </a:p>
          <a:p>
            <a:pPr marL="401638" lvl="1" indent="-342900">
              <a:buFont typeface="+mj-lt"/>
              <a:buAutoNum type="arabicPeriod"/>
              <a:defRPr/>
            </a:pPr>
            <a:r>
              <a:rPr lang="en-US" sz="19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Type and size of operands </a:t>
            </a:r>
            <a:r>
              <a:rPr lang="en-US" sz="1900" baseline="0" dirty="0">
                <a:solidFill>
                  <a:srgbClr val="272526"/>
                </a:solidFill>
                <a:latin typeface="Times-Roman"/>
              </a:rPr>
              <a:t>(operands can be addresses, numbers, or even characters)</a:t>
            </a:r>
            <a:endParaRPr lang="en-US" altLang="en-US" sz="1900" baseline="0" dirty="0">
              <a:solidFill>
                <a:srgbClr val="272526"/>
              </a:solidFill>
              <a:latin typeface="Times-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88A22A-E591-432D-8A8D-B7AB34D2055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74582"/>
            <a:ext cx="9066212" cy="4759418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10000"/>
              </a:spcBef>
              <a:buFontTx/>
              <a:buNone/>
            </a:pPr>
            <a:r>
              <a:rPr lang="en-US" altLang="en-US" sz="2200" dirty="0"/>
              <a:t>In designing an 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set</a:t>
            </a:r>
            <a:r>
              <a:rPr lang="en-US" altLang="en-US" sz="2200" dirty="0"/>
              <a:t>, </a:t>
            </a:r>
            <a:r>
              <a:rPr lang="en-US" alt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consideration is given to</a:t>
            </a:r>
            <a:r>
              <a:rPr lang="en-US" altLang="en-US" sz="2200" dirty="0"/>
              <a:t>:</a:t>
            </a:r>
          </a:p>
          <a:p>
            <a:pPr marL="682625" lvl="1" indent="-225425">
              <a:spcBef>
                <a:spcPct val="10000"/>
              </a:spcBef>
              <a:buFontTx/>
              <a:buChar char="•"/>
            </a:pP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length</a:t>
            </a:r>
            <a:r>
              <a:rPr lang="en-US" altLang="en-US" sz="2200" dirty="0"/>
              <a:t> (whether 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</a:t>
            </a:r>
            <a:r>
              <a:rPr lang="en-US" altLang="en-US" sz="2200" dirty="0"/>
              <a:t>, 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</a:t>
            </a:r>
            <a:r>
              <a:rPr lang="en-US" altLang="en-US" sz="2200" dirty="0"/>
              <a:t>, or 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  <a:r>
              <a:rPr lang="en-US" altLang="en-US" sz="2200" dirty="0"/>
              <a:t>). Although short instructions are better (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fetching time↓ </a:t>
            </a:r>
            <a:r>
              <a:rPr lang="en-US" altLang="en-US" sz="2200" dirty="0"/>
              <a:t>and 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space↓</a:t>
            </a:r>
            <a:r>
              <a:rPr lang="en-US" altLang="en-US" sz="2200" dirty="0"/>
              <a:t>), it limits the number of instructions (Opcode size 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↓ </a:t>
            </a:r>
            <a:r>
              <a:rPr lang="en-US" altLang="en-US" sz="2200" dirty="0"/>
              <a:t>as instruction length 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↓</a:t>
            </a:r>
            <a:r>
              <a:rPr lang="en-US" altLang="en-US" sz="2200" dirty="0"/>
              <a:t>, therefore, limit number of available instructions).</a:t>
            </a:r>
          </a:p>
          <a:p>
            <a:pPr marL="690563" lvl="1" indent="0">
              <a:spcBef>
                <a:spcPct val="10000"/>
              </a:spcBef>
              <a:buNone/>
            </a:pPr>
            <a:r>
              <a:rPr lang="en-US" altLang="en-US" sz="2200" dirty="0"/>
              <a:t>Moreover, fixed length instructions are </a:t>
            </a: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easier to decode </a:t>
            </a:r>
            <a:r>
              <a:rPr lang="en-US" sz="2200" dirty="0"/>
              <a:t>but </a:t>
            </a:r>
            <a:r>
              <a:rPr lang="en-US" sz="2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waste memory space</a:t>
            </a:r>
            <a:r>
              <a:rPr lang="en-US" sz="2200" dirty="0"/>
              <a:t>.</a:t>
            </a:r>
            <a:endParaRPr lang="en-US" altLang="en-US" sz="2200" dirty="0"/>
          </a:p>
          <a:p>
            <a:pPr marL="682625" lvl="1" indent="-225425">
              <a:spcBef>
                <a:spcPct val="10000"/>
              </a:spcBef>
              <a:buFontTx/>
              <a:buChar char="•"/>
            </a:pP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operands </a:t>
            </a:r>
            <a:r>
              <a:rPr lang="en-US" altLang="en-US" sz="2200" dirty="0"/>
              <a:t>(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instructions limit size and number of operands</a:t>
            </a:r>
            <a:r>
              <a:rPr lang="en-US" altLang="en-US" sz="2200" dirty="0"/>
              <a:t>).</a:t>
            </a:r>
          </a:p>
          <a:p>
            <a:pPr marL="682625" lvl="1" indent="-225425">
              <a:spcBef>
                <a:spcPct val="10000"/>
              </a:spcBef>
              <a:buFontTx/>
              <a:buChar char="•"/>
            </a:pP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addressable registers</a:t>
            </a:r>
            <a:r>
              <a:rPr lang="en-US" altLang="en-US" sz="2200" dirty="0"/>
              <a:t> (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many registers are required</a:t>
            </a:r>
            <a:r>
              <a:rPr lang="en-US" altLang="en-US" sz="2200" dirty="0"/>
              <a:t>).</a:t>
            </a:r>
          </a:p>
          <a:p>
            <a:pPr marL="682625" lvl="1" indent="-225425">
              <a:spcBef>
                <a:spcPct val="10000"/>
              </a:spcBef>
              <a:buFontTx/>
              <a:buChar char="•"/>
            </a:pP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organization </a:t>
            </a:r>
            <a:r>
              <a:rPr lang="en-US" altLang="en-US" sz="2200" dirty="0"/>
              <a:t>(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whether byte or word addressable</a:t>
            </a:r>
            <a:r>
              <a:rPr lang="en-US" altLang="en-US" sz="2200" dirty="0"/>
              <a:t>); in order to be able to access the character data.</a:t>
            </a:r>
          </a:p>
          <a:p>
            <a:pPr marL="682625" lvl="1" indent="-225425">
              <a:spcBef>
                <a:spcPct val="10000"/>
              </a:spcBef>
              <a:buFontTx/>
              <a:buChar char="•"/>
            </a:pP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Addressing modes</a:t>
            </a:r>
            <a:r>
              <a:rPr lang="en-US" altLang="en-US" sz="2200" dirty="0"/>
              <a:t> (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choose any or all: direct or indirect</a:t>
            </a:r>
            <a:r>
              <a:rPr lang="en-US" altLang="en-US" sz="2200" dirty="0"/>
              <a:t>).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61506" y="5646003"/>
            <a:ext cx="2743200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store data bytes in memory?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8C0E37-913F-453F-BC61-0F3D7DBBF92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21507" name="Rectangle 8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7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577620"/>
            <a:ext cx="872976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 baseline="0" dirty="0"/>
              <a:t>Choosing the best method for storing the bytes of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multiple-byte data element </a:t>
            </a:r>
            <a:r>
              <a:rPr lang="en-US" sz="2200" baseline="0" dirty="0"/>
              <a:t>is a debate and is called 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little vs big endian debate</a:t>
            </a:r>
            <a:r>
              <a:rPr lang="en-US" sz="2200" baseline="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 baseline="0" dirty="0"/>
              <a:t>Since, almost all computer architectures are now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byte-addressable</a:t>
            </a:r>
            <a:r>
              <a:rPr lang="en-US" sz="2200" baseline="0" dirty="0"/>
              <a:t>, a </a:t>
            </a:r>
            <a:r>
              <a:rPr 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</a:t>
            </a:r>
            <a:r>
              <a:rPr lang="en-US" sz="2200" baseline="0" dirty="0">
                <a:solidFill>
                  <a:srgbClr val="0070C0"/>
                </a:solidFill>
              </a:rPr>
              <a:t> </a:t>
            </a:r>
            <a:r>
              <a:rPr lang="en-US" sz="2200" baseline="0" dirty="0"/>
              <a:t>for storing information (multiple-byte data element) is </a:t>
            </a:r>
            <a:r>
              <a:rPr 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required</a:t>
            </a:r>
            <a:r>
              <a:rPr lang="en-US" sz="2200" baseline="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7000" y="2405299"/>
            <a:ext cx="3733800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standards exist for multiple-data element storage</a:t>
            </a:r>
          </a:p>
        </p:txBody>
      </p:sp>
      <p:sp>
        <p:nvSpPr>
          <p:cNvPr id="4" name="Bent Arrow 3"/>
          <p:cNvSpPr/>
          <p:nvPr/>
        </p:nvSpPr>
        <p:spPr bwMode="auto">
          <a:xfrm rot="16200000" flipH="1">
            <a:off x="1866900" y="2687536"/>
            <a:ext cx="609600" cy="685800"/>
          </a:xfrm>
          <a:prstGeom prst="bent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1" name="Bent Arrow 10"/>
          <p:cNvSpPr/>
          <p:nvPr/>
        </p:nvSpPr>
        <p:spPr bwMode="auto">
          <a:xfrm rot="5400000">
            <a:off x="6591300" y="2687535"/>
            <a:ext cx="609600" cy="685800"/>
          </a:xfrm>
          <a:prstGeom prst="bent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19800" y="3319699"/>
            <a:ext cx="259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Little endian machine</a:t>
            </a:r>
          </a:p>
          <a:p>
            <a:r>
              <a:rPr lang="en-US" baseline="0" dirty="0"/>
              <a:t>Storing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least</a:t>
            </a:r>
            <a:r>
              <a:rPr lang="en-US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byte</a:t>
            </a:r>
            <a:r>
              <a:rPr lang="en-US" baseline="0" dirty="0"/>
              <a:t> before the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byte</a:t>
            </a:r>
          </a:p>
          <a:p>
            <a:r>
              <a:rPr lang="en-US" b="1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Ex. </a:t>
            </a:r>
            <a:r>
              <a:rPr lang="en-US" baseline="0" dirty="0"/>
              <a:t>Most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59074" y="3113185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Suppose we have a</a:t>
            </a:r>
          </a:p>
          <a:p>
            <a:pPr algn="ctr"/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bytes data element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319699"/>
            <a:ext cx="29367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endian machine</a:t>
            </a:r>
          </a:p>
          <a:p>
            <a:r>
              <a:rPr lang="en-US" baseline="0" dirty="0"/>
              <a:t>Storing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byte </a:t>
            </a:r>
            <a:r>
              <a:rPr lang="en-US" baseline="0" dirty="0"/>
              <a:t>before the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least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byte</a:t>
            </a:r>
          </a:p>
          <a:p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Ex. </a:t>
            </a:r>
            <a:r>
              <a:rPr lang="en-US" baseline="0" dirty="0"/>
              <a:t>Most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UNIX</a:t>
            </a:r>
            <a:r>
              <a:rPr lang="en-US" baseline="0" dirty="0"/>
              <a:t>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4911804"/>
            <a:ext cx="88056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 baseline="0" dirty="0"/>
              <a:t>Moreover, most newer 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RISC</a:t>
            </a:r>
            <a:r>
              <a:rPr lang="en-US" sz="2200" baseline="0" dirty="0">
                <a:solidFill>
                  <a:srgbClr val="C00000"/>
                </a:solidFill>
              </a:rPr>
              <a:t> </a:t>
            </a:r>
            <a:r>
              <a:rPr lang="en-US" sz="2200" baseline="0" dirty="0"/>
              <a:t>architectures are also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endian</a:t>
            </a:r>
            <a:r>
              <a:rPr lang="en-US" sz="2200" baseline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</a:t>
            </a:r>
            <a:r>
              <a:rPr lang="en-US" sz="2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aseline="0" dirty="0"/>
              <a:t>has always done things the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Little endian </a:t>
            </a:r>
            <a:r>
              <a:rPr lang="en-US" sz="2200" baseline="0" dirty="0"/>
              <a:t>way whereas, 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Motorola</a:t>
            </a:r>
            <a:r>
              <a:rPr lang="en-US" sz="2200" baseline="0" dirty="0">
                <a:solidFill>
                  <a:srgbClr val="C00000"/>
                </a:solidFill>
              </a:rPr>
              <a:t> </a:t>
            </a:r>
            <a:r>
              <a:rPr lang="en-US" sz="2200" baseline="0" dirty="0"/>
              <a:t>has always done things the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endian </a:t>
            </a:r>
            <a:r>
              <a:rPr lang="en-US" sz="2200" baseline="0" dirty="0"/>
              <a:t>way.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156172"/>
              </p:ext>
            </p:extLst>
          </p:nvPr>
        </p:nvGraphicFramePr>
        <p:xfrm>
          <a:off x="3486531" y="3888877"/>
          <a:ext cx="221208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1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Most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Byte 0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Least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90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11" grpId="0" animBg="1"/>
      <p:bldP spid="5" grpId="0"/>
      <p:bldP spid="6" grpId="0"/>
      <p:bldP spid="1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B45CC3-03D5-4124-A0D0-846A3249198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5943600" cy="547688"/>
          </a:xfrm>
        </p:spPr>
        <p:txBody>
          <a:bodyPr/>
          <a:lstStyle/>
          <a:p>
            <a:r>
              <a:rPr lang="en-US" altLang="en-US" sz="3400" b="1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560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242642"/>
            <a:ext cx="84582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" y="673011"/>
            <a:ext cx="891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</a:p>
          <a:p>
            <a:r>
              <a:rPr lang="en-US" altLang="en-US" sz="2400" baseline="0" dirty="0">
                <a:latin typeface="+mn-lt"/>
              </a:rPr>
              <a:t>suppose we have the hexadecimal number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12345678. </a:t>
            </a:r>
            <a:r>
              <a:rPr lang="en-US" altLang="en-US" sz="2400" baseline="0" dirty="0">
                <a:latin typeface="+mn-lt"/>
              </a:rPr>
              <a:t>How to store this number using both the little and big endian</a:t>
            </a:r>
            <a:endParaRPr lang="en-US" sz="2400" baseline="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2819400" y="3748615"/>
            <a:ext cx="1371600" cy="276999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7086600" y="3748615"/>
            <a:ext cx="1447800" cy="276999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1552" y="2729398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significant byte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4933" y="2729398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Least significant byte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7086600" y="4084074"/>
            <a:ext cx="1447800" cy="276999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4866" y="4488899"/>
            <a:ext cx="2091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significant byte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813304" y="4080842"/>
            <a:ext cx="1389888" cy="286581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1552" y="4488899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Least significant byte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3304" y="5355848"/>
            <a:ext cx="3736848" cy="89255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Therefore, which is the best standard to use?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C76A2AB-6389-3330-20CB-44CC4E30B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60435"/>
              </p:ext>
            </p:extLst>
          </p:nvPr>
        </p:nvGraphicFramePr>
        <p:xfrm>
          <a:off x="1633728" y="2097646"/>
          <a:ext cx="6096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3218840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7855162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640085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82032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7937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F6150F-1004-F31F-AF38-C9B85D3061A7}"/>
              </a:ext>
            </a:extLst>
          </p:cNvPr>
          <p:cNvSpPr txBox="1"/>
          <p:nvPr/>
        </p:nvSpPr>
        <p:spPr>
          <a:xfrm>
            <a:off x="533400" y="1905000"/>
            <a:ext cx="99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Significant Byte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EF916-32C9-014E-E875-4C89F7CE3E52}"/>
              </a:ext>
            </a:extLst>
          </p:cNvPr>
          <p:cNvSpPr txBox="1"/>
          <p:nvPr/>
        </p:nvSpPr>
        <p:spPr>
          <a:xfrm>
            <a:off x="7810499" y="1905000"/>
            <a:ext cx="99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Least Significant Byte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9" grpId="0" animBg="1"/>
      <p:bldP spid="4" grpId="0"/>
      <p:bldP spid="11" grpId="0"/>
      <p:bldP spid="12" grpId="0" animBg="1"/>
      <p:bldP spid="13" grpId="0"/>
      <p:bldP spid="14" grpId="0" animBg="1"/>
      <p:bldP spid="15" grpId="0"/>
      <p:bldP spid="5" grpId="0" animBg="1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1DB7AE-F7F1-42A4-A370-04E91449DC2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570100"/>
            <a:ext cx="8686800" cy="24779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Big endian:</a:t>
            </a:r>
          </a:p>
          <a:p>
            <a:pPr marL="403225" lvl="1" indent="-169863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More natural to most people as it is </a:t>
            </a:r>
            <a:r>
              <a: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easier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to be read</a:t>
            </a:r>
            <a:r>
              <a:rPr lang="en-US" sz="2000" dirty="0">
                <a:latin typeface="+mj-lt"/>
              </a:rPr>
              <a:t> (</a:t>
            </a:r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unlike the little endian, the order is reversed</a:t>
            </a:r>
            <a:r>
              <a:rPr lang="en-US" sz="2000" dirty="0">
                <a:latin typeface="+mj-lt"/>
              </a:rPr>
              <a:t>).</a:t>
            </a:r>
          </a:p>
          <a:p>
            <a:pPr marL="403225" lvl="1" indent="-169863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The sign of the number can be determined by looking at the byte at address offset 0 (</a:t>
            </a:r>
            <a:r>
              <a:rPr lang="en-US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unlike the little endian, the length of the data element must be known to jump to the last byte</a:t>
            </a:r>
            <a:r>
              <a:rPr lang="en-US" altLang="en-US" sz="2000" dirty="0">
                <a:latin typeface="+mj-lt"/>
              </a:rPr>
              <a:t>)</a:t>
            </a:r>
            <a:endParaRPr lang="en-US" sz="2000" dirty="0">
              <a:latin typeface="+mj-lt"/>
            </a:endParaRPr>
          </a:p>
          <a:p>
            <a:pPr marL="403225" lvl="1" indent="-169863"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Strings</a:t>
            </a:r>
            <a:r>
              <a:rPr lang="en-US" altLang="en-US" sz="2000" dirty="0">
                <a:latin typeface="+mj-lt"/>
              </a:rPr>
              <a:t> and 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integers</a:t>
            </a:r>
            <a:r>
              <a:rPr lang="en-US" altLang="en-US" sz="2000" dirty="0">
                <a:latin typeface="+mj-lt"/>
              </a:rPr>
              <a:t> are stored in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same order</a:t>
            </a:r>
            <a:r>
              <a:rPr lang="en-US" altLang="en-US" sz="2000" dirty="0">
                <a:latin typeface="+mj-lt"/>
              </a:rPr>
              <a:t> (faster string operations).</a:t>
            </a:r>
            <a:endParaRPr lang="en-US" sz="20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3276600"/>
            <a:ext cx="8915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30000"/>
              </a:spcBef>
              <a:buNone/>
            </a:pPr>
            <a:r>
              <a:rPr lang="en-US" alt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Little endian:</a:t>
            </a:r>
          </a:p>
          <a:p>
            <a:pPr marL="403225" lvl="1" indent="-169863">
              <a:buFont typeface="Arial" panose="020B0604020202020204" pitchFamily="34" charset="0"/>
              <a:buChar char="•"/>
            </a:pPr>
            <a:r>
              <a:rPr lang="en-US" altLang="en-US" baseline="0" dirty="0">
                <a:latin typeface="+mj-lt"/>
              </a:rPr>
              <a:t>Makes it easier to place values on </a:t>
            </a:r>
            <a:r>
              <a:rPr lang="en-US" alt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non-word boundaries </a:t>
            </a:r>
            <a:r>
              <a:rPr lang="en-US" altLang="en-US" baseline="0" dirty="0">
                <a:latin typeface="+mj-lt"/>
              </a:rPr>
              <a:t>(</a:t>
            </a:r>
            <a:r>
              <a:rPr lang="en-US" altLang="en-US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allow odd addressing</a:t>
            </a:r>
            <a:r>
              <a:rPr lang="en-US" altLang="en-US" baseline="0" dirty="0">
                <a:latin typeface="+mj-lt"/>
              </a:rPr>
              <a:t>).</a:t>
            </a:r>
          </a:p>
          <a:p>
            <a:pPr marL="403225" lvl="1" indent="-169863">
              <a:buFont typeface="Arial" panose="020B0604020202020204" pitchFamily="34" charset="0"/>
              <a:buChar char="•"/>
            </a:pPr>
            <a:r>
              <a:rPr lang="en-US" altLang="en-US" baseline="0" dirty="0">
                <a:latin typeface="+mj-lt"/>
              </a:rPr>
              <a:t>Conversion from a </a:t>
            </a: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32-bit</a:t>
            </a:r>
            <a:r>
              <a:rPr lang="en-US" altLang="en-US" baseline="0" dirty="0">
                <a:latin typeface="+mj-lt"/>
              </a:rPr>
              <a:t> integer address to </a:t>
            </a:r>
            <a:r>
              <a:rPr lang="en-US" altLang="en-US" baseline="0">
                <a:latin typeface="+mj-lt"/>
              </a:rPr>
              <a:t>a </a:t>
            </a:r>
            <a:r>
              <a:rPr lang="en-US" altLang="en-US" b="1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16-bit</a:t>
            </a:r>
            <a:r>
              <a:rPr lang="en-US" altLang="en-US" baseline="0">
                <a:latin typeface="+mj-lt"/>
              </a:rPr>
              <a:t> </a:t>
            </a:r>
            <a:r>
              <a:rPr lang="en-US" altLang="en-US" baseline="0" dirty="0">
                <a:latin typeface="+mj-lt"/>
              </a:rPr>
              <a:t>integer address does not require any arithmetic, which makes it faster and easier (</a:t>
            </a:r>
            <a:r>
              <a:rPr lang="en-US" altLang="en-US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unlike the big endian, it requires addition</a:t>
            </a:r>
            <a:r>
              <a:rPr lang="en-US" altLang="en-US" baseline="0" dirty="0">
                <a:latin typeface="+mj-lt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D1243-4F68-F0E2-4822-7FC6788A5D9F}"/>
              </a:ext>
            </a:extLst>
          </p:cNvPr>
          <p:cNvSpPr txBox="1"/>
          <p:nvPr/>
        </p:nvSpPr>
        <p:spPr>
          <a:xfrm>
            <a:off x="3006852" y="5102095"/>
            <a:ext cx="3206496" cy="89255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see an example on this conversion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/>
      <p:bldP spid="4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1DB7AE-F7F1-42A4-A370-04E91449DC2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4648200"/>
            <a:ext cx="7696200" cy="120032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Therefore, knowing </a:t>
            </a:r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being used for manipulating data elements is </a:t>
            </a:r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very essential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it affects the </a:t>
            </a:r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dealing with such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9CAB2-857E-C51C-1D81-88C56EA105F8}"/>
              </a:ext>
            </a:extLst>
          </p:cNvPr>
          <p:cNvSpPr txBox="1"/>
          <p:nvPr/>
        </p:nvSpPr>
        <p:spPr>
          <a:xfrm>
            <a:off x="114300" y="547688"/>
            <a:ext cx="8915400" cy="1007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</a:p>
          <a:p>
            <a:pPr>
              <a:lnSpc>
                <a:spcPts val="2400"/>
              </a:lnSpc>
            </a:pPr>
            <a:r>
              <a:rPr lang="en-US" sz="2800" dirty="0"/>
              <a:t>Suppose that we have a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32-bits</a:t>
            </a:r>
            <a:r>
              <a:rPr lang="en-US" sz="2800" dirty="0"/>
              <a:t> integer which is: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0x23547910</a:t>
            </a:r>
            <a:r>
              <a:rPr lang="en-US" sz="2800" dirty="0"/>
              <a:t> and it is required to convert it to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16-bits</a:t>
            </a:r>
            <a:r>
              <a:rPr lang="en-US" sz="2800" dirty="0"/>
              <a:t> integer. You must represent the number in both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little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endian</a:t>
            </a:r>
            <a:r>
              <a:rPr lang="en-US" sz="2800" dirty="0"/>
              <a:t>.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61939BBA-1201-FFFC-47EC-9E2365276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892778"/>
              </p:ext>
            </p:extLst>
          </p:nvPr>
        </p:nvGraphicFramePr>
        <p:xfrm>
          <a:off x="1586933" y="1544320"/>
          <a:ext cx="4876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45127089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1908053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83847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48180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307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9806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A2F0AAA-98AD-E5E2-09C2-046032DF93EE}"/>
              </a:ext>
            </a:extLst>
          </p:cNvPr>
          <p:cNvSpPr txBox="1"/>
          <p:nvPr/>
        </p:nvSpPr>
        <p:spPr>
          <a:xfrm>
            <a:off x="275735" y="1546179"/>
            <a:ext cx="1234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Endian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280A2-8365-67DE-B2F4-0539ED2730E9}"/>
              </a:ext>
            </a:extLst>
          </p:cNvPr>
          <p:cNvSpPr txBox="1"/>
          <p:nvPr/>
        </p:nvSpPr>
        <p:spPr>
          <a:xfrm>
            <a:off x="152400" y="1924941"/>
            <a:ext cx="1358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Little Endian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21535C2-A7D4-7EC6-FDF0-DBAD727F208C}"/>
              </a:ext>
            </a:extLst>
          </p:cNvPr>
          <p:cNvSpPr/>
          <p:nvPr/>
        </p:nvSpPr>
        <p:spPr bwMode="auto">
          <a:xfrm rot="5400000">
            <a:off x="3932220" y="10841"/>
            <a:ext cx="204812" cy="48768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FAD13-69FE-5367-4E52-06AE674DA6AB}"/>
              </a:ext>
            </a:extLst>
          </p:cNvPr>
          <p:cNvSpPr txBox="1"/>
          <p:nvPr/>
        </p:nvSpPr>
        <p:spPr>
          <a:xfrm>
            <a:off x="3623489" y="2562432"/>
            <a:ext cx="822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32-bits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CB56568-64EA-D834-C9E9-6FC9B3AB3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09836"/>
              </p:ext>
            </p:extLst>
          </p:nvPr>
        </p:nvGraphicFramePr>
        <p:xfrm>
          <a:off x="4021617" y="1551972"/>
          <a:ext cx="243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1890399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76447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9540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4FBE5F6-77C6-49DE-F9A6-34FB35B9D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511408"/>
              </p:ext>
            </p:extLst>
          </p:nvPr>
        </p:nvGraphicFramePr>
        <p:xfrm>
          <a:off x="1585075" y="1917015"/>
          <a:ext cx="243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1890399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76447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95408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EAE463C-D7ED-8C04-39E5-5616B4CD21D5}"/>
              </a:ext>
            </a:extLst>
          </p:cNvPr>
          <p:cNvSpPr/>
          <p:nvPr/>
        </p:nvSpPr>
        <p:spPr bwMode="auto">
          <a:xfrm>
            <a:off x="4025333" y="1544320"/>
            <a:ext cx="2438400" cy="38062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EB1B39-5DE8-CDDD-1EE3-FB334ED0459D}"/>
              </a:ext>
            </a:extLst>
          </p:cNvPr>
          <p:cNvSpPr/>
          <p:nvPr/>
        </p:nvSpPr>
        <p:spPr bwMode="auto">
          <a:xfrm>
            <a:off x="1586933" y="1928628"/>
            <a:ext cx="2438400" cy="38062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65170C-7785-0E3D-4D55-F0CAFDD28F35}"/>
              </a:ext>
            </a:extLst>
          </p:cNvPr>
          <p:cNvSpPr/>
          <p:nvPr/>
        </p:nvSpPr>
        <p:spPr bwMode="auto">
          <a:xfrm>
            <a:off x="6781800" y="1884733"/>
            <a:ext cx="228600" cy="21797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B4C046-51D8-B482-2632-0B0D43F83721}"/>
              </a:ext>
            </a:extLst>
          </p:cNvPr>
          <p:cNvSpPr txBox="1"/>
          <p:nvPr/>
        </p:nvSpPr>
        <p:spPr>
          <a:xfrm>
            <a:off x="7010400" y="1689436"/>
            <a:ext cx="1619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Least significant 16-bits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590A0F-2582-B1EB-8C1E-BB6AF76F67F8}"/>
              </a:ext>
            </a:extLst>
          </p:cNvPr>
          <p:cNvSpPr txBox="1"/>
          <p:nvPr/>
        </p:nvSpPr>
        <p:spPr>
          <a:xfrm>
            <a:off x="5486400" y="3887272"/>
            <a:ext cx="352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Requires calculation of the least 16-bits address based on the base address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9F3880-5F56-598E-C45A-02DE002CF9C3}"/>
              </a:ext>
            </a:extLst>
          </p:cNvPr>
          <p:cNvSpPr txBox="1"/>
          <p:nvPr/>
        </p:nvSpPr>
        <p:spPr>
          <a:xfrm>
            <a:off x="685800" y="3887272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calculation is required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86A6DD2-33CB-C802-8FE8-50B3E9BAAB74}"/>
              </a:ext>
            </a:extLst>
          </p:cNvPr>
          <p:cNvSpPr/>
          <p:nvPr/>
        </p:nvSpPr>
        <p:spPr bwMode="auto">
          <a:xfrm rot="16200000">
            <a:off x="1726393" y="2016080"/>
            <a:ext cx="204812" cy="2438398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239BC852-FCD5-3ADE-0172-BFB94C4218A9}"/>
              </a:ext>
            </a:extLst>
          </p:cNvPr>
          <p:cNvSpPr/>
          <p:nvPr/>
        </p:nvSpPr>
        <p:spPr bwMode="auto">
          <a:xfrm rot="16200000">
            <a:off x="6893410" y="2057251"/>
            <a:ext cx="204813" cy="2356056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726F4D-2161-8F65-5E2C-8658B1957A7E}"/>
              </a:ext>
            </a:extLst>
          </p:cNvPr>
          <p:cNvSpPr txBox="1"/>
          <p:nvPr/>
        </p:nvSpPr>
        <p:spPr>
          <a:xfrm>
            <a:off x="1417662" y="2803940"/>
            <a:ext cx="822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16-bits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51CC85-C2EC-E2DF-72D7-30CBED745848}"/>
              </a:ext>
            </a:extLst>
          </p:cNvPr>
          <p:cNvSpPr txBox="1"/>
          <p:nvPr/>
        </p:nvSpPr>
        <p:spPr>
          <a:xfrm>
            <a:off x="6599263" y="2803940"/>
            <a:ext cx="822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16-bits</a:t>
            </a:r>
          </a:p>
        </p:txBody>
      </p:sp>
    </p:spTree>
    <p:extLst>
      <p:ext uri="{BB962C8B-B14F-4D97-AF65-F5344CB8AC3E}">
        <p14:creationId xmlns:p14="http://schemas.microsoft.com/office/powerpoint/2010/main" val="101019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-0.00393 L -0.10782 0.21389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13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208 L 0.19323 0.27199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53" y="1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  <p:bldP spid="7" grpId="0"/>
      <p:bldP spid="8" grpId="0"/>
      <p:bldP spid="9" grpId="0" animBg="1"/>
      <p:bldP spid="10" grpId="0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353B34-2014-4C84-8127-D3B406498B4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271" y="530708"/>
            <a:ext cx="9027459" cy="383692"/>
          </a:xfrm>
        </p:spPr>
        <p:txBody>
          <a:bodyPr/>
          <a:lstStyle/>
          <a:p>
            <a:pPr marL="0" indent="0">
              <a:spcBef>
                <a:spcPct val="30000"/>
              </a:spcBef>
              <a:buNone/>
              <a:defRPr/>
            </a:pPr>
            <a:r>
              <a:rPr lang="en-US" altLang="en-US" sz="2000" dirty="0"/>
              <a:t>The next consideration for </a:t>
            </a:r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design </a:t>
            </a:r>
            <a:r>
              <a:rPr lang="en-US" altLang="en-US" sz="2000" dirty="0"/>
              <a:t>concerns how the </a:t>
            </a:r>
            <a:r>
              <a:rPr lang="en-US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</a:t>
            </a:r>
            <a:r>
              <a:rPr lang="en-US" altLang="en-US" sz="2000" dirty="0"/>
              <a:t> will store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70" y="838200"/>
            <a:ext cx="6113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methods </a:t>
            </a:r>
            <a:r>
              <a:rPr lang="en-US" baseline="0" dirty="0"/>
              <a:t>can be used for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storing</a:t>
            </a:r>
            <a:r>
              <a:rPr lang="en-US" baseline="0" dirty="0"/>
              <a:t>, which are: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97156"/>
            <a:ext cx="3348316" cy="297004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b="1" u="sng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Stack architecture: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700" baseline="0" dirty="0"/>
              <a:t>use a stack to execute </a:t>
            </a:r>
            <a:r>
              <a:rPr lang="en-US" sz="17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instructions</a:t>
            </a:r>
            <a:r>
              <a:rPr lang="en-US" sz="1700" baseline="0" dirty="0"/>
              <a:t>, and the </a:t>
            </a:r>
            <a:r>
              <a:rPr lang="en-US" sz="17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operands</a:t>
            </a:r>
            <a:r>
              <a:rPr lang="en-US" sz="1700" baseline="0" dirty="0"/>
              <a:t> are (</a:t>
            </a:r>
            <a:r>
              <a:rPr lang="en-US" sz="17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implicitly</a:t>
            </a:r>
            <a:r>
              <a:rPr lang="en-US" sz="1700" baseline="0" dirty="0"/>
              <a:t>) found on </a:t>
            </a:r>
            <a:r>
              <a:rPr lang="en-US" sz="17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of the stack</a:t>
            </a:r>
            <a:r>
              <a:rPr lang="en-US" sz="1700" baseline="0" dirty="0"/>
              <a:t>.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700" baseline="0" dirty="0"/>
              <a:t>Although stack-based machines have simple model for evaluation of expressions, a stack cannot be accessed randomly, which makes it difficult to generate efficient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4513" y="1297156"/>
            <a:ext cx="2747687" cy="297004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b="1" u="sng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Accumulator architecture: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700" baseline="0" dirty="0"/>
              <a:t>As in </a:t>
            </a:r>
            <a:r>
              <a:rPr lang="en-US" sz="17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MARIE</a:t>
            </a:r>
            <a:r>
              <a:rPr lang="en-US" sz="1700" baseline="0" dirty="0"/>
              <a:t>, one operand stored in the </a:t>
            </a:r>
            <a:r>
              <a:rPr lang="en-US" sz="17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</a:t>
            </a:r>
            <a:r>
              <a:rPr lang="en-US" sz="17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700" baseline="0" dirty="0"/>
              <a:t>and that minimizes the complexity of the machine (short instructions can be used).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700" baseline="0" dirty="0"/>
              <a:t>As many operations are based on </a:t>
            </a:r>
            <a:r>
              <a:rPr lang="en-US" sz="17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</a:t>
            </a:r>
            <a:r>
              <a:rPr lang="en-US" sz="1700" baseline="0" dirty="0"/>
              <a:t>, that results in high memory traffic.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397" y="1297156"/>
            <a:ext cx="2895603" cy="297004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b="1" u="sng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purpose register (</a:t>
            </a:r>
            <a:r>
              <a:rPr lang="en-US" sz="17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GPR</a:t>
            </a:r>
            <a:r>
              <a:rPr lang="en-US" sz="1700" b="1" u="sng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architecture: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700" baseline="0" dirty="0"/>
              <a:t>Uses a set of general purpose registers which are faster than memory (</a:t>
            </a:r>
            <a:r>
              <a:rPr lang="en-US" sz="1700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widely used architecture</a:t>
            </a:r>
            <a:r>
              <a:rPr lang="en-US" sz="1700" baseline="0" dirty="0"/>
              <a:t>).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700" baseline="0" dirty="0"/>
              <a:t>Longer instructions.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700" baseline="0" dirty="0"/>
              <a:t>This architecture reduces the PC price significantly (</a:t>
            </a:r>
            <a:r>
              <a:rPr lang="en-US" sz="1700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large number of registers can be used</a:t>
            </a:r>
            <a:r>
              <a:rPr lang="en-US" sz="1700" baseline="0" dirty="0"/>
              <a:t>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11" y="4923472"/>
            <a:ext cx="896246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1800" b="1" u="sng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Note that:</a:t>
            </a:r>
          </a:p>
          <a:p>
            <a:pPr marL="169863" indent="-169863" algn="just">
              <a:buFont typeface="Arial" panose="020B0604020202020204" pitchFamily="34" charset="0"/>
              <a:buChar char="•"/>
              <a:defRPr/>
            </a:pP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If </a:t>
            </a:r>
            <a:r>
              <a:rPr 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memory</a:t>
            </a:r>
            <a:r>
              <a:rPr lang="en-US" sz="1800" baseline="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access is </a:t>
            </a:r>
            <a:r>
              <a:rPr lang="en-US" sz="18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fast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, a </a:t>
            </a:r>
            <a:r>
              <a:rPr lang="en-US" sz="18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stack-based design 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may be a good idea; </a:t>
            </a:r>
          </a:p>
          <a:p>
            <a:pPr marL="169863" indent="-169863" algn="just">
              <a:buFont typeface="Arial" panose="020B0604020202020204" pitchFamily="34" charset="0"/>
              <a:buChar char="•"/>
              <a:defRPr/>
            </a:pP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If </a:t>
            </a:r>
            <a:r>
              <a:rPr 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memory</a:t>
            </a:r>
            <a:r>
              <a:rPr lang="en-US" sz="18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access</a:t>
            </a:r>
            <a:r>
              <a:rPr lang="en-US" sz="18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is </a:t>
            </a:r>
            <a:r>
              <a:rPr lang="en-US" sz="18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slow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, it is often better to use </a:t>
            </a:r>
            <a:r>
              <a:rPr lang="en-US" sz="18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registers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. </a:t>
            </a:r>
          </a:p>
          <a:p>
            <a:pPr marL="169863" indent="-169863" algn="just">
              <a:buFont typeface="Arial" panose="020B0604020202020204" pitchFamily="34" charset="0"/>
              <a:buChar char="•"/>
              <a:defRPr/>
            </a:pP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These are the reasons why </a:t>
            </a:r>
            <a:r>
              <a:rPr 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most computers 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over the past </a:t>
            </a:r>
            <a:r>
              <a:rPr lang="en-US" sz="18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10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 years have been </a:t>
            </a:r>
            <a:r>
              <a:rPr lang="en-US" sz="18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general register based</a:t>
            </a:r>
            <a:r>
              <a:rPr lang="en-US" sz="1800" baseline="0" dirty="0">
                <a:solidFill>
                  <a:srgbClr val="272526"/>
                </a:solidFill>
                <a:latin typeface="+mj-lt"/>
              </a:rPr>
              <a:t>.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11" y="4295506"/>
            <a:ext cx="88862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en-US" sz="1800" baseline="0" dirty="0">
                <a:latin typeface="+mn-lt"/>
              </a:rPr>
              <a:t>In choosing one over the other, there is a </a:t>
            </a:r>
            <a:r>
              <a:rPr lang="en-US" alt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tradeoff</a:t>
            </a:r>
            <a:r>
              <a:rPr lang="en-US" altLang="en-US" sz="18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altLang="en-US" sz="1800" baseline="0" dirty="0">
                <a:latin typeface="+mn-lt"/>
              </a:rPr>
              <a:t>between </a:t>
            </a:r>
            <a:r>
              <a:rPr lang="en-US" altLang="en-US" sz="18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simplicity</a:t>
            </a:r>
            <a:r>
              <a:rPr lang="en-US" altLang="en-US" sz="18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altLang="en-US" sz="18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of hardware design </a:t>
            </a:r>
            <a:r>
              <a:rPr lang="en-US" altLang="en-US" sz="1800" baseline="0" dirty="0"/>
              <a:t>(</a:t>
            </a:r>
            <a:r>
              <a:rPr lang="en-US" altLang="en-US" sz="18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cost</a:t>
            </a:r>
            <a:r>
              <a:rPr lang="en-US" altLang="en-US" sz="1800" baseline="0" dirty="0"/>
              <a:t>)</a:t>
            </a:r>
            <a:r>
              <a:rPr lang="en-US" altLang="en-US" sz="1800" baseline="0" dirty="0">
                <a:latin typeface="+mn-lt"/>
              </a:rPr>
              <a:t> and </a:t>
            </a:r>
            <a:r>
              <a:rPr lang="en-US" altLang="en-US" sz="18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the execution speed </a:t>
            </a:r>
            <a:r>
              <a:rPr lang="en-US" altLang="en-US" sz="1800" baseline="0" dirty="0">
                <a:latin typeface="+mn-lt"/>
              </a:rPr>
              <a:t>(</a:t>
            </a:r>
            <a:r>
              <a:rPr lang="en-US" altLang="en-US" sz="18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and</a:t>
            </a:r>
            <a:r>
              <a:rPr lang="en-US" altLang="en-US" sz="1800" baseline="0" dirty="0">
                <a:latin typeface="+mn-lt"/>
              </a:rPr>
              <a:t> </a:t>
            </a:r>
            <a:r>
              <a:rPr lang="en-US" altLang="en-US" sz="18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ease of use</a:t>
            </a:r>
            <a:r>
              <a:rPr lang="en-US" altLang="en-US" sz="1800" baseline="0" dirty="0">
                <a:latin typeface="+mn-lt"/>
              </a:rPr>
              <a:t>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  <p:bldP spid="3" grpId="0"/>
      <p:bldP spid="4" grpId="0" animBg="1"/>
      <p:bldP spid="9" grpId="0" animBg="1"/>
      <p:bldP spid="10" grpId="0" animBg="1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774576" y="5272582"/>
            <a:ext cx="838200" cy="67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registers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7194AC-60EB-4380-8592-FC5CCBE133A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565617"/>
            <a:ext cx="7086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aseline="0" dirty="0"/>
              <a:t>In 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GPR architecture</a:t>
            </a:r>
            <a:r>
              <a:rPr lang="en-US" sz="2200" baseline="0" dirty="0"/>
              <a:t>, </a:t>
            </a:r>
            <a:r>
              <a:rPr 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</a:t>
            </a:r>
            <a:r>
              <a:rPr lang="en-US" sz="22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aseline="0" dirty="0"/>
              <a:t>types of instructions can be used</a:t>
            </a:r>
          </a:p>
        </p:txBody>
      </p:sp>
      <p:sp>
        <p:nvSpPr>
          <p:cNvPr id="16" name="Freeform 15"/>
          <p:cNvSpPr/>
          <p:nvPr/>
        </p:nvSpPr>
        <p:spPr bwMode="auto">
          <a:xfrm>
            <a:off x="990600" y="1045212"/>
            <a:ext cx="6705600" cy="910875"/>
          </a:xfrm>
          <a:custGeom>
            <a:avLst/>
            <a:gdLst>
              <a:gd name="connsiteX0" fmla="*/ 902070 w 1996888"/>
              <a:gd name="connsiteY0" fmla="*/ 0 h 910875"/>
              <a:gd name="connsiteX1" fmla="*/ 1054470 w 1996888"/>
              <a:gd name="connsiteY1" fmla="*/ 0 h 910875"/>
              <a:gd name="connsiteX2" fmla="*/ 1054470 w 1996888"/>
              <a:gd name="connsiteY2" fmla="*/ 357280 h 910875"/>
              <a:gd name="connsiteX3" fmla="*/ 1768288 w 1996888"/>
              <a:gd name="connsiteY3" fmla="*/ 357280 h 910875"/>
              <a:gd name="connsiteX4" fmla="*/ 1768288 w 1996888"/>
              <a:gd name="connsiteY4" fmla="*/ 356460 h 910875"/>
              <a:gd name="connsiteX5" fmla="*/ 1920688 w 1996888"/>
              <a:gd name="connsiteY5" fmla="*/ 356460 h 910875"/>
              <a:gd name="connsiteX6" fmla="*/ 1920688 w 1996888"/>
              <a:gd name="connsiteY6" fmla="*/ 754925 h 910875"/>
              <a:gd name="connsiteX7" fmla="*/ 1996888 w 1996888"/>
              <a:gd name="connsiteY7" fmla="*/ 754925 h 910875"/>
              <a:gd name="connsiteX8" fmla="*/ 1844488 w 1996888"/>
              <a:gd name="connsiteY8" fmla="*/ 907325 h 910875"/>
              <a:gd name="connsiteX9" fmla="*/ 1692088 w 1996888"/>
              <a:gd name="connsiteY9" fmla="*/ 754925 h 910875"/>
              <a:gd name="connsiteX10" fmla="*/ 1768288 w 1996888"/>
              <a:gd name="connsiteY10" fmla="*/ 754925 h 910875"/>
              <a:gd name="connsiteX11" fmla="*/ 1768288 w 1996888"/>
              <a:gd name="connsiteY11" fmla="*/ 533811 h 910875"/>
              <a:gd name="connsiteX12" fmla="*/ 1054470 w 1996888"/>
              <a:gd name="connsiteY12" fmla="*/ 533811 h 910875"/>
              <a:gd name="connsiteX13" fmla="*/ 1054470 w 1996888"/>
              <a:gd name="connsiteY13" fmla="*/ 750927 h 910875"/>
              <a:gd name="connsiteX14" fmla="*/ 1130670 w 1996888"/>
              <a:gd name="connsiteY14" fmla="*/ 750927 h 910875"/>
              <a:gd name="connsiteX15" fmla="*/ 978270 w 1996888"/>
              <a:gd name="connsiteY15" fmla="*/ 903327 h 910875"/>
              <a:gd name="connsiteX16" fmla="*/ 825870 w 1996888"/>
              <a:gd name="connsiteY16" fmla="*/ 750927 h 910875"/>
              <a:gd name="connsiteX17" fmla="*/ 902070 w 1996888"/>
              <a:gd name="connsiteY17" fmla="*/ 750927 h 910875"/>
              <a:gd name="connsiteX18" fmla="*/ 902070 w 1996888"/>
              <a:gd name="connsiteY18" fmla="*/ 533811 h 910875"/>
              <a:gd name="connsiteX19" fmla="*/ 228600 w 1996888"/>
              <a:gd name="connsiteY19" fmla="*/ 533811 h 910875"/>
              <a:gd name="connsiteX20" fmla="*/ 228600 w 1996888"/>
              <a:gd name="connsiteY20" fmla="*/ 758475 h 910875"/>
              <a:gd name="connsiteX21" fmla="*/ 304800 w 1996888"/>
              <a:gd name="connsiteY21" fmla="*/ 758475 h 910875"/>
              <a:gd name="connsiteX22" fmla="*/ 152400 w 1996888"/>
              <a:gd name="connsiteY22" fmla="*/ 910875 h 910875"/>
              <a:gd name="connsiteX23" fmla="*/ 0 w 1996888"/>
              <a:gd name="connsiteY23" fmla="*/ 758475 h 910875"/>
              <a:gd name="connsiteX24" fmla="*/ 76200 w 1996888"/>
              <a:gd name="connsiteY24" fmla="*/ 758475 h 910875"/>
              <a:gd name="connsiteX25" fmla="*/ 76200 w 1996888"/>
              <a:gd name="connsiteY25" fmla="*/ 360010 h 910875"/>
              <a:gd name="connsiteX26" fmla="*/ 77320 w 1996888"/>
              <a:gd name="connsiteY26" fmla="*/ 360010 h 910875"/>
              <a:gd name="connsiteX27" fmla="*/ 77320 w 1996888"/>
              <a:gd name="connsiteY27" fmla="*/ 357280 h 910875"/>
              <a:gd name="connsiteX28" fmla="*/ 902070 w 1996888"/>
              <a:gd name="connsiteY28" fmla="*/ 357280 h 910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996888" h="910875">
                <a:moveTo>
                  <a:pt x="902070" y="0"/>
                </a:moveTo>
                <a:lnTo>
                  <a:pt x="1054470" y="0"/>
                </a:lnTo>
                <a:lnTo>
                  <a:pt x="1054470" y="357280"/>
                </a:lnTo>
                <a:lnTo>
                  <a:pt x="1768288" y="357280"/>
                </a:lnTo>
                <a:lnTo>
                  <a:pt x="1768288" y="356460"/>
                </a:lnTo>
                <a:lnTo>
                  <a:pt x="1920688" y="356460"/>
                </a:lnTo>
                <a:lnTo>
                  <a:pt x="1920688" y="754925"/>
                </a:lnTo>
                <a:lnTo>
                  <a:pt x="1996888" y="754925"/>
                </a:lnTo>
                <a:lnTo>
                  <a:pt x="1844488" y="907325"/>
                </a:lnTo>
                <a:lnTo>
                  <a:pt x="1692088" y="754925"/>
                </a:lnTo>
                <a:lnTo>
                  <a:pt x="1768288" y="754925"/>
                </a:lnTo>
                <a:lnTo>
                  <a:pt x="1768288" y="533811"/>
                </a:lnTo>
                <a:lnTo>
                  <a:pt x="1054470" y="533811"/>
                </a:lnTo>
                <a:lnTo>
                  <a:pt x="1054470" y="750927"/>
                </a:lnTo>
                <a:lnTo>
                  <a:pt x="1130670" y="750927"/>
                </a:lnTo>
                <a:lnTo>
                  <a:pt x="978270" y="903327"/>
                </a:lnTo>
                <a:lnTo>
                  <a:pt x="825870" y="750927"/>
                </a:lnTo>
                <a:lnTo>
                  <a:pt x="902070" y="750927"/>
                </a:lnTo>
                <a:lnTo>
                  <a:pt x="902070" y="533811"/>
                </a:lnTo>
                <a:lnTo>
                  <a:pt x="228600" y="533811"/>
                </a:lnTo>
                <a:lnTo>
                  <a:pt x="228600" y="758475"/>
                </a:lnTo>
                <a:lnTo>
                  <a:pt x="304800" y="758475"/>
                </a:lnTo>
                <a:lnTo>
                  <a:pt x="152400" y="910875"/>
                </a:lnTo>
                <a:lnTo>
                  <a:pt x="0" y="758475"/>
                </a:lnTo>
                <a:lnTo>
                  <a:pt x="76200" y="758475"/>
                </a:lnTo>
                <a:lnTo>
                  <a:pt x="76200" y="360010"/>
                </a:lnTo>
                <a:lnTo>
                  <a:pt x="77320" y="360010"/>
                </a:lnTo>
                <a:lnTo>
                  <a:pt x="77320" y="357280"/>
                </a:lnTo>
                <a:lnTo>
                  <a:pt x="902070" y="35728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2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1924110"/>
            <a:ext cx="320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Memory-memory:</a:t>
            </a:r>
          </a:p>
          <a:p>
            <a:r>
              <a:rPr lang="en-US" baseline="0" dirty="0"/>
              <a:t>May have two or three operands in memory, allowing an instruction to perform an operation without requiring any operand to be in a register</a:t>
            </a:r>
          </a:p>
          <a:p>
            <a:r>
              <a:rPr 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Examples:</a:t>
            </a:r>
            <a:r>
              <a:rPr lang="en-US" baseline="0" dirty="0"/>
              <a:t> </a:t>
            </a:r>
            <a:r>
              <a:rPr lang="en-US" baseline="0" dirty="0">
                <a:solidFill>
                  <a:srgbClr val="272526"/>
                </a:solidFill>
                <a:latin typeface="+mj-lt"/>
              </a:rPr>
              <a:t>Digital Equipment’s VAX</a:t>
            </a:r>
            <a:endParaRPr lang="en-US" baseline="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24200" y="1924110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Register-memory:</a:t>
            </a:r>
          </a:p>
          <a:p>
            <a:r>
              <a:rPr lang="en-US" baseline="0" dirty="0"/>
              <a:t>Requires a mix, where at least one operand is in a register and one is in memory</a:t>
            </a:r>
          </a:p>
          <a:p>
            <a:endParaRPr lang="en-US" b="1" u="sng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u="sng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Examples:</a:t>
            </a:r>
            <a:r>
              <a:rPr lang="en-US" baseline="0" dirty="0"/>
              <a:t> </a:t>
            </a:r>
            <a:r>
              <a:rPr lang="en-US" baseline="0" dirty="0">
                <a:solidFill>
                  <a:srgbClr val="272526"/>
                </a:solidFill>
                <a:latin typeface="+mj-lt"/>
              </a:rPr>
              <a:t>Intel and Motorola </a:t>
            </a:r>
            <a:endParaRPr lang="en-US" b="1" u="sng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60141" y="1924110"/>
            <a:ext cx="30838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Load-store:</a:t>
            </a:r>
          </a:p>
          <a:p>
            <a:r>
              <a:rPr lang="en-US" baseline="0" dirty="0"/>
              <a:t>require data to be moved into registers before any operations on that data are performed</a:t>
            </a:r>
          </a:p>
          <a:p>
            <a:endParaRPr lang="en-US" b="1" u="sng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u="sng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Examples:</a:t>
            </a:r>
            <a:r>
              <a:rPr lang="en-US" baseline="0" dirty="0"/>
              <a:t> </a:t>
            </a:r>
            <a:r>
              <a:rPr lang="en-US" baseline="0" dirty="0">
                <a:solidFill>
                  <a:srgbClr val="272526"/>
                </a:solidFill>
                <a:latin typeface="+mj-lt"/>
              </a:rPr>
              <a:t>SPARC, MIPS, ALPHA, and the PowerPC</a:t>
            </a:r>
            <a:endParaRPr lang="en-US" baseline="0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866" y="4818358"/>
            <a:ext cx="1502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defRPr/>
            </a:pPr>
            <a:r>
              <a:rPr lang="en-US" b="1" u="sng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that: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707" y="5228170"/>
            <a:ext cx="1855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/>
              <a:t>As all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operands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/>
              <a:t>must be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1" y="5228170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Longer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/>
              <a:t>instructions</a:t>
            </a:r>
          </a:p>
        </p:txBody>
      </p:sp>
      <p:cxnSp>
        <p:nvCxnSpPr>
          <p:cNvPr id="21" name="Straight Arrow Connector 20"/>
          <p:cNvCxnSpPr>
            <a:stCxn id="11" idx="3"/>
            <a:endCxn id="23" idx="1"/>
          </p:cNvCxnSpPr>
          <p:nvPr/>
        </p:nvCxnSpPr>
        <p:spPr bwMode="auto">
          <a:xfrm>
            <a:off x="2819401" y="5582113"/>
            <a:ext cx="83820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/>
          <p:cNvSpPr txBox="1"/>
          <p:nvPr/>
        </p:nvSpPr>
        <p:spPr>
          <a:xfrm>
            <a:off x="5957047" y="5228170"/>
            <a:ext cx="19677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Longer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/>
              <a:t>fetch and decode times</a:t>
            </a:r>
          </a:p>
        </p:txBody>
      </p:sp>
      <p:cxnSp>
        <p:nvCxnSpPr>
          <p:cNvPr id="29" name="Straight Arrow Connector 28"/>
          <p:cNvCxnSpPr>
            <a:stCxn id="23" idx="3"/>
            <a:endCxn id="27" idx="1"/>
          </p:cNvCxnSpPr>
          <p:nvPr/>
        </p:nvCxnSpPr>
        <p:spPr bwMode="auto">
          <a:xfrm>
            <a:off x="5029201" y="5582113"/>
            <a:ext cx="927846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/>
      <p:bldP spid="16" grpId="0" animBg="1"/>
      <p:bldP spid="17" grpId="0"/>
      <p:bldP spid="18" grpId="0"/>
      <p:bldP spid="19" grpId="0"/>
      <p:bldP spid="10" grpId="0"/>
      <p:bldP spid="11" grpId="0"/>
      <p:bldP spid="23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5082EC-943C-4B12-8CE1-9D10192222D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4403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01632" y="3203710"/>
            <a:ext cx="9144000" cy="1520690"/>
          </a:xfrm>
        </p:spPr>
        <p:txBody>
          <a:bodyPr/>
          <a:lstStyle/>
          <a:p>
            <a:pPr marL="231775" indent="-231775">
              <a:defRPr/>
            </a:pPr>
            <a:r>
              <a:rPr lang="en-US" sz="2000" dirty="0">
                <a:solidFill>
                  <a:srgbClr val="272526"/>
                </a:solidFill>
              </a:rPr>
              <a:t>Therefore, instructions on current architectures can be formatted in two ways:</a:t>
            </a:r>
          </a:p>
          <a:p>
            <a:pPr lvl="1">
              <a:defRPr/>
            </a:pPr>
            <a:r>
              <a:rPr lang="en-US" sz="2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Fixed length:</a:t>
            </a:r>
            <a:r>
              <a:rPr lang="en-US" sz="2000" dirty="0">
                <a:solidFill>
                  <a:srgbClr val="272526"/>
                </a:solidFill>
              </a:rPr>
              <a:t> Wastes space but is fast and results in better performance when instruction-level pipelining is used.</a:t>
            </a:r>
          </a:p>
          <a:p>
            <a:pPr lvl="1">
              <a:defRPr/>
            </a:pPr>
            <a:r>
              <a:rPr lang="en-US" sz="2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length: </a:t>
            </a:r>
            <a:r>
              <a:rPr lang="en-US" sz="2000" dirty="0">
                <a:solidFill>
                  <a:srgbClr val="272526"/>
                </a:solidFill>
              </a:rPr>
              <a:t>More complex to decode but saves storage space.</a:t>
            </a:r>
            <a:endParaRPr lang="en-US" altLang="en-US" sz="2000" dirty="0"/>
          </a:p>
        </p:txBody>
      </p:sp>
      <p:pic>
        <p:nvPicPr>
          <p:cNvPr id="44038" name="Picture 2" descr="Instruction Set Architecture and Principles Chapter 2 Instructio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4" t="23460" r="2188" b="65336"/>
          <a:stretch/>
        </p:blipFill>
        <p:spPr bwMode="auto">
          <a:xfrm>
            <a:off x="3017520" y="5528189"/>
            <a:ext cx="594360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7728" y="600456"/>
            <a:ext cx="88838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indent="-231775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srgbClr val="272526"/>
                </a:solidFill>
              </a:rPr>
              <a:t>Given that most architectures today are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GPR-based</a:t>
            </a:r>
            <a:r>
              <a:rPr lang="en-US" baseline="0" dirty="0">
                <a:solidFill>
                  <a:srgbClr val="272526"/>
                </a:solidFill>
              </a:rPr>
              <a:t>, we now examine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major instruction set characteristics </a:t>
            </a:r>
            <a:r>
              <a:rPr lang="en-US" baseline="0" dirty="0">
                <a:solidFill>
                  <a:srgbClr val="272526"/>
                </a:solidFill>
              </a:rPr>
              <a:t>that divide general-purpose register architectures. Those two characteristics are the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operands </a:t>
            </a:r>
            <a:r>
              <a:rPr lang="en-US" baseline="0" dirty="0">
                <a:solidFill>
                  <a:srgbClr val="272526"/>
                </a:solidFill>
              </a:rPr>
              <a:t>and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the operands are addressed</a:t>
            </a:r>
            <a:r>
              <a:rPr lang="en-US" b="1" baseline="0" dirty="0"/>
              <a:t>.</a:t>
            </a:r>
            <a:endParaRPr lang="en-US" baseline="0" dirty="0"/>
          </a:p>
        </p:txBody>
      </p:sp>
      <p:sp>
        <p:nvSpPr>
          <p:cNvPr id="3" name="TextBox 2"/>
          <p:cNvSpPr txBox="1"/>
          <p:nvPr/>
        </p:nvSpPr>
        <p:spPr>
          <a:xfrm>
            <a:off x="122968" y="1880271"/>
            <a:ext cx="88686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 indent="-231775">
              <a:buFont typeface="Arial" panose="020B0604020202020204" pitchFamily="34" charset="0"/>
              <a:buChar char="•"/>
              <a:defRPr/>
            </a:pPr>
            <a:r>
              <a:rPr lang="en-US" baseline="0" dirty="0">
                <a:solidFill>
                  <a:srgbClr val="272526"/>
                </a:solidFill>
              </a:rPr>
              <a:t>The traditional method for describing a computer architecture is to specify the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maximum number of operands</a:t>
            </a:r>
            <a:r>
              <a:rPr lang="en-US" baseline="0" dirty="0">
                <a:solidFill>
                  <a:srgbClr val="272526"/>
                </a:solidFill>
              </a:rPr>
              <a:t>, or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</a:t>
            </a:r>
            <a:r>
              <a:rPr lang="en-US" baseline="0" dirty="0">
                <a:solidFill>
                  <a:srgbClr val="272526"/>
                </a:solidFill>
              </a:rPr>
              <a:t>, contained in each instruction. This has a direct impact on the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length of the instruction </a:t>
            </a:r>
            <a:r>
              <a:rPr lang="en-US" baseline="0" dirty="0">
                <a:solidFill>
                  <a:srgbClr val="272526"/>
                </a:solidFill>
              </a:rPr>
              <a:t>itself.</a:t>
            </a:r>
          </a:p>
          <a:p>
            <a:pPr marL="231775" indent="-231775">
              <a:buFont typeface="Arial" panose="020B0604020202020204" pitchFamily="34" charset="0"/>
              <a:buChar char="•"/>
              <a:defRPr/>
            </a:pP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MARIE</a:t>
            </a:r>
            <a:r>
              <a:rPr lang="en-US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>
                <a:solidFill>
                  <a:srgbClr val="272526"/>
                </a:solidFill>
              </a:rPr>
              <a:t>uses a fixed length instruction with a </a:t>
            </a:r>
            <a:r>
              <a:rPr lang="en-US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4-bit</a:t>
            </a:r>
            <a:r>
              <a:rPr lang="en-US" baseline="0" dirty="0">
                <a:solidFill>
                  <a:srgbClr val="272526"/>
                </a:solidFill>
              </a:rPr>
              <a:t>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opcode</a:t>
            </a:r>
            <a:r>
              <a:rPr lang="en-US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>
                <a:solidFill>
                  <a:srgbClr val="272526"/>
                </a:solidFill>
              </a:rPr>
              <a:t>and a </a:t>
            </a:r>
            <a:r>
              <a:rPr lang="en-US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12-bit</a:t>
            </a:r>
            <a:r>
              <a:rPr lang="en-US" baseline="0" dirty="0">
                <a:solidFill>
                  <a:srgbClr val="272526"/>
                </a:solidFill>
              </a:rPr>
              <a:t>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operand</a:t>
            </a:r>
            <a:r>
              <a:rPr lang="en-US" baseline="0" dirty="0">
                <a:solidFill>
                  <a:srgbClr val="272526"/>
                </a:solidFill>
              </a:rPr>
              <a:t>. </a:t>
            </a:r>
          </a:p>
        </p:txBody>
      </p:sp>
      <p:pic>
        <p:nvPicPr>
          <p:cNvPr id="8" name="Picture 2" descr="Instruction Set Architecture and Principles Chapter 2 Instructio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4" t="45627" r="7984" b="43168"/>
          <a:stretch/>
        </p:blipFill>
        <p:spPr bwMode="auto">
          <a:xfrm>
            <a:off x="228600" y="4800600"/>
            <a:ext cx="5577840" cy="50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730240" y="4887268"/>
            <a:ext cx="333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Fixed length (e.g. SPARC and PowerPC)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0080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length (e.g. VAX)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build="p"/>
      <p:bldP spid="2" grpId="0"/>
      <p:bldP spid="3" grpId="0"/>
      <p:bldP spid="4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095B2C-1762-44CF-84E8-492C6565426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4608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4300" y="734568"/>
            <a:ext cx="8915400" cy="121143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olidFill>
                  <a:srgbClr val="272526"/>
                </a:solidFill>
                <a:latin typeface="Times-Roman"/>
              </a:rPr>
              <a:t>Typically, the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real-life compromise </a:t>
            </a:r>
            <a:r>
              <a:rPr lang="en-US" altLang="en-US" sz="2400" dirty="0">
                <a:solidFill>
                  <a:srgbClr val="272526"/>
                </a:solidFill>
                <a:latin typeface="Times-Roman"/>
              </a:rPr>
              <a:t>involves using </a:t>
            </a:r>
            <a:r>
              <a:rPr lang="en-US" altLang="en-US" sz="24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two</a:t>
            </a:r>
            <a:r>
              <a:rPr lang="en-US" altLang="en-US" sz="240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 </a:t>
            </a:r>
            <a:r>
              <a:rPr lang="en-US" altLang="en-US" sz="2400" dirty="0">
                <a:solidFill>
                  <a:srgbClr val="272526"/>
                </a:solidFill>
                <a:latin typeface="Times-Roman"/>
              </a:rPr>
              <a:t>to </a:t>
            </a:r>
            <a:r>
              <a:rPr lang="en-US" altLang="en-US" sz="24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three</a:t>
            </a:r>
            <a:r>
              <a:rPr lang="en-US" altLang="en-US" sz="2400" dirty="0">
                <a:solidFill>
                  <a:srgbClr val="272526"/>
                </a:solidFill>
                <a:latin typeface="Times-Roman"/>
              </a:rPr>
              <a:t> instruction lengths, which provides bit patterns that are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easily distinguishable </a:t>
            </a:r>
            <a:r>
              <a:rPr lang="en-US" altLang="en-US" sz="2400" dirty="0">
                <a:solidFill>
                  <a:srgbClr val="272526"/>
                </a:solidFill>
                <a:latin typeface="Times-Roman"/>
              </a:rPr>
              <a:t>and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simple to decode</a:t>
            </a:r>
            <a:r>
              <a:rPr lang="en-US" altLang="en-US" sz="2400" dirty="0">
                <a:solidFill>
                  <a:srgbClr val="272526"/>
                </a:solidFill>
                <a:latin typeface="Times-Roman"/>
              </a:rPr>
              <a:t>.</a:t>
            </a:r>
          </a:p>
          <a:p>
            <a:endParaRPr lang="en-US" altLang="en-US" sz="2400" dirty="0">
              <a:solidFill>
                <a:srgbClr val="272526"/>
              </a:solidFill>
              <a:latin typeface="Times-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2277206"/>
            <a:ext cx="3962400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length must be </a:t>
            </a:r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compared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the word length</a:t>
            </a:r>
          </a:p>
        </p:txBody>
      </p:sp>
      <p:cxnSp>
        <p:nvCxnSpPr>
          <p:cNvPr id="6" name="Straight Connector 5"/>
          <p:cNvCxnSpPr>
            <a:stCxn id="3" idx="2"/>
          </p:cNvCxnSpPr>
          <p:nvPr/>
        </p:nvCxnSpPr>
        <p:spPr bwMode="auto">
          <a:xfrm>
            <a:off x="4724400" y="3108203"/>
            <a:ext cx="0" cy="331208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Connector 7"/>
          <p:cNvCxnSpPr/>
          <p:nvPr/>
        </p:nvCxnSpPr>
        <p:spPr bwMode="auto">
          <a:xfrm>
            <a:off x="1600200" y="3439411"/>
            <a:ext cx="62484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>
            <a:off x="1600200" y="3439411"/>
            <a:ext cx="0" cy="45720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4724400" y="3439411"/>
            <a:ext cx="0" cy="45720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7848600" y="3439411"/>
            <a:ext cx="0" cy="45720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42582" y="3919023"/>
            <a:ext cx="3234018" cy="21975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272526"/>
                </a:solidFill>
                <a:latin typeface="Times-Roman"/>
              </a:defRPr>
            </a:lvl1pPr>
          </a:lstStyle>
          <a:p>
            <a:r>
              <a:rPr lang="en-US" altLang="en-US" sz="20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Fixed instructions </a:t>
            </a:r>
            <a:r>
              <a:rPr lang="en-US" alt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length that is exactly </a:t>
            </a:r>
            <a:r>
              <a:rPr lang="en-US" altLang="en-US" sz="20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US" altLang="en-US" sz="20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word length, the instructions align perfectly when stored in main memory (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waste in space</a:t>
            </a:r>
            <a:r>
              <a:rPr lang="en-US" alt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29000" y="3919023"/>
            <a:ext cx="26670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Fixed instructions 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with length that are </a:t>
            </a:r>
            <a:r>
              <a:rPr lang="en-US" alt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half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quarter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double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or </a:t>
            </a:r>
            <a:r>
              <a:rPr lang="en-US" alt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triple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the actual word size can </a:t>
            </a:r>
            <a:r>
              <a:rPr lang="en-US" alt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waste of space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1" y="3919023"/>
            <a:ext cx="2667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Variable length instructions 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are clearly </a:t>
            </a:r>
            <a:r>
              <a:rPr lang="en-US" alt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not the same size 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and need to be word aligned, resulting in </a:t>
            </a:r>
            <a:r>
              <a:rPr lang="en-US" alt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waste of space</a:t>
            </a:r>
            <a:r>
              <a:rPr lang="en-US" alt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as well</a:t>
            </a:r>
            <a:endParaRPr lang="en-US" baseline="0" dirty="0">
              <a:solidFill>
                <a:srgbClr val="272526"/>
              </a:solidFill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  <p:bldP spid="3" grpId="0" animBg="1"/>
      <p:bldP spid="14" grpId="0"/>
      <p:bldP spid="19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3FCBD3-D308-431B-B8F1-F8D5603B5C7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4813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" y="4953000"/>
            <a:ext cx="9144000" cy="12954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233363" lvl="1" indent="-233363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architectures have a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maximum number of operands </a:t>
            </a: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allowed per instruction. </a:t>
            </a:r>
            <a:r>
              <a:rPr lang="en-US" altLang="en-US" sz="24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MARIE</a:t>
            </a: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maximum is </a:t>
            </a:r>
            <a:r>
              <a:rPr lang="en-US" alt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although some instructions had </a:t>
            </a:r>
            <a:r>
              <a:rPr lang="en-US" alt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operands (</a:t>
            </a:r>
            <a:r>
              <a:rPr lang="en-US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Halt</a:t>
            </a:r>
            <a:r>
              <a:rPr lang="en-US" altLang="en-US" sz="24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Skipcond</a:t>
            </a:r>
            <a:r>
              <a:rPr lang="en-US" altLang="en-US" sz="24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" y="609600"/>
            <a:ext cx="891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2400" baseline="0" dirty="0">
                <a:cs typeface="Times New Roman" panose="02020603050405020304" pitchFamily="18" charset="0"/>
              </a:rPr>
              <a:t>The 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most </a:t>
            </a: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common instruction formats 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include </a:t>
            </a:r>
            <a:r>
              <a:rPr lang="en-US" altLang="en-US" sz="24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zero</a:t>
            </a:r>
            <a:r>
              <a:rPr lang="en-US" altLang="en-US" sz="24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one</a:t>
            </a:r>
            <a:r>
              <a:rPr lang="en-US" altLang="en-US" sz="24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two</a:t>
            </a:r>
            <a:r>
              <a:rPr lang="en-US" altLang="en-US" sz="24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or</a:t>
            </a:r>
            <a:r>
              <a:rPr lang="en-US" altLang="en-US" sz="24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three</a:t>
            </a:r>
            <a:r>
              <a:rPr lang="en-US" altLang="en-US" sz="24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operands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.</a:t>
            </a:r>
            <a:endParaRPr lang="en-US" altLang="en-US" sz="2400" baseline="0" dirty="0">
              <a:cs typeface="Times New Roman" panose="02020603050405020304" pitchFamily="18" charset="0"/>
            </a:endParaRP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Arithmetic</a:t>
            </a:r>
            <a:r>
              <a:rPr lang="en-US" altLang="en-US" sz="24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and </a:t>
            </a: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logic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operations typically have </a:t>
            </a:r>
            <a:r>
              <a:rPr lang="en-US" altLang="en-US" sz="24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two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operands, but can be executed with </a:t>
            </a:r>
            <a:r>
              <a:rPr lang="en-US" altLang="en-US" sz="24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one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operand</a:t>
            </a:r>
            <a:r>
              <a:rPr lang="en-US" altLang="en-US" sz="24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as we saw in </a:t>
            </a:r>
            <a:r>
              <a:rPr lang="en-US" altLang="en-US" sz="2400" i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MARIE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), if the accumulator is implicit.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The following are some </a:t>
            </a:r>
            <a:r>
              <a:rPr lang="en-US" altLang="en-US" sz="24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common</a:t>
            </a:r>
            <a:r>
              <a:rPr lang="en-US" altLang="en-US" sz="24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4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instruction formats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2819400"/>
            <a:ext cx="8534400" cy="2120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en-US" alt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OPCODE</a:t>
            </a:r>
            <a:r>
              <a:rPr lang="en-US" altLang="en-US" sz="18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only (</a:t>
            </a:r>
            <a:r>
              <a:rPr lang="en-US" altLang="en-US" sz="18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zero addresses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)</a:t>
            </a:r>
          </a:p>
          <a:p>
            <a:pPr marL="0" lvl="1" algn="just">
              <a:lnSpc>
                <a:spcPct val="150000"/>
              </a:lnSpc>
            </a:pPr>
            <a:r>
              <a:rPr lang="en-US" alt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OPCODE</a:t>
            </a:r>
            <a:r>
              <a:rPr lang="en-US" altLang="en-US" sz="1800" baseline="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+ </a:t>
            </a:r>
            <a:r>
              <a:rPr lang="en-US" altLang="en-US" sz="18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1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Address</a:t>
            </a:r>
            <a:r>
              <a:rPr lang="en-US" altLang="en-US" sz="18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usually a memory address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)</a:t>
            </a:r>
          </a:p>
          <a:p>
            <a:pPr marL="0" lvl="1" algn="just">
              <a:lnSpc>
                <a:spcPct val="150000"/>
              </a:lnSpc>
            </a:pPr>
            <a:r>
              <a:rPr lang="en-US" alt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OPCODE</a:t>
            </a:r>
            <a:r>
              <a:rPr lang="en-US" altLang="en-US" sz="18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+ </a:t>
            </a:r>
            <a:r>
              <a:rPr lang="en-US" altLang="en-US" sz="18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2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Addresses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18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usually registers, or one register and one memory address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)</a:t>
            </a:r>
          </a:p>
          <a:p>
            <a:pPr marL="2574925" lvl="1" indent="-2574925" algn="just">
              <a:lnSpc>
                <a:spcPct val="150000"/>
              </a:lnSpc>
            </a:pPr>
            <a:r>
              <a:rPr lang="en-US" alt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OPCODE</a:t>
            </a:r>
            <a:r>
              <a:rPr lang="en-US" altLang="en-US" sz="18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+ </a:t>
            </a:r>
            <a:r>
              <a:rPr lang="en-US" altLang="en-US" sz="18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3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Addresses</a:t>
            </a:r>
            <a:r>
              <a:rPr lang="en-US" altLang="en-US" sz="18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usually registers, or combinations of registers and memory addresses</a:t>
            </a:r>
            <a:r>
              <a:rPr lang="en-US" altLang="en-US" sz="18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build="p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3E3F15-41F8-4739-B690-37F53FEDEDF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9144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aseline="0" dirty="0">
                <a:cs typeface="Times New Roman" panose="02020603050405020304" pitchFamily="18" charset="0"/>
              </a:rPr>
              <a:t>One of the </a:t>
            </a:r>
            <a:r>
              <a:rPr lang="en-US" sz="23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important data structures </a:t>
            </a:r>
            <a:r>
              <a:rPr lang="en-US" sz="2300" baseline="0" dirty="0">
                <a:cs typeface="Times New Roman" panose="02020603050405020304" pitchFamily="18" charset="0"/>
              </a:rPr>
              <a:t>in machine architecture is the </a:t>
            </a:r>
            <a:r>
              <a:rPr lang="en-US" sz="23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Stack</a:t>
            </a:r>
            <a:r>
              <a:rPr lang="en-US" sz="2300" baseline="0" dirty="0">
                <a:cs typeface="Times New Roman" panose="02020603050405020304" pitchFamily="18" charset="0"/>
              </a:rPr>
              <a:t>. As it can be used in executing the machine instructions (</a:t>
            </a:r>
            <a:r>
              <a:rPr lang="en-US" sz="23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as previously mentioned</a:t>
            </a:r>
            <a:r>
              <a:rPr lang="en-US" sz="2300" baseline="0" dirty="0"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24000"/>
            <a:ext cx="914400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3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Stack</a:t>
            </a:r>
            <a:r>
              <a:rPr lang="en-US" sz="23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not only provides an </a:t>
            </a:r>
            <a:r>
              <a:rPr lang="en-US" sz="23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efficient</a:t>
            </a:r>
            <a:r>
              <a:rPr lang="en-US" sz="2300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mean of </a:t>
            </a:r>
            <a:r>
              <a:rPr lang="en-US" sz="23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storing intermediate data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values during complex calculations, but it also provides an </a:t>
            </a:r>
            <a:r>
              <a:rPr lang="en-US" sz="23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efficient</a:t>
            </a:r>
            <a:r>
              <a:rPr lang="en-US" sz="2300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method for </a:t>
            </a:r>
            <a:r>
              <a:rPr lang="en-US" sz="23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passing parameters 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during procedure calls as well as a mean to </a:t>
            </a:r>
            <a:r>
              <a:rPr lang="en-US" sz="23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save local block structure 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and </a:t>
            </a:r>
            <a:r>
              <a:rPr lang="en-US" sz="23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define the scope 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of variables and subroutines. (</a:t>
            </a:r>
            <a:r>
              <a:rPr lang="en-US" sz="2300" baseline="0" dirty="0" err="1">
                <a:solidFill>
                  <a:srgbClr val="272526"/>
                </a:solidFill>
                <a:cs typeface="Times New Roman" panose="02020603050405020304" pitchFamily="18" charset="0"/>
              </a:rPr>
              <a:t>e.g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sz="2300" b="1" baseline="0" dirty="0" err="1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JnS</a:t>
            </a:r>
            <a:r>
              <a:rPr lang="en-US" sz="23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in </a:t>
            </a:r>
            <a:r>
              <a:rPr lang="en-US" sz="23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MARIE</a:t>
            </a:r>
            <a:r>
              <a:rPr 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)</a:t>
            </a:r>
            <a:endParaRPr lang="en-US" altLang="en-US" sz="2300" dirty="0"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352800"/>
            <a:ext cx="9144000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In</a:t>
            </a:r>
            <a:r>
              <a:rPr lang="en-US" altLang="en-US" sz="23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3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architectures based on stacks</a:t>
            </a:r>
            <a:r>
              <a:rPr lang="en-US" alt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most instructions consist of </a:t>
            </a:r>
            <a:r>
              <a:rPr lang="en-US" altLang="en-US" sz="23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opcodes only</a:t>
            </a:r>
            <a:r>
              <a:rPr lang="en-US" altLang="en-US" sz="2300" baseline="0" dirty="0">
                <a:cs typeface="Times New Roman" panose="02020603050405020304" pitchFamily="18" charset="0"/>
              </a:rPr>
              <a:t>. However, </a:t>
            </a:r>
            <a:r>
              <a:rPr lang="en-US" altLang="en-US" sz="23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TWO</a:t>
            </a:r>
            <a:r>
              <a:rPr lang="en-US" altLang="en-US" sz="23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300" baseline="0" dirty="0">
                <a:cs typeface="Times New Roman" panose="02020603050405020304" pitchFamily="18" charset="0"/>
              </a:rPr>
              <a:t>important </a:t>
            </a:r>
            <a:r>
              <a:rPr lang="en-US" altLang="en-US" sz="23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one-operand</a:t>
            </a:r>
            <a:r>
              <a:rPr lang="en-US" altLang="en-US" sz="2300" baseline="0" dirty="0">
                <a:cs typeface="Times New Roman" panose="02020603050405020304" pitchFamily="18" charset="0"/>
              </a:rPr>
              <a:t> instructions are required to deal with the stack which are: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4419600"/>
            <a:ext cx="8458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Push X</a:t>
            </a:r>
            <a:r>
              <a:rPr lang="en-US" altLang="en-US" sz="22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places</a:t>
            </a:r>
            <a:r>
              <a:rPr lang="en-US" altLang="en-US" sz="22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the data value found at memory location </a:t>
            </a:r>
            <a:r>
              <a:rPr lang="en-US" altLang="en-US" sz="22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X</a:t>
            </a:r>
            <a:r>
              <a:rPr lang="en-US" altLang="en-US" sz="2200" i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onto the stack. </a:t>
            </a:r>
            <a:r>
              <a:rPr lang="en-US" alt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Pop X</a:t>
            </a:r>
            <a:r>
              <a:rPr lang="en-US" altLang="en-US" sz="22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removes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the top element in the stack and stores it at location </a:t>
            </a:r>
            <a:r>
              <a:rPr lang="en-US" altLang="en-US" sz="22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X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.</a:t>
            </a:r>
            <a:endParaRPr lang="en-US" sz="2200" baseline="0" dirty="0"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2192" y="5181600"/>
            <a:ext cx="9144000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Only certain instructions are allowed to </a:t>
            </a:r>
            <a:r>
              <a:rPr lang="en-US" altLang="en-US" sz="23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access memory </a:t>
            </a:r>
            <a:r>
              <a:rPr lang="en-US" altLang="en-US" sz="2300" baseline="0" dirty="0">
                <a:cs typeface="Times New Roman" panose="02020603050405020304" pitchFamily="18" charset="0"/>
              </a:rPr>
              <a:t>(such as </a:t>
            </a:r>
            <a:r>
              <a:rPr lang="en-US" altLang="en-US" sz="23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load</a:t>
            </a:r>
            <a:r>
              <a:rPr lang="en-US" altLang="en-US" sz="2300" baseline="0" dirty="0">
                <a:cs typeface="Times New Roman" panose="02020603050405020304" pitchFamily="18" charset="0"/>
              </a:rPr>
              <a:t>/</a:t>
            </a:r>
            <a:r>
              <a:rPr lang="en-US" altLang="en-US" sz="23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store</a:t>
            </a:r>
            <a:r>
              <a:rPr lang="en-US" altLang="en-US" sz="2300" baseline="0" dirty="0">
                <a:cs typeface="Times New Roman" panose="02020603050405020304" pitchFamily="18" charset="0"/>
              </a:rPr>
              <a:t>); </a:t>
            </a:r>
            <a:r>
              <a:rPr lang="en-US" alt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all others </a:t>
            </a:r>
            <a:r>
              <a:rPr lang="en-US" altLang="en-US" sz="23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must use the stack </a:t>
            </a:r>
            <a:r>
              <a:rPr lang="en-US" altLang="en-US" sz="23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for any operands required during execution.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0F8FE7-9957-4227-AA7E-3791AA23487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609600"/>
            <a:ext cx="8915400" cy="1453991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231775" indent="-231775" algn="just"/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operations requiring 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two operands</a:t>
            </a:r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 two elements </a:t>
            </a:r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used. </a:t>
            </a:r>
            <a:r>
              <a:rPr lang="en-US" altLang="en-US" sz="22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if we execute an </a:t>
            </a: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altLang="en-US" sz="22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instruction, the </a:t>
            </a:r>
            <a:r>
              <a:rPr lang="en-US" altLang="en-US" sz="2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the top two elements of the stack, </a:t>
            </a:r>
            <a:r>
              <a:rPr lang="en-US" altLang="en-US" sz="22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popping them both </a:t>
            </a:r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lang="en-US" altLang="en-US" sz="2200" b="1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pushing the sum </a:t>
            </a:r>
            <a:r>
              <a:rPr lang="en-US" altLang="en-US" sz="220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onto the top of the stack.</a:t>
            </a:r>
          </a:p>
        </p:txBody>
      </p:sp>
      <p:sp>
        <p:nvSpPr>
          <p:cNvPr id="2" name="Rectangle 1"/>
          <p:cNvSpPr/>
          <p:nvPr/>
        </p:nvSpPr>
        <p:spPr>
          <a:xfrm>
            <a:off x="266700" y="4200942"/>
            <a:ext cx="8763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The stack organization is </a:t>
            </a:r>
            <a:r>
              <a:rPr lang="en-US" alt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very effective 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for evaluating </a:t>
            </a:r>
            <a:r>
              <a:rPr lang="en-US" alt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long arithmetic expressions</a:t>
            </a:r>
            <a:r>
              <a:rPr lang="en-US" altLang="en-US" sz="2200" baseline="0" dirty="0">
                <a:cs typeface="Times New Roman" panose="02020603050405020304" pitchFamily="18" charset="0"/>
              </a:rPr>
              <a:t>.</a:t>
            </a:r>
            <a:r>
              <a:rPr lang="en-US" altLang="en-US" sz="2200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This representation places the </a:t>
            </a:r>
            <a:r>
              <a:rPr lang="en-US" alt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operator</a:t>
            </a:r>
            <a:r>
              <a:rPr lang="en-US" altLang="en-US" sz="2200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after the </a:t>
            </a:r>
            <a:r>
              <a:rPr lang="en-US" alt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operands</a:t>
            </a:r>
            <a:r>
              <a:rPr lang="en-US" altLang="en-US" sz="2200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in what is known as </a:t>
            </a:r>
            <a:r>
              <a:rPr lang="en-US" altLang="en-US" sz="22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postfix notation 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(as compared to </a:t>
            </a:r>
            <a:r>
              <a:rPr lang="en-US" altLang="en-US" sz="22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infix notation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which places the operator between operands, and </a:t>
            </a:r>
            <a:r>
              <a:rPr lang="en-US" altLang="en-US" sz="22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prefix notation</a:t>
            </a:r>
            <a:r>
              <a:rPr lang="en-US" altLang="en-US" sz="22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which places the operator before the operands).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435253" y="2576512"/>
            <a:ext cx="1143000" cy="1614488"/>
            <a:chOff x="990600" y="2819400"/>
            <a:chExt cx="1143000" cy="1143000"/>
          </a:xfrm>
        </p:grpSpPr>
        <p:cxnSp>
          <p:nvCxnSpPr>
            <p:cNvPr id="4" name="Straight Connector 3"/>
            <p:cNvCxnSpPr/>
            <p:nvPr/>
          </p:nvCxnSpPr>
          <p:spPr bwMode="auto">
            <a:xfrm>
              <a:off x="990600" y="2819400"/>
              <a:ext cx="0" cy="114300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Straight Connector 5"/>
            <p:cNvCxnSpPr/>
            <p:nvPr/>
          </p:nvCxnSpPr>
          <p:spPr bwMode="auto">
            <a:xfrm>
              <a:off x="990600" y="3962400"/>
              <a:ext cx="11430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2106168" y="2819400"/>
              <a:ext cx="0" cy="114300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Group 11"/>
          <p:cNvGrpSpPr/>
          <p:nvPr/>
        </p:nvGrpSpPr>
        <p:grpSpPr>
          <a:xfrm>
            <a:off x="2448700" y="3214370"/>
            <a:ext cx="1094232" cy="457200"/>
            <a:chOff x="993649" y="3297294"/>
            <a:chExt cx="1094232" cy="457200"/>
          </a:xfrm>
        </p:grpSpPr>
        <p:sp>
          <p:nvSpPr>
            <p:cNvPr id="14" name="Rectangle 13"/>
            <p:cNvSpPr/>
            <p:nvPr/>
          </p:nvSpPr>
          <p:spPr bwMode="auto">
            <a:xfrm>
              <a:off x="993649" y="3297294"/>
              <a:ext cx="1094232" cy="457200"/>
            </a:xfrm>
            <a:prstGeom prst="rect">
              <a:avLst/>
            </a:prstGeom>
            <a:noFill/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35965" y="3313647"/>
              <a:ext cx="60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444397" y="3693855"/>
            <a:ext cx="1094232" cy="457200"/>
            <a:chOff x="999744" y="3770055"/>
            <a:chExt cx="1094232" cy="457200"/>
          </a:xfrm>
        </p:grpSpPr>
        <p:sp>
          <p:nvSpPr>
            <p:cNvPr id="9" name="Rectangle 8"/>
            <p:cNvSpPr/>
            <p:nvPr/>
          </p:nvSpPr>
          <p:spPr bwMode="auto">
            <a:xfrm>
              <a:off x="999744" y="3770055"/>
              <a:ext cx="1094232" cy="457200"/>
            </a:xfrm>
            <a:prstGeom prst="rect">
              <a:avLst/>
            </a:prstGeom>
            <a:noFill/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43584" y="3794439"/>
              <a:ext cx="60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321453" y="3420558"/>
            <a:ext cx="1146147" cy="573074"/>
            <a:chOff x="4876800" y="3496758"/>
            <a:chExt cx="1146147" cy="57307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6800" y="3496758"/>
              <a:ext cx="1146147" cy="57307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5183173" y="3547714"/>
              <a:ext cx="533400" cy="4001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36627" y="3263293"/>
            <a:ext cx="932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2 +</a:t>
            </a:r>
          </a:p>
        </p:txBody>
      </p:sp>
      <p:sp>
        <p:nvSpPr>
          <p:cNvPr id="3" name="Equal 2"/>
          <p:cNvSpPr/>
          <p:nvPr/>
        </p:nvSpPr>
        <p:spPr bwMode="auto">
          <a:xfrm>
            <a:off x="5791200" y="3503355"/>
            <a:ext cx="530252" cy="381000"/>
          </a:xfrm>
          <a:prstGeom prst="mathEqual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Plus 4"/>
          <p:cNvSpPr/>
          <p:nvPr/>
        </p:nvSpPr>
        <p:spPr bwMode="auto">
          <a:xfrm>
            <a:off x="5256226" y="3483174"/>
            <a:ext cx="457200" cy="475198"/>
          </a:xfrm>
          <a:prstGeom prst="mathPlus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C 0.00018 -0.05625 0.00053 -0.1125 0.00087 -0.16852 L 0.17066 -0.16852 L 0.16858 0.09283 " pathEditMode="relative" rAng="0" ptsTypes="AAAA">
                                      <p:cBhvr>
                                        <p:cTn id="3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24" y="-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0.00191 -0.23796 L 0.17153 -0.23426 L 0.16858 -0.06805 L 0.16858 -0.06782 " pathEditMode="relative" rAng="0" ptsTypes="AAAAA">
                                      <p:cBhvr>
                                        <p:cTn id="3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76" y="-1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7.40741E-7 L -3.05556E-6 -0.21181 L -0.42639 -0.21296 L -0.42639 0.02893 L -0.42639 0.02917 " pathEditMode="relative" rAng="0" ptsTypes="AAAAA">
                                      <p:cBhvr>
                                        <p:cTn id="5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19" y="-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build="p"/>
      <p:bldP spid="2" grpId="0"/>
      <p:bldP spid="23" grpId="0"/>
      <p:bldP spid="3" grpId="0" animBg="1"/>
      <p:bldP spid="3" grpId="1" animBg="1"/>
      <p:bldP spid="5" grpId="0" animBg="1"/>
      <p:bldP spid="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CD5FB1-4761-4632-9AFF-5653BE5F369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" y="578644"/>
            <a:ext cx="8763000" cy="28194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233363" indent="-233363">
              <a:spcBef>
                <a:spcPts val="0"/>
              </a:spcBef>
            </a:pP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Stack architectures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us to think about arithmetic expressions a little differently.</a:t>
            </a:r>
          </a:p>
          <a:p>
            <a:pPr marL="233363" indent="-233363">
              <a:spcBef>
                <a:spcPts val="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accustomed to writing expressions using </a:t>
            </a:r>
            <a:r>
              <a:rPr lang="en-US" alt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US" alt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notation, such as: 			</a:t>
            </a: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 = X + Y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363" indent="-233363">
              <a:spcBef>
                <a:spcPts val="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arithmetic requires that we use </a:t>
            </a:r>
            <a:r>
              <a:rPr lang="en-US" alt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US" alt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 = XY+</a:t>
            </a:r>
          </a:p>
          <a:p>
            <a:pPr marL="233363" lvl="1" indent="0">
              <a:spcBef>
                <a:spcPts val="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also called </a:t>
            </a:r>
            <a:r>
              <a:rPr lang="en-US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Reverse Polish Notation (RPN)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honor of its Polish inventor, Jan Lukasiewicz (1878 - 1956).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52400" y="3366668"/>
            <a:ext cx="8686800" cy="909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indent="-233363">
              <a:spcBef>
                <a:spcPts val="0"/>
              </a:spcBef>
            </a:pPr>
            <a:r>
              <a:rPr lang="en-US" altLang="en-US" sz="2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principal advantage </a:t>
            </a:r>
            <a:r>
              <a:rPr lang="en-US" altLang="en-US" sz="2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US" altLang="en-US" sz="2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notation is that </a:t>
            </a:r>
            <a:r>
              <a:rPr lang="en-US" alt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parentheses are not used</a:t>
            </a:r>
            <a:r>
              <a:rPr lang="en-US" altLang="en-US" sz="2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4141113"/>
            <a:ext cx="17874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2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For example:</a:t>
            </a:r>
            <a:endParaRPr lang="en-US" sz="2200" u="sng" dirty="0"/>
          </a:p>
        </p:txBody>
      </p:sp>
      <p:sp>
        <p:nvSpPr>
          <p:cNvPr id="4" name="Rectangle 3"/>
          <p:cNvSpPr/>
          <p:nvPr/>
        </p:nvSpPr>
        <p:spPr>
          <a:xfrm>
            <a:off x="533400" y="4800600"/>
            <a:ext cx="31380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baseline="0" dirty="0">
                <a:cs typeface="Times New Roman" panose="02020603050405020304" pitchFamily="18" charset="0"/>
              </a:rPr>
              <a:t>Z = (X </a:t>
            </a:r>
            <a:r>
              <a:rPr lang="en-US" altLang="en-US" sz="2400" b="1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sz="2400" b="1" baseline="0" dirty="0">
                <a:cs typeface="Times New Roman" panose="02020603050405020304" pitchFamily="18" charset="0"/>
              </a:rPr>
              <a:t> Y) </a:t>
            </a:r>
            <a:r>
              <a:rPr lang="en-US" altLang="en-US" sz="2400" b="1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400" b="1" baseline="0" dirty="0">
                <a:cs typeface="Times New Roman" panose="02020603050405020304" pitchFamily="18" charset="0"/>
              </a:rPr>
              <a:t> (W </a:t>
            </a:r>
            <a:r>
              <a:rPr lang="en-US" altLang="en-US" sz="2400" b="1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sz="2400" b="1" baseline="0" dirty="0">
                <a:cs typeface="Times New Roman" panose="02020603050405020304" pitchFamily="18" charset="0"/>
              </a:rPr>
              <a:t> U)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883976" y="5232961"/>
            <a:ext cx="23599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aseline="0" dirty="0">
                <a:cs typeface="Times New Roman" panose="02020603050405020304" pitchFamily="18" charset="0"/>
              </a:rPr>
              <a:t>Using </a:t>
            </a:r>
            <a:r>
              <a:rPr lang="en-US" alt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infix</a:t>
            </a:r>
            <a:r>
              <a:rPr lang="en-US" alt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baseline="0" dirty="0">
                <a:cs typeface="Times New Roman" panose="02020603050405020304" pitchFamily="18" charset="0"/>
              </a:rPr>
              <a:t>notations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 bwMode="auto">
          <a:xfrm>
            <a:off x="3886200" y="4798676"/>
            <a:ext cx="1447800" cy="45912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16604" y="4546014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8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Becomes</a:t>
            </a:r>
            <a:endParaRPr lang="en-US" sz="1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25706" y="4796135"/>
            <a:ext cx="27562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 baseline="0" dirty="0">
                <a:cs typeface="Times New Roman" panose="02020603050405020304" pitchFamily="18" charset="0"/>
              </a:rPr>
              <a:t>Z = X Y </a:t>
            </a:r>
            <a:r>
              <a:rPr lang="en-US" altLang="en-US" sz="2400" b="1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sz="2400" b="1" baseline="0" dirty="0">
                <a:cs typeface="Times New Roman" panose="02020603050405020304" pitchFamily="18" charset="0"/>
              </a:rPr>
              <a:t> W U </a:t>
            </a:r>
            <a:r>
              <a:rPr lang="en-US" altLang="en-US" sz="2400" b="1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sz="2400" b="1" baseline="0" dirty="0">
                <a:cs typeface="Times New Roman" panose="02020603050405020304" pitchFamily="18" charset="0"/>
              </a:rPr>
              <a:t> </a:t>
            </a:r>
            <a:r>
              <a:rPr lang="en-US" altLang="en-US" sz="2400" b="1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6411" y="5232961"/>
            <a:ext cx="26019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aseline="0" dirty="0">
                <a:cs typeface="Times New Roman" panose="02020603050405020304" pitchFamily="18" charset="0"/>
              </a:rPr>
              <a:t>Using </a:t>
            </a:r>
            <a:r>
              <a:rPr lang="en-US" alt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postfix </a:t>
            </a:r>
            <a:r>
              <a:rPr lang="en-US" altLang="en-US" baseline="0" dirty="0">
                <a:cs typeface="Times New Roman" panose="02020603050405020304" pitchFamily="18" charset="0"/>
              </a:rPr>
              <a:t>notations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/>
      <p:bldP spid="5" grpId="0"/>
      <p:bldP spid="3" grpId="0"/>
      <p:bldP spid="4" grpId="0"/>
      <p:bldP spid="6" grpId="0"/>
      <p:bldP spid="7" grpId="0" animBg="1"/>
      <p:bldP spid="11" grpId="0"/>
      <p:bldP spid="8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8CD6E6-77D8-4245-9750-8AF4AC02C9C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85800"/>
            <a:ext cx="8001000" cy="584201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(2+3) - 6/3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737287" name="Group 7"/>
          <p:cNvGrpSpPr>
            <a:grpSpLocks/>
          </p:cNvGrpSpPr>
          <p:nvPr/>
        </p:nvGrpSpPr>
        <p:grpSpPr bwMode="auto">
          <a:xfrm>
            <a:off x="319088" y="1435103"/>
            <a:ext cx="8672513" cy="923926"/>
            <a:chOff x="621" y="1724"/>
            <a:chExt cx="5463" cy="582"/>
          </a:xfrm>
        </p:grpSpPr>
        <p:sp>
          <p:nvSpPr>
            <p:cNvPr id="60424" name="Text Box 4"/>
            <p:cNvSpPr txBox="1">
              <a:spLocks noChangeArrowheads="1"/>
            </p:cNvSpPr>
            <p:nvPr/>
          </p:nvSpPr>
          <p:spPr bwMode="auto">
            <a:xfrm>
              <a:off x="1524" y="1724"/>
              <a:ext cx="4560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tIns="13716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15000"/>
                </a:spcBef>
                <a:buFontTx/>
                <a:buNone/>
              </a:pPr>
              <a:r>
                <a:rPr lang="en-US" altLang="en-US" sz="2400" baseline="0" dirty="0">
                  <a:cs typeface="Times New Roman" panose="02020603050405020304" pitchFamily="18" charset="0"/>
                </a:rPr>
                <a:t>The </a:t>
              </a:r>
              <a:r>
                <a:rPr lang="en-US" altLang="en-US" sz="2400" b="1" baseline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sum 2 + 3 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in parentheses takes precedence; we replace the term with </a:t>
              </a:r>
              <a:r>
                <a:rPr lang="en-US" altLang="en-US" sz="2400" b="1" baseline="0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2 3 +.</a:t>
              </a:r>
            </a:p>
          </p:txBody>
        </p:sp>
        <p:sp>
          <p:nvSpPr>
            <p:cNvPr id="60425" name="Text Box 5"/>
            <p:cNvSpPr txBox="1">
              <a:spLocks noChangeArrowheads="1"/>
            </p:cNvSpPr>
            <p:nvPr/>
          </p:nvSpPr>
          <p:spPr bwMode="auto">
            <a:xfrm>
              <a:off x="621" y="1869"/>
              <a:ext cx="9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15000"/>
                </a:spcBef>
                <a:buFontTx/>
                <a:buNone/>
              </a:pPr>
              <a:r>
                <a:rPr lang="en-US" altLang="en-US" sz="24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2 3+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 - 6/3 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6156" y="2575061"/>
            <a:ext cx="8523043" cy="923330"/>
            <a:chOff x="932953" y="2650384"/>
            <a:chExt cx="8523043" cy="923330"/>
          </a:xfrm>
        </p:grpSpPr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2369397" y="2650384"/>
              <a:ext cx="7086599" cy="9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tIns="13716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15000"/>
                </a:spcBef>
                <a:buFontTx/>
                <a:buNone/>
              </a:pPr>
              <a:r>
                <a:rPr lang="en-US" altLang="en-US" sz="2400" baseline="0" dirty="0">
                  <a:cs typeface="Times New Roman" panose="02020603050405020304" pitchFamily="18" charset="0"/>
                </a:rPr>
                <a:t>The </a:t>
              </a:r>
              <a:r>
                <a:rPr lang="en-US" altLang="en-US" sz="2400" b="1" baseline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division operator 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takes next precedence; we replace </a:t>
              </a:r>
              <a:r>
                <a:rPr lang="en-US" altLang="en-US" sz="2400" b="1" baseline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6/3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 with </a:t>
              </a:r>
              <a:r>
                <a:rPr lang="en-US" altLang="en-US" sz="2400" b="1" baseline="0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6 3 /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932953" y="2760811"/>
              <a:ext cx="154721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15000"/>
                </a:spcBef>
                <a:buFontTx/>
                <a:buNone/>
              </a:pPr>
              <a:r>
                <a:rPr lang="en-US" altLang="en-US" sz="24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2 3+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 - </a:t>
              </a:r>
              <a:r>
                <a:rPr lang="en-US" altLang="en-US" sz="24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6 3/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16156" y="3724870"/>
            <a:ext cx="8523042" cy="923330"/>
            <a:chOff x="932953" y="2601010"/>
            <a:chExt cx="8523042" cy="923330"/>
          </a:xfrm>
        </p:grpSpPr>
        <p:sp>
          <p:nvSpPr>
            <p:cNvPr id="14" name="Text Box 5"/>
            <p:cNvSpPr txBox="1">
              <a:spLocks noChangeArrowheads="1"/>
            </p:cNvSpPr>
            <p:nvPr/>
          </p:nvSpPr>
          <p:spPr bwMode="auto">
            <a:xfrm>
              <a:off x="2384898" y="2601010"/>
              <a:ext cx="7071097" cy="9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tIns="13716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15000"/>
                </a:spcBef>
                <a:buFontTx/>
                <a:buNone/>
              </a:pPr>
              <a:r>
                <a:rPr lang="en-US" altLang="en-US" sz="2400" baseline="0" dirty="0">
                  <a:cs typeface="Times New Roman" panose="02020603050405020304" pitchFamily="18" charset="0"/>
                </a:rPr>
                <a:t>The </a:t>
              </a:r>
              <a:r>
                <a:rPr lang="en-US" altLang="en-US" sz="24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quotient 6/3 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is </a:t>
              </a:r>
              <a:r>
                <a:rPr lang="en-US" altLang="en-US" sz="2400" b="1" baseline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subtracted</a:t>
              </a:r>
              <a:r>
                <a:rPr lang="en-US" altLang="en-US" sz="2400" baseline="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from the </a:t>
              </a:r>
              <a:r>
                <a:rPr lang="en-US" altLang="en-US" sz="24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sum of 2 + 3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, so we move the </a:t>
              </a:r>
              <a:r>
                <a:rPr lang="en-US" altLang="en-US" sz="2400" b="1" baseline="0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- operator to the end</a:t>
              </a:r>
              <a:r>
                <a:rPr lang="en-US" altLang="en-US" sz="2400" baseline="0" dirty="0"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932953" y="2760811"/>
              <a:ext cx="154721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15000"/>
                </a:spcBef>
                <a:buFontTx/>
                <a:buNone/>
              </a:pPr>
              <a:r>
                <a:rPr lang="en-US" altLang="en-US" sz="24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anose="02020603050405020304" pitchFamily="18" charset="0"/>
                </a:rPr>
                <a:t>2 3+ 6 3/ - 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3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E4E8-46AF-4284-8039-AE5F256813FB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600200" y="0"/>
            <a:ext cx="5943600" cy="54768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400" b="1" baseline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43434" y="555625"/>
            <a:ext cx="8771965" cy="5794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40000"/>
              </a:spcBef>
              <a:buFontTx/>
              <a:buNone/>
            </a:pPr>
            <a:r>
              <a:rPr lang="en-US" altLang="en-US" sz="24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altLang="en-US" sz="2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 </a:t>
            </a:r>
            <a:r>
              <a:rPr lang="en-US" altLang="en-US" sz="24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en-US" sz="24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</a:t>
            </a:r>
            <a:r>
              <a:rPr lang="en-US" alt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US" altLang="en-US" sz="24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</a:t>
            </a: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 3 + 6 3 / - 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43533" y="2884487"/>
            <a:ext cx="1161467" cy="1918255"/>
            <a:chOff x="743533" y="2884487"/>
            <a:chExt cx="1161467" cy="1918255"/>
          </a:xfrm>
        </p:grpSpPr>
        <p:grpSp>
          <p:nvGrpSpPr>
            <p:cNvPr id="14" name="Group 13"/>
            <p:cNvGrpSpPr/>
            <p:nvPr/>
          </p:nvGrpSpPr>
          <p:grpSpPr>
            <a:xfrm>
              <a:off x="743533" y="2884487"/>
              <a:ext cx="1161467" cy="1614488"/>
              <a:chOff x="743533" y="2884487"/>
              <a:chExt cx="1161467" cy="1614488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762000" y="2884487"/>
                <a:ext cx="1143000" cy="1614488"/>
                <a:chOff x="990600" y="2819400"/>
                <a:chExt cx="1143000" cy="1143000"/>
              </a:xfrm>
            </p:grpSpPr>
            <p:cxnSp>
              <p:nvCxnSpPr>
                <p:cNvPr id="6" name="Straight Connector 5"/>
                <p:cNvCxnSpPr/>
                <p:nvPr/>
              </p:nvCxnSpPr>
              <p:spPr bwMode="auto">
                <a:xfrm>
                  <a:off x="990600" y="2819400"/>
                  <a:ext cx="0" cy="114300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7" name="Straight Connector 6"/>
                <p:cNvCxnSpPr/>
                <p:nvPr/>
              </p:nvCxnSpPr>
              <p:spPr bwMode="auto">
                <a:xfrm>
                  <a:off x="990600" y="3962400"/>
                  <a:ext cx="1143000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" name="Straight Connector 7"/>
                <p:cNvCxnSpPr/>
                <p:nvPr/>
              </p:nvCxnSpPr>
              <p:spPr bwMode="auto">
                <a:xfrm>
                  <a:off x="2106168" y="2819400"/>
                  <a:ext cx="0" cy="114300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10" name="Straight Connector 9"/>
              <p:cNvCxnSpPr/>
              <p:nvPr/>
            </p:nvCxnSpPr>
            <p:spPr bwMode="auto">
              <a:xfrm>
                <a:off x="744070" y="4038600"/>
                <a:ext cx="1143000" cy="0"/>
              </a:xfrm>
              <a:prstGeom prst="lin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Straight Connector 11"/>
              <p:cNvCxnSpPr/>
              <p:nvPr/>
            </p:nvCxnSpPr>
            <p:spPr bwMode="auto">
              <a:xfrm>
                <a:off x="743533" y="3581400"/>
                <a:ext cx="1143000" cy="0"/>
              </a:xfrm>
              <a:prstGeom prst="lin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" name="Straight Connector 12"/>
              <p:cNvCxnSpPr/>
              <p:nvPr/>
            </p:nvCxnSpPr>
            <p:spPr bwMode="auto">
              <a:xfrm>
                <a:off x="743533" y="3124200"/>
                <a:ext cx="1143000" cy="0"/>
              </a:xfrm>
              <a:prstGeom prst="lin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5" name="TextBox 14"/>
            <p:cNvSpPr txBox="1"/>
            <p:nvPr/>
          </p:nvSpPr>
          <p:spPr>
            <a:xfrm>
              <a:off x="783338" y="4494965"/>
              <a:ext cx="1066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573556" y="1220628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0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6456" y="1220628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0"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547" y="1220628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0" dirty="0"/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056" y="1220628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0" dirty="0"/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6800" y="1220628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0" dirty="0"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5473" y="1220628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0" dirty="0"/>
              <a:t>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9677" y="1220628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0" dirty="0"/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06253" y="2305484"/>
            <a:ext cx="38985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338" indent="-287338">
              <a:buFont typeface="+mj-lt"/>
              <a:buAutoNum type="arabicPeriod"/>
            </a:pPr>
            <a:r>
              <a:rPr lang="en-US" sz="1800" baseline="0" dirty="0"/>
              <a:t>Scanning the expression from left to right, push operands onto the stack, until an operator is found</a:t>
            </a:r>
          </a:p>
        </p:txBody>
      </p:sp>
      <p:sp>
        <p:nvSpPr>
          <p:cNvPr id="25" name="Up Arrow 24"/>
          <p:cNvSpPr/>
          <p:nvPr/>
        </p:nvSpPr>
        <p:spPr bwMode="auto">
          <a:xfrm>
            <a:off x="3598209" y="1678712"/>
            <a:ext cx="296956" cy="453013"/>
          </a:xfrm>
          <a:prstGeom prst="upArrow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81600" y="3143071"/>
            <a:ext cx="396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338" indent="-287338">
              <a:buFont typeface="+mj-lt"/>
              <a:buAutoNum type="arabicPeriod" startAt="2"/>
            </a:pPr>
            <a:r>
              <a:rPr lang="en-US" sz="1800" baseline="0" dirty="0"/>
              <a:t>Pop the two operands and carry out the operation indicated by the operator. Push the result back on the stack.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253" y="3776990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baseline="0" dirty="0"/>
              <a:t>5</a:t>
            </a:r>
          </a:p>
        </p:txBody>
      </p:sp>
      <p:sp>
        <p:nvSpPr>
          <p:cNvPr id="28" name="Right Brace 27"/>
          <p:cNvSpPr/>
          <p:nvPr/>
        </p:nvSpPr>
        <p:spPr bwMode="auto">
          <a:xfrm rot="5400000">
            <a:off x="2895703" y="2918581"/>
            <a:ext cx="190500" cy="1508105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0" name="Right Brace 29"/>
          <p:cNvSpPr/>
          <p:nvPr/>
        </p:nvSpPr>
        <p:spPr bwMode="auto">
          <a:xfrm rot="5400000">
            <a:off x="2895703" y="2922598"/>
            <a:ext cx="190500" cy="1508105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51143" y="3775355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baseline="0" dirty="0"/>
              <a:t>2</a:t>
            </a:r>
          </a:p>
        </p:txBody>
      </p:sp>
      <p:sp>
        <p:nvSpPr>
          <p:cNvPr id="32" name="Right Brace 31"/>
          <p:cNvSpPr/>
          <p:nvPr/>
        </p:nvSpPr>
        <p:spPr bwMode="auto">
          <a:xfrm rot="5400000">
            <a:off x="2884498" y="2926052"/>
            <a:ext cx="190500" cy="1508105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29320" y="3783293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baseline="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3955" y="4310299"/>
            <a:ext cx="3870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>
              <a:buFont typeface="+mj-lt"/>
              <a:buAutoNum type="arabicPeriod" startAt="3"/>
            </a:pPr>
            <a:r>
              <a:rPr lang="en-US" sz="1800" baseline="0" dirty="0"/>
              <a:t>The answer is at the top of the stack.</a:t>
            </a:r>
          </a:p>
        </p:txBody>
      </p:sp>
    </p:spTree>
    <p:extLst>
      <p:ext uri="{BB962C8B-B14F-4D97-AF65-F5344CB8AC3E}">
        <p14:creationId xmlns:p14="http://schemas.microsoft.com/office/powerpoint/2010/main" val="54948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6 6.66667E-6 L -0.26181 0.00255 L -0.26667 0.4051 " pathEditMode="relative" ptsTypes="AAA">
                                      <p:cBhvr>
                                        <p:cTn id="6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837 0.00254 " pathEditMode="relative" ptsTypes="AA">
                                      <p:cBhvr>
                                        <p:cTn id="6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827 0.00254 L -0.30399 0.33588 " pathEditMode="relative" ptsTypes="AAA">
                                      <p:cBhvr>
                                        <p:cTn id="6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24 0.00185 L 0.07656 0.00069 " pathEditMode="relative" ptsTypes="AA">
                                      <p:cBhvr>
                                        <p:cTn id="7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399 0.33588 L -0.29913 0.14259 L -0.08247 0.14259 C -0.08316 0.18472 -0.08386 0.22685 -0.08438 0.26922 " pathEditMode="relative" rAng="0" ptsTypes="AAAA">
                                      <p:cBhvr>
                                        <p:cTn id="8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76" y="-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667 0.40509 L -0.26389 0.14236 L -0.13455 0.14236 L -0.13594 0.2625 " pathEditMode="relative" rAng="0" ptsTypes="AAAA">
                                      <p:cBhvr>
                                        <p:cTn id="8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97" y="-1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08 0.31111 L -0.16076 0.30972 L -0.16076 0.26273 " pathEditMode="relative" ptsTypes="AAAA">
                                      <p:cBhvr>
                                        <p:cTn id="9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08 -0.23148 L -0.17951 -0.23148 L -0.18524 0.02616 " pathEditMode="relative" ptsTypes="AAAA">
                                      <p:cBhvr>
                                        <p:cTn id="10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500"/>
                            </p:stCondLst>
                            <p:childTnLst>
                              <p:par>
                                <p:cTn id="1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656 -0.0007 L 0.10695 -0.0007 " pathEditMode="relative" ptsTypes="AA">
                                      <p:cBhvr>
                                        <p:cTn id="12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7083 0.00254 L -0.37361 0.33333 " pathEditMode="relative" ptsTypes="AAA">
                                      <p:cBhvr>
                                        <p:cTn id="1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886 -0.0007 L 0.14323 -0.0007 " pathEditMode="relative" ptsTypes="AA">
                                      <p:cBhvr>
                                        <p:cTn id="13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0503 0.00255 L -0.40989 0.27709 " pathEditMode="relative" ptsTypes="AAA">
                                      <p:cBhvr>
                                        <p:cTn id="13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23 0.00185 L 0.17761 -0.00185 " pathEditMode="relative" ptsTypes="AA">
                                      <p:cBhvr>
                                        <p:cTn id="14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989 0.27708 C -0.40972 0.23171 -0.40937 0.18634 -0.40902 0.1412 L -0.18645 0.14375 L -0.18437 0.27176 " pathEditMode="relative" ptsTypes="AAAA">
                                      <p:cBhvr>
                                        <p:cTn id="14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066 0.33589 L -0.3658 0.1463 L -0.24028 0.14514 C -0.24063 0.18774 -0.24098 0.23033 -0.24132 0.27315 " pathEditMode="relative" ptsTypes="AAAA">
                                      <p:cBhvr>
                                        <p:cTn id="15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8143 0.14769 C -0.08177 0.20162 -0.08212 0.25556 -0.08247 0.30972 L -0.2658 0.31111 L -0.26771 0.26134 " pathEditMode="relative" ptsTypes="AAAAA">
                                      <p:cBhvr>
                                        <p:cTn id="1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7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000"/>
                            </p:stCondLst>
                            <p:childTnLst>
                              <p:par>
                                <p:cTn id="18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08 -0.22893 L -0.18142 -0.23009 L -0.18333 -0.03402 " pathEditMode="relative" ptsTypes="AAAA">
                                      <p:cBhvr>
                                        <p:cTn id="18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61 -0.0007 L 0.20886 -0.0007 " pathEditMode="relative" ptsTypes="AA">
                                      <p:cBhvr>
                                        <p:cTn id="19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697 -0.0368 L -0.18506 -0.23403 L 0.0356 -0.23032 C 0.03525 -0.18889 0.0349 -0.14745 0.03456 -0.10625 " pathEditMode="relative" ptsTypes="AAAA">
                                      <p:cBhvr>
                                        <p:cTn id="19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42 0.02778 L -0.17864 -0.22708 L -0.05208 -0.22454 C -0.05277 -0.18148 -0.05312 -0.13843 -0.05347 -0.09514 " pathEditMode="relative" rAng="0" ptsTypes="AAAA">
                                      <p:cBhvr>
                                        <p:cTn id="19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97" y="-1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8438 0.14884 C -0.08473 0.20115 -0.08507 0.25347 -0.08542 0.30578 L -0.28837 0.30578 L -0.29115 0.2574 " pathEditMode="relative" ptsTypes="AAAAA">
                                      <p:cBhvr>
                                        <p:cTn id="20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7037E-7 L -0.00208 -0.23125 L -0.18159 -0.23125 L -0.18541 0.03149 " pathEditMode="relative" ptsTypes="AAAA">
                                      <p:cBhvr>
                                        <p:cTn id="21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25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2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3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4500"/>
                            </p:stCondLst>
                            <p:childTnLst>
                              <p:par>
                                <p:cTn id="237" presetID="10" presetClass="exit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7" grpId="1"/>
      <p:bldP spid="17" grpId="2"/>
      <p:bldP spid="17" grpId="3"/>
      <p:bldP spid="18" grpId="0"/>
      <p:bldP spid="18" grpId="1"/>
      <p:bldP spid="18" grpId="2"/>
      <p:bldP spid="18" grpId="3"/>
      <p:bldP spid="19" grpId="0"/>
      <p:bldP spid="19" grpId="1"/>
      <p:bldP spid="19" grpId="2"/>
      <p:bldP spid="20" grpId="0"/>
      <p:bldP spid="20" grpId="1"/>
      <p:bldP spid="20" grpId="3"/>
      <p:bldP spid="20" grpId="4"/>
      <p:bldP spid="21" grpId="0"/>
      <p:bldP spid="21" grpId="1"/>
      <p:bldP spid="21" grpId="3"/>
      <p:bldP spid="21" grpId="4"/>
      <p:bldP spid="22" grpId="0"/>
      <p:bldP spid="22" grpId="1"/>
      <p:bldP spid="22" grpId="2"/>
      <p:bldP spid="23" grpId="0"/>
      <p:bldP spid="23" grpId="1"/>
      <p:bldP spid="23" grpId="2"/>
      <p:bldP spid="24" grpId="0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6" grpId="0"/>
      <p:bldP spid="27" grpId="0"/>
      <p:bldP spid="27" grpId="1"/>
      <p:bldP spid="27" grpId="2"/>
      <p:bldP spid="27" grpId="3"/>
      <p:bldP spid="28" grpId="0" animBg="1"/>
      <p:bldP spid="28" grpId="1" animBg="1"/>
      <p:bldP spid="30" grpId="0" animBg="1"/>
      <p:bldP spid="30" grpId="1" animBg="1"/>
      <p:bldP spid="31" grpId="0"/>
      <p:bldP spid="31" grpId="1"/>
      <p:bldP spid="31" grpId="2"/>
      <p:bldP spid="31" grpId="3"/>
      <p:bldP spid="32" grpId="0" animBg="1"/>
      <p:bldP spid="32" grpId="1" animBg="1"/>
      <p:bldP spid="33" grpId="0"/>
      <p:bldP spid="33" grpId="1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272F7A-561A-4CA9-9843-4860C0BA89B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47688"/>
            <a:ext cx="9105900" cy="1155998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10000"/>
              </a:spcBef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the expression: </a:t>
            </a:r>
          </a:p>
          <a:p>
            <a:pPr marL="0" indent="0">
              <a:spcBef>
                <a:spcPct val="10000"/>
              </a:spcBef>
              <a:buNone/>
            </a:pPr>
            <a:r>
              <a:rPr lang="en-US" altLang="en-US" sz="2000" b="1" dirty="0">
                <a:cs typeface="Times New Roman" panose="02020603050405020304" pitchFamily="18" charset="0"/>
              </a:rPr>
              <a:t>		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 = X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 + W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</a:p>
          <a:p>
            <a:pPr marL="0" indent="0">
              <a:spcBef>
                <a:spcPct val="10000"/>
              </a:spcBef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see how to evaluate an </a:t>
            </a:r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using </a:t>
            </a:r>
            <a:r>
              <a:rPr lang="en-US" alt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different instruction formats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3097" y="2514600"/>
            <a:ext cx="18568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MULT</a:t>
            </a:r>
            <a:r>
              <a:rPr lang="en-US" alt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baseline="0" dirty="0">
                <a:cs typeface="Times New Roman" panose="02020603050405020304" pitchFamily="18" charset="0"/>
              </a:rPr>
              <a:t>R1,X,Y</a:t>
            </a:r>
          </a:p>
          <a:p>
            <a:pPr marL="334963" indent="-3349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MULT</a:t>
            </a:r>
            <a:r>
              <a:rPr lang="en-US" alt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baseline="0" dirty="0">
                <a:cs typeface="Times New Roman" panose="02020603050405020304" pitchFamily="18" charset="0"/>
              </a:rPr>
              <a:t>R2,W,U</a:t>
            </a:r>
          </a:p>
          <a:p>
            <a:pPr marL="334963" indent="-3349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ADD</a:t>
            </a:r>
            <a:r>
              <a:rPr lang="en-US" altLang="en-US" baseline="0" dirty="0">
                <a:cs typeface="Times New Roman" panose="02020603050405020304" pitchFamily="18" charset="0"/>
              </a:rPr>
              <a:t>  Z,R1,R2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048000" y="1828800"/>
            <a:ext cx="0" cy="36576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Connector 10"/>
          <p:cNvCxnSpPr/>
          <p:nvPr/>
        </p:nvCxnSpPr>
        <p:spPr bwMode="auto">
          <a:xfrm flipH="1">
            <a:off x="6388472" y="1828800"/>
            <a:ext cx="12328" cy="3700522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Rectangle 7"/>
          <p:cNvSpPr/>
          <p:nvPr/>
        </p:nvSpPr>
        <p:spPr>
          <a:xfrm>
            <a:off x="43704" y="1777416"/>
            <a:ext cx="289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baseline="0" dirty="0">
                <a:cs typeface="Times New Roman" panose="02020603050405020304" pitchFamily="18" charset="0"/>
              </a:rPr>
              <a:t>Using </a:t>
            </a:r>
            <a:r>
              <a:rPr lang="en-US" alt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three-address ISA </a:t>
            </a:r>
            <a:r>
              <a:rPr lang="en-US" altLang="en-US" baseline="0" dirty="0">
                <a:cs typeface="Times New Roman" panose="02020603050405020304" pitchFamily="18" charset="0"/>
              </a:rPr>
              <a:t>(</a:t>
            </a: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e.g. mainframes)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190875" y="1777416"/>
            <a:ext cx="31975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baseline="0" dirty="0">
                <a:cs typeface="Times New Roman" panose="02020603050405020304" pitchFamily="18" charset="0"/>
              </a:rPr>
              <a:t>Using </a:t>
            </a:r>
            <a:r>
              <a:rPr lang="en-US" alt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two-address</a:t>
            </a:r>
            <a:r>
              <a:rPr lang="en-US" altLang="en-US" baseline="0" dirty="0">
                <a:cs typeface="Times New Roman" panose="02020603050405020304" pitchFamily="18" charset="0"/>
              </a:rPr>
              <a:t> </a:t>
            </a:r>
            <a:r>
              <a:rPr lang="en-US" alt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ISA</a:t>
            </a:r>
          </a:p>
          <a:p>
            <a:pPr algn="ctr"/>
            <a:r>
              <a:rPr lang="en-US" altLang="en-US" baseline="0" dirty="0">
                <a:cs typeface="Times New Roman" panose="02020603050405020304" pitchFamily="18" charset="0"/>
              </a:rPr>
              <a:t>(</a:t>
            </a: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e.g. INTEL and Motorola)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6284259" y="1777416"/>
            <a:ext cx="289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baseline="0" dirty="0">
                <a:cs typeface="Times New Roman" panose="02020603050405020304" pitchFamily="18" charset="0"/>
              </a:rPr>
              <a:t>Using </a:t>
            </a:r>
            <a:r>
              <a:rPr lang="en-US" alt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one-address</a:t>
            </a:r>
            <a:r>
              <a:rPr lang="en-US" altLang="en-US" baseline="0" dirty="0">
                <a:cs typeface="Times New Roman" panose="02020603050405020304" pitchFamily="18" charset="0"/>
              </a:rPr>
              <a:t> </a:t>
            </a:r>
            <a:r>
              <a:rPr lang="en-US" alt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ISA </a:t>
            </a:r>
            <a:r>
              <a:rPr lang="en-US" altLang="en-US" baseline="0" dirty="0">
                <a:cs typeface="Times New Roman" panose="02020603050405020304" pitchFamily="18" charset="0"/>
              </a:rPr>
              <a:t>(</a:t>
            </a: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e.g. MARIE)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733800" y="2514600"/>
            <a:ext cx="19879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LOAD</a:t>
            </a:r>
            <a:r>
              <a:rPr lang="en-US" alt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baseline="0" dirty="0">
                <a:cs typeface="Times New Roman" panose="02020603050405020304" pitchFamily="18" charset="0"/>
              </a:rPr>
              <a:t>R1,X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MULT</a:t>
            </a:r>
            <a:r>
              <a:rPr lang="en-US" altLang="en-US" baseline="0" dirty="0">
                <a:cs typeface="Times New Roman" panose="02020603050405020304" pitchFamily="18" charset="0"/>
              </a:rPr>
              <a:t> R1,Y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LOAD</a:t>
            </a:r>
            <a:r>
              <a:rPr lang="en-US" altLang="en-US" baseline="0" dirty="0">
                <a:cs typeface="Times New Roman" panose="02020603050405020304" pitchFamily="18" charset="0"/>
              </a:rPr>
              <a:t> R2,W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MULT</a:t>
            </a:r>
            <a:r>
              <a:rPr lang="en-US" altLang="en-US" baseline="0" dirty="0">
                <a:cs typeface="Times New Roman" panose="02020603050405020304" pitchFamily="18" charset="0"/>
              </a:rPr>
              <a:t> R2,U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ADD</a:t>
            </a:r>
            <a:r>
              <a:rPr lang="en-US" altLang="en-US" baseline="0" dirty="0">
                <a:cs typeface="Times New Roman" panose="02020603050405020304" pitchFamily="18" charset="0"/>
              </a:rPr>
              <a:t>  R1,R2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STORE</a:t>
            </a:r>
            <a:r>
              <a:rPr lang="en-US" altLang="en-US" baseline="0" dirty="0">
                <a:cs typeface="Times New Roman" panose="02020603050405020304" pitchFamily="18" charset="0"/>
              </a:rPr>
              <a:t> Z,R1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967754" y="5649936"/>
            <a:ext cx="4303058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15000"/>
              </a:spcBef>
              <a:buFontTx/>
              <a:buNone/>
            </a:pPr>
            <a:r>
              <a:rPr lang="en-US" altLang="en-US" sz="20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</a:t>
            </a:r>
            <a:r>
              <a:rPr lang="en-US" altLang="en-US" sz="2000" b="1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One-address ISAs usually require one operand to be a register.</a:t>
            </a:r>
            <a:endParaRPr lang="en-US" altLang="en-US" sz="18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10400" y="2514600"/>
            <a:ext cx="1905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LOAD</a:t>
            </a:r>
            <a:r>
              <a:rPr lang="en-US" alt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baseline="0" dirty="0">
                <a:cs typeface="Times New Roman" panose="02020603050405020304" pitchFamily="18" charset="0"/>
              </a:rPr>
              <a:t>X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MULT</a:t>
            </a:r>
            <a:r>
              <a:rPr lang="en-US" altLang="en-US" baseline="0" dirty="0">
                <a:cs typeface="Times New Roman" panose="02020603050405020304" pitchFamily="18" charset="0"/>
              </a:rPr>
              <a:t> Y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STORE</a:t>
            </a:r>
            <a:r>
              <a:rPr lang="en-US" altLang="en-US" baseline="0" dirty="0">
                <a:cs typeface="Times New Roman" panose="02020603050405020304" pitchFamily="18" charset="0"/>
              </a:rPr>
              <a:t> TEMP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LOAD</a:t>
            </a:r>
            <a:r>
              <a:rPr lang="en-US" altLang="en-US" baseline="0" dirty="0">
                <a:cs typeface="Times New Roman" panose="02020603050405020304" pitchFamily="18" charset="0"/>
              </a:rPr>
              <a:t> W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MULT</a:t>
            </a:r>
            <a:r>
              <a:rPr lang="en-US" altLang="en-US" baseline="0" dirty="0">
                <a:cs typeface="Times New Roman" panose="02020603050405020304" pitchFamily="18" charset="0"/>
              </a:rPr>
              <a:t> U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ADD</a:t>
            </a:r>
            <a:r>
              <a:rPr lang="en-US" altLang="en-US" baseline="0" dirty="0">
                <a:cs typeface="Times New Roman" panose="02020603050405020304" pitchFamily="18" charset="0"/>
              </a:rPr>
              <a:t> TEMP</a:t>
            </a:r>
          </a:p>
          <a:p>
            <a:pPr marL="233363" indent="-233363">
              <a:lnSpc>
                <a:spcPct val="150000"/>
              </a:lnSpc>
            </a:pP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STORE</a:t>
            </a:r>
            <a:r>
              <a:rPr lang="en-US" altLang="en-US" baseline="0" dirty="0">
                <a:cs typeface="Times New Roman" panose="02020603050405020304" pitchFamily="18" charset="0"/>
              </a:rPr>
              <a:t> 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-13447"/>
            <a:ext cx="68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  <p:bldP spid="3" grpId="0"/>
      <p:bldP spid="8" grpId="0"/>
      <p:bldP spid="13" grpId="0"/>
      <p:bldP spid="14" grpId="0"/>
      <p:bldP spid="9" grpId="0"/>
      <p:bldP spid="16" grpId="0" animBg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A61CA2-963F-46F6-87AD-E1888F24A7A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334" y="547688"/>
            <a:ext cx="8886265" cy="1266825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100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alt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stack ISA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US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expression, </a:t>
            </a:r>
          </a:p>
          <a:p>
            <a:pPr marL="334963" indent="-334963">
              <a:spcBef>
                <a:spcPct val="10000"/>
              </a:spcBef>
              <a:buFontTx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 = X Y 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W U 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</a:p>
          <a:p>
            <a:pPr marL="334963" indent="-334963">
              <a:spcBef>
                <a:spcPct val="10000"/>
              </a:spcBef>
              <a:buFontTx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 look like this: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49" name="Text Box 7"/>
          <p:cNvSpPr txBox="1">
            <a:spLocks noChangeArrowheads="1"/>
          </p:cNvSpPr>
          <p:nvPr/>
        </p:nvSpPr>
        <p:spPr bwMode="auto">
          <a:xfrm>
            <a:off x="3048000" y="1371600"/>
            <a:ext cx="5715000" cy="11079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15000"/>
              </a:spcBef>
              <a:buFontTx/>
              <a:buNone/>
            </a:pPr>
            <a:r>
              <a:rPr lang="en-US" altLang="en-US" sz="2200" b="1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Would this program require more execution time than the corresponding (shorter) program that we saw in the 3-address ISA?</a:t>
            </a:r>
          </a:p>
        </p:txBody>
      </p:sp>
      <p:sp>
        <p:nvSpPr>
          <p:cNvPr id="3" name="Rectangle 2"/>
          <p:cNvSpPr/>
          <p:nvPr/>
        </p:nvSpPr>
        <p:spPr>
          <a:xfrm>
            <a:off x="313765" y="1724561"/>
            <a:ext cx="1447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>
              <a:lnSpc>
                <a:spcPct val="150000"/>
              </a:lnSpc>
            </a:pP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PUSH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baseline="0" dirty="0">
                <a:cs typeface="Times New Roman" panose="02020603050405020304" pitchFamily="18" charset="0"/>
              </a:rPr>
              <a:t>X</a:t>
            </a:r>
          </a:p>
          <a:p>
            <a:pPr marL="233363" indent="-233363">
              <a:lnSpc>
                <a:spcPct val="150000"/>
              </a:lnSpc>
            </a:pP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PUSH</a:t>
            </a:r>
            <a:r>
              <a:rPr lang="en-US" baseline="0" dirty="0">
                <a:cs typeface="Times New Roman" panose="02020603050405020304" pitchFamily="18" charset="0"/>
              </a:rPr>
              <a:t> Y</a:t>
            </a:r>
          </a:p>
          <a:p>
            <a:pPr marL="233363" indent="-233363">
              <a:lnSpc>
                <a:spcPct val="150000"/>
              </a:lnSpc>
            </a:pP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MULT</a:t>
            </a:r>
          </a:p>
          <a:p>
            <a:pPr marL="233363" indent="-233363">
              <a:lnSpc>
                <a:spcPct val="150000"/>
              </a:lnSpc>
            </a:pP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PUSH</a:t>
            </a:r>
            <a:r>
              <a:rPr lang="en-US" baseline="0" dirty="0">
                <a:cs typeface="Times New Roman" panose="02020603050405020304" pitchFamily="18" charset="0"/>
              </a:rPr>
              <a:t> W</a:t>
            </a:r>
          </a:p>
          <a:p>
            <a:pPr marL="233363" indent="-233363">
              <a:lnSpc>
                <a:spcPct val="150000"/>
              </a:lnSpc>
            </a:pP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PUSH</a:t>
            </a:r>
            <a:r>
              <a:rPr lang="en-US" baseline="0" dirty="0">
                <a:cs typeface="Times New Roman" panose="02020603050405020304" pitchFamily="18" charset="0"/>
              </a:rPr>
              <a:t> U</a:t>
            </a:r>
          </a:p>
          <a:p>
            <a:pPr marL="233363" indent="-233363">
              <a:lnSpc>
                <a:spcPct val="150000"/>
              </a:lnSpc>
            </a:pP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MULT</a:t>
            </a:r>
          </a:p>
          <a:p>
            <a:pPr marL="233363" indent="-233363">
              <a:lnSpc>
                <a:spcPct val="150000"/>
              </a:lnSpc>
            </a:pP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ADD</a:t>
            </a:r>
          </a:p>
          <a:p>
            <a:pPr marL="233363" indent="-233363">
              <a:lnSpc>
                <a:spcPct val="150000"/>
              </a:lnSpc>
            </a:pP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PUSH</a:t>
            </a:r>
            <a:r>
              <a:rPr lang="en-US" baseline="0" dirty="0">
                <a:cs typeface="Times New Roman" panose="02020603050405020304" pitchFamily="18" charset="0"/>
              </a:rPr>
              <a:t> Z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379695" y="947626"/>
            <a:ext cx="295835" cy="377299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1863818"/>
            <a:ext cx="1295400" cy="319087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5281515" y="4403199"/>
            <a:ext cx="762000" cy="878413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42572" y="5369986"/>
            <a:ext cx="3352800" cy="76944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 ISA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require the longest execution time 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A19F9D6B-0F2E-631A-32CA-9428CEEB7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744870"/>
              </p:ext>
            </p:extLst>
          </p:nvPr>
        </p:nvGraphicFramePr>
        <p:xfrm>
          <a:off x="1865344" y="2638425"/>
          <a:ext cx="71628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256">
                  <a:extLst>
                    <a:ext uri="{9D8B030D-6E8A-4147-A177-3AD203B41FA5}">
                      <a16:colId xmlns:a16="http://schemas.microsoft.com/office/drawing/2014/main" val="751539579"/>
                    </a:ext>
                  </a:extLst>
                </a:gridCol>
                <a:gridCol w="1453864">
                  <a:extLst>
                    <a:ext uri="{9D8B030D-6E8A-4147-A177-3AD203B41FA5}">
                      <a16:colId xmlns:a16="http://schemas.microsoft.com/office/drawing/2014/main" val="2209183143"/>
                    </a:ext>
                  </a:extLst>
                </a:gridCol>
                <a:gridCol w="1441736">
                  <a:extLst>
                    <a:ext uri="{9D8B030D-6E8A-4147-A177-3AD203B41FA5}">
                      <a16:colId xmlns:a16="http://schemas.microsoft.com/office/drawing/2014/main" val="2751953205"/>
                    </a:ext>
                  </a:extLst>
                </a:gridCol>
                <a:gridCol w="1331945">
                  <a:extLst>
                    <a:ext uri="{9D8B030D-6E8A-4147-A177-3AD203B41FA5}">
                      <a16:colId xmlns:a16="http://schemas.microsoft.com/office/drawing/2014/main" val="1692902804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1840812359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Computing Z=(X </a:t>
                      </a:r>
                      <a:r>
                        <a:rPr lang="en-US" sz="2000" dirty="0" err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x</a:t>
                      </a:r>
                      <a:r>
                        <a:rPr lang="en-US" sz="2000" dirty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Y) + (W x U)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Computing Z=(X </a:t>
                      </a:r>
                      <a:r>
                        <a:rPr lang="en-US" sz="2000" dirty="0" err="1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x</a:t>
                      </a:r>
                      <a:r>
                        <a:rPr lang="en-US" sz="2000" dirty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Y) + (W x U)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413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GPR 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 Operands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GPR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 Operands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MARIE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 Operand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Stack based 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54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No. of 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783282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-3.33333E-6 0.06921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4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35 0 " pathEditMode="relative" ptsTypes="AA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06852 L -0.00069 0.13379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64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91 -0.00093 L 0.05539 0.00023 " pathEditMode="relative" ptsTypes="AA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13379 L -0.00364 0.2044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3519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43 0.00023 L 0.0849 0.00023 " pathEditMode="relative" ptsTypes="AA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4 0.20578 L -0.0026 0.26852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312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81 0.00162 L 0.12014 0.00162 " pathEditMode="relative" ptsTypes="AA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4 0.26852 L -0.00451 0.33125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3125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14 0.00278 L 0.14462 0.00162 " pathEditMode="relative" ptsTypes="AA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59 0.33264 L -0.00555 0.40324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351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62 -0.00093 L 0.17205 -0.00093 " pathEditMode="relative" ptsTypes="AA">
                                      <p:cBhvr>
                                        <p:cTn id="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1 0.40833 L -0.00451 0.4699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/>
      <p:bldP spid="82949" grpId="0" animBg="1"/>
      <p:bldP spid="3" grpId="0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4" grpId="7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5" grpId="8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593862-2A9C-437F-9E59-60284DE8CB3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704570"/>
            <a:ext cx="8991600" cy="249583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233363" indent="-233363">
              <a:spcBef>
                <a:spcPct val="3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seen how instruction length is affected by the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number of operands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supported by the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33363" indent="-233363">
              <a:spcBef>
                <a:spcPct val="3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any instruction set,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not all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require the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same number of operands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33363" indent="-233363">
              <a:spcBef>
                <a:spcPct val="3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that require no operands, such as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HALT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necessarily 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waste some space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fixed-length instructions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used.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0" y="4724400"/>
            <a:ext cx="861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en-US" sz="2400" baseline="0" dirty="0">
                <a:cs typeface="Times New Roman" panose="02020603050405020304" pitchFamily="18" charset="0"/>
              </a:rPr>
              <a:t>One way to recover some of this space is to use </a:t>
            </a: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expanding opcodes.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0" y="3513763"/>
            <a:ext cx="2819400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Then, how to solve this problem?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276600"/>
            <a:ext cx="1316452" cy="131645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/>
      <p:bldP spid="2" grpId="0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77D67B-C203-432A-B9E4-E0B67BF82BF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581400"/>
            <a:ext cx="5257800" cy="469907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10000"/>
              </a:spcBef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has 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704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1" y="4915090"/>
            <a:ext cx="5121157" cy="185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7" name="TextBox 7"/>
          <p:cNvSpPr txBox="1">
            <a:spLocks noChangeArrowheads="1"/>
          </p:cNvSpPr>
          <p:nvPr/>
        </p:nvSpPr>
        <p:spPr bwMode="auto">
          <a:xfrm>
            <a:off x="0" y="520794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Expanding opcodes:</a:t>
            </a:r>
            <a:endParaRPr lang="en-US" altLang="en-US" sz="2400" u="sng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2035" y="1058659"/>
            <a:ext cx="8305800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Expanding opcodes </a:t>
            </a:r>
            <a:r>
              <a:rPr lang="en-US" baseline="0" dirty="0"/>
              <a:t>represent a compromise between the need for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rich set of opcodes</a:t>
            </a:r>
            <a:r>
              <a:rPr lang="en-US" b="1" baseline="0" dirty="0"/>
              <a:t> </a:t>
            </a:r>
            <a:r>
              <a:rPr lang="en-US" baseline="0" dirty="0"/>
              <a:t>and the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desire to have short opcodes</a:t>
            </a:r>
            <a:r>
              <a:rPr lang="en-US" baseline="0" dirty="0"/>
              <a:t>, and thus </a:t>
            </a:r>
            <a:r>
              <a:rPr 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instructions</a:t>
            </a:r>
            <a:r>
              <a:rPr lang="en-US" baseline="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" y="1905528"/>
            <a:ext cx="243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aseline="0" dirty="0"/>
              <a:t>Large set of instructions is needed</a:t>
            </a:r>
          </a:p>
        </p:txBody>
      </p:sp>
      <p:sp>
        <p:nvSpPr>
          <p:cNvPr id="4" name="Right Arrow 3"/>
          <p:cNvSpPr/>
          <p:nvPr/>
        </p:nvSpPr>
        <p:spPr bwMode="auto">
          <a:xfrm>
            <a:off x="2488793" y="2080971"/>
            <a:ext cx="685800" cy="42797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01788" y="1905528"/>
            <a:ext cx="2711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</a:t>
            </a:r>
            <a:r>
              <a:rPr lang="en-US" baseline="0" dirty="0">
                <a:solidFill>
                  <a:srgbClr val="C00000"/>
                </a:solidFill>
              </a:rPr>
              <a:t> </a:t>
            </a:r>
            <a:r>
              <a:rPr lang="en-US" baseline="0" dirty="0"/>
              <a:t>opcode bits to encode such instructions</a:t>
            </a:r>
          </a:p>
        </p:txBody>
      </p:sp>
      <p:sp>
        <p:nvSpPr>
          <p:cNvPr id="13" name="Right Arrow 12"/>
          <p:cNvSpPr/>
          <p:nvPr/>
        </p:nvSpPr>
        <p:spPr bwMode="auto">
          <a:xfrm>
            <a:off x="5813612" y="2080971"/>
            <a:ext cx="685800" cy="42797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2963" y="1905528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 complex </a:t>
            </a:r>
            <a:r>
              <a:rPr lang="en-US" baseline="0" dirty="0"/>
              <a:t>to be decoded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702630"/>
            <a:ext cx="6781800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Therefore, a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compromise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between the number of instructions available and the instruction length is essential.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910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bits </a:t>
            </a:r>
            <a:r>
              <a:rPr lang="en-US" sz="1800" baseline="0" dirty="0"/>
              <a:t>are required to access each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9659" y="4191000"/>
            <a:ext cx="305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 bits </a:t>
            </a:r>
            <a:r>
              <a:rPr lang="en-US" sz="1800" baseline="0" dirty="0"/>
              <a:t>are required to access each memory location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>
            <a:off x="1562100" y="3946724"/>
            <a:ext cx="266700" cy="24427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>
            <a:endCxn id="18" idx="0"/>
          </p:cNvCxnSpPr>
          <p:nvPr/>
        </p:nvCxnSpPr>
        <p:spPr bwMode="auto">
          <a:xfrm>
            <a:off x="3771900" y="3962400"/>
            <a:ext cx="685800" cy="2286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5985741" y="4006334"/>
            <a:ext cx="3068918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spcBef>
                <a:spcPct val="10000"/>
              </a:spcBef>
            </a:pPr>
            <a:r>
              <a:rPr lang="en-US" altLang="en-US" sz="1600" b="1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If the system uses 16-bit instructions, then two choices for our instructions are available: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1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build="p"/>
      <p:bldP spid="87047" grpId="0"/>
      <p:bldP spid="10" grpId="0" animBg="1"/>
      <p:bldP spid="3" grpId="0"/>
      <p:bldP spid="4" grpId="0" animBg="1"/>
      <p:bldP spid="12" grpId="0"/>
      <p:bldP spid="13" grpId="0" animBg="1"/>
      <p:bldP spid="14" grpId="0"/>
      <p:bldP spid="5" grpId="0" animBg="1"/>
      <p:bldP spid="8" grpId="0"/>
      <p:bldP spid="18" grpId="0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E4E8-46AF-4284-8039-AE5F256813FB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600200" y="0"/>
            <a:ext cx="5943600" cy="54768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400" b="1" baseline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0" y="520794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Expanding opcodes:</a:t>
            </a:r>
            <a:endParaRPr lang="en-US" altLang="en-US" sz="2400" u="sng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2035" y="1058659"/>
            <a:ext cx="8305800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Expanding opcodes </a:t>
            </a:r>
            <a:r>
              <a:rPr lang="en-US" baseline="0" dirty="0"/>
              <a:t>represent a compromise between the need for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rich set of opcodes</a:t>
            </a:r>
            <a:r>
              <a:rPr lang="en-US" b="1" baseline="0" dirty="0"/>
              <a:t> </a:t>
            </a:r>
            <a:r>
              <a:rPr lang="en-US" baseline="0" dirty="0"/>
              <a:t>and the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desire to have short opcodes</a:t>
            </a:r>
            <a:r>
              <a:rPr lang="en-US" baseline="0" dirty="0"/>
              <a:t>, and thus </a:t>
            </a:r>
            <a:r>
              <a:rPr 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instructions</a:t>
            </a:r>
            <a:r>
              <a:rPr lang="en-US" baseline="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2035" y="1828800"/>
            <a:ext cx="8390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/>
              <a:t>The idea is to make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opcode for easier processing </a:t>
            </a:r>
            <a:r>
              <a:rPr lang="en-US" baseline="0" dirty="0"/>
              <a:t>but still have the ability to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extend this opcode </a:t>
            </a:r>
            <a:r>
              <a:rPr lang="en-US" baseline="0" dirty="0"/>
              <a:t>for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larger number of instructions </a:t>
            </a:r>
            <a:r>
              <a:rPr lang="en-US" baseline="0" dirty="0"/>
              <a:t>in the case of fewer number of operands.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034" y="2819400"/>
            <a:ext cx="8543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/>
              <a:t>In other words, there are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longer opcodes </a:t>
            </a:r>
            <a:r>
              <a:rPr lang="en-US" baseline="0" dirty="0"/>
              <a:t>with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fewer operands </a:t>
            </a:r>
            <a:r>
              <a:rPr lang="en-US" baseline="0" dirty="0"/>
              <a:t>as well as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shorter opcodes </a:t>
            </a:r>
            <a:r>
              <a:rPr lang="en-US" baseline="0" dirty="0"/>
              <a:t>with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operands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72035" y="3657600"/>
            <a:ext cx="5876365" cy="190797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we wish to </a:t>
            </a:r>
            <a:r>
              <a:rPr lang="en-US" sz="20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encode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following </a:t>
            </a:r>
            <a:r>
              <a:rPr lang="en-US" sz="20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FontTx/>
              <a:buNone/>
              <a:defRPr/>
            </a:pP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US" sz="20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with </a:t>
            </a:r>
            <a:r>
              <a:rPr lang="en-US" sz="20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</a:t>
            </a:r>
          </a:p>
          <a:p>
            <a:pPr marL="0" indent="0">
              <a:buFontTx/>
              <a:buNone/>
              <a:defRPr/>
            </a:pP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US" sz="20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with </a:t>
            </a:r>
            <a:r>
              <a:rPr lang="en-US" sz="20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</a:t>
            </a:r>
          </a:p>
          <a:p>
            <a:pPr marL="0" indent="0">
              <a:buFontTx/>
              <a:buNone/>
              <a:defRPr/>
            </a:pP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US" sz="20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with </a:t>
            </a:r>
            <a:r>
              <a:rPr lang="en-US" sz="20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</a:t>
            </a:r>
          </a:p>
          <a:p>
            <a:pPr marL="0" indent="0">
              <a:buFontTx/>
              <a:buNone/>
              <a:defRPr/>
            </a:pP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• </a:t>
            </a:r>
            <a:r>
              <a:rPr lang="en-US" sz="20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with </a:t>
            </a:r>
            <a:r>
              <a:rPr lang="en-US" sz="2000" b="1" baseline="0" dirty="0">
                <a:solidFill>
                  <a:srgbClr val="2725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baseline="0" dirty="0">
                <a:solidFill>
                  <a:srgbClr val="2725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</a:t>
            </a:r>
          </a:p>
          <a:p>
            <a:pPr marL="0" indent="0">
              <a:buFontTx/>
              <a:buNone/>
              <a:defRPr/>
            </a:pPr>
            <a:endParaRPr lang="en-US" altLang="en-US" sz="28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5401235" y="5341948"/>
            <a:ext cx="3276600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Can we encode this instruction set using </a:t>
            </a:r>
            <a:r>
              <a:rPr lang="en-US" alt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16 bits</a:t>
            </a:r>
            <a:r>
              <a:rPr lang="en-US" alt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? </a:t>
            </a:r>
            <a:endParaRPr lang="en-US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b="6401"/>
          <a:stretch/>
        </p:blipFill>
        <p:spPr>
          <a:xfrm>
            <a:off x="6539472" y="4124201"/>
            <a:ext cx="1000125" cy="106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9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  <p:bldP spid="8" grpId="0"/>
      <p:bldP spid="9" grpId="0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A2DBCA-C71C-4C53-988C-A863125A411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114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6334125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3" name="TextBox 9"/>
          <p:cNvSpPr txBox="1">
            <a:spLocks noChangeArrowheads="1"/>
          </p:cNvSpPr>
          <p:nvPr/>
        </p:nvSpPr>
        <p:spPr bwMode="auto">
          <a:xfrm>
            <a:off x="76200" y="397534"/>
            <a:ext cx="7391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The answer is </a:t>
            </a: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yes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, as long as we use </a:t>
            </a:r>
            <a:r>
              <a:rPr lang="en-US" alt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expanding opcodes</a:t>
            </a:r>
            <a:r>
              <a:rPr lang="en-US" altLang="en-US" sz="2400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. The encoding is as follows: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76200" y="1752600"/>
            <a:ext cx="685800" cy="655725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890615"/>
            <a:ext cx="27432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aseline="0" dirty="0">
                <a:cs typeface="Times New Roman" panose="02020603050405020304" pitchFamily="18" charset="0"/>
              </a:rPr>
              <a:t>0-14 opcodes with 3 registers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05911"/>
            <a:ext cx="27432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aseline="0" dirty="0">
                <a:cs typeface="Times New Roman" panose="02020603050405020304" pitchFamily="18" charset="0"/>
              </a:rPr>
              <a:t>0-13 opcodes with 2 registers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753035" y="2555019"/>
            <a:ext cx="685800" cy="655725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3551735"/>
            <a:ext cx="27432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aseline="0" dirty="0">
                <a:cs typeface="Times New Roman" panose="02020603050405020304" pitchFamily="18" charset="0"/>
              </a:rPr>
              <a:t>0-30 opcodes with 1 register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199030" y="3400843"/>
            <a:ext cx="876300" cy="655725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4370457"/>
            <a:ext cx="27432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aseline="0" dirty="0">
                <a:cs typeface="Times New Roman" panose="02020603050405020304" pitchFamily="18" charset="0"/>
              </a:rPr>
              <a:t>0-15 opcodes with 0 register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084295" y="4249666"/>
            <a:ext cx="685800" cy="655725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035" y="51126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aseline="0" dirty="0">
                <a:cs typeface="Times New Roman" panose="02020603050405020304" pitchFamily="18" charset="0"/>
              </a:rPr>
              <a:t>Since, the opcode bits are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not fixed </a:t>
            </a:r>
            <a:r>
              <a:rPr lang="en-US" sz="2400" baseline="0" dirty="0">
                <a:cs typeface="Times New Roman" panose="02020603050405020304" pitchFamily="18" charset="0"/>
              </a:rPr>
              <a:t>(</a:t>
            </a:r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extended opcode</a:t>
            </a:r>
            <a:r>
              <a:rPr lang="en-US" sz="2400" baseline="0" dirty="0">
                <a:cs typeface="Times New Roman" panose="02020603050405020304" pitchFamily="18" charset="0"/>
              </a:rPr>
              <a:t>), a </a:t>
            </a:r>
            <a:r>
              <a:rPr 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more complex operations</a:t>
            </a:r>
            <a:r>
              <a:rPr lang="en-US" sz="2400" baseline="0" dirty="0">
                <a:cs typeface="Times New Roman" panose="02020603050405020304" pitchFamily="18" charset="0"/>
              </a:rPr>
              <a:t> are required to decode these instructions.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9195" y="6049464"/>
            <a:ext cx="1306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HOW?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5"/>
          <a:srcRect b="6401"/>
          <a:stretch/>
        </p:blipFill>
        <p:spPr>
          <a:xfrm>
            <a:off x="4661367" y="5916549"/>
            <a:ext cx="737628" cy="7890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ED276E-DB53-E3C7-0C44-2CD95052D452}"/>
              </a:ext>
            </a:extLst>
          </p:cNvPr>
          <p:cNvSpPr txBox="1"/>
          <p:nvPr/>
        </p:nvSpPr>
        <p:spPr>
          <a:xfrm>
            <a:off x="5858069" y="908850"/>
            <a:ext cx="320040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we extend the number of 3-address instruction to 16 instead of 15?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5CA46A-E8E5-C4C0-7DF4-0EF7C45A23B7}"/>
              </a:ext>
            </a:extLst>
          </p:cNvPr>
          <p:cNvSpPr/>
          <p:nvPr/>
        </p:nvSpPr>
        <p:spPr bwMode="auto">
          <a:xfrm>
            <a:off x="3480159" y="1890556"/>
            <a:ext cx="381000" cy="354002"/>
          </a:xfrm>
          <a:prstGeom prst="ellipse">
            <a:avLst/>
          </a:prstGeom>
          <a:noFill/>
          <a:ln w="38100">
            <a:solidFill>
              <a:srgbClr val="C0000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BF4EFC-D8F6-04A4-2C89-DADEF91F6F65}"/>
              </a:ext>
            </a:extLst>
          </p:cNvPr>
          <p:cNvCxnSpPr>
            <a:stCxn id="2" idx="1"/>
            <a:endCxn id="8" idx="7"/>
          </p:cNvCxnSpPr>
          <p:nvPr/>
        </p:nvCxnSpPr>
        <p:spPr bwMode="auto">
          <a:xfrm flipH="1">
            <a:off x="3805363" y="1370515"/>
            <a:ext cx="2052706" cy="571883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3" grpId="0"/>
      <p:bldP spid="3" grpId="0" animBg="1"/>
      <p:bldP spid="4" grpId="0"/>
      <p:bldP spid="12" grpId="0"/>
      <p:bldP spid="13" grpId="0" animBg="1"/>
      <p:bldP spid="15" grpId="0"/>
      <p:bldP spid="16" grpId="0" animBg="1"/>
      <p:bldP spid="17" grpId="0"/>
      <p:bldP spid="18" grpId="0" animBg="1"/>
      <p:bldP spid="5" grpId="0"/>
      <p:bldP spid="6" grpId="0"/>
      <p:bldP spid="2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30624" y="6248400"/>
            <a:ext cx="1905000" cy="457200"/>
          </a:xfrm>
        </p:spPr>
        <p:txBody>
          <a:bodyPr/>
          <a:lstStyle/>
          <a:p>
            <a:fld id="{B7F6E4E8-46AF-4284-8039-AE5F256813FB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524000" y="0"/>
            <a:ext cx="5943600" cy="54768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400" b="1" baseline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3" y="1450969"/>
            <a:ext cx="6043174" cy="2362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4088868"/>
            <a:ext cx="5115093" cy="26929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533400" y="1486829"/>
            <a:ext cx="3352800" cy="272531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29552" y="2008167"/>
            <a:ext cx="3899647" cy="248734"/>
          </a:xfrm>
          <a:prstGeom prst="rect">
            <a:avLst/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129551" y="2480806"/>
            <a:ext cx="4661649" cy="306397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8" name="Left Brace 27"/>
          <p:cNvSpPr/>
          <p:nvPr/>
        </p:nvSpPr>
        <p:spPr bwMode="auto">
          <a:xfrm>
            <a:off x="3581401" y="4090651"/>
            <a:ext cx="304800" cy="6096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3048000" y="1893830"/>
            <a:ext cx="3415917" cy="2503147"/>
            <a:chOff x="3048000" y="1084730"/>
            <a:chExt cx="3415917" cy="2503147"/>
          </a:xfrm>
        </p:grpSpPr>
        <p:cxnSp>
          <p:nvCxnSpPr>
            <p:cNvPr id="11" name="Straight Connector 10"/>
            <p:cNvCxnSpPr/>
            <p:nvPr/>
          </p:nvCxnSpPr>
          <p:spPr bwMode="auto">
            <a:xfrm>
              <a:off x="5778117" y="1093695"/>
              <a:ext cx="685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Straight Connector 17"/>
            <p:cNvCxnSpPr/>
            <p:nvPr/>
          </p:nvCxnSpPr>
          <p:spPr bwMode="auto">
            <a:xfrm flipH="1">
              <a:off x="6445987" y="1084730"/>
              <a:ext cx="13084" cy="174688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19"/>
            <p:cNvCxnSpPr/>
            <p:nvPr/>
          </p:nvCxnSpPr>
          <p:spPr bwMode="auto">
            <a:xfrm>
              <a:off x="3048000" y="2819400"/>
              <a:ext cx="3397987" cy="1221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3048000" y="2819400"/>
              <a:ext cx="0" cy="76267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3048000" y="3583605"/>
              <a:ext cx="533401" cy="4272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" name="Group 36"/>
          <p:cNvGrpSpPr/>
          <p:nvPr/>
        </p:nvGrpSpPr>
        <p:grpSpPr>
          <a:xfrm>
            <a:off x="2787841" y="2359916"/>
            <a:ext cx="3841559" cy="2640185"/>
            <a:chOff x="3048000" y="1084730"/>
            <a:chExt cx="3415917" cy="2431447"/>
          </a:xfrm>
        </p:grpSpPr>
        <p:cxnSp>
          <p:nvCxnSpPr>
            <p:cNvPr id="38" name="Straight Connector 37"/>
            <p:cNvCxnSpPr/>
            <p:nvPr/>
          </p:nvCxnSpPr>
          <p:spPr bwMode="auto">
            <a:xfrm>
              <a:off x="5706956" y="1084730"/>
              <a:ext cx="756961" cy="8965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Straight Connector 38"/>
            <p:cNvCxnSpPr/>
            <p:nvPr/>
          </p:nvCxnSpPr>
          <p:spPr bwMode="auto">
            <a:xfrm flipH="1">
              <a:off x="6445262" y="1084730"/>
              <a:ext cx="13808" cy="133835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3048000" y="2393368"/>
              <a:ext cx="3397987" cy="1221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Straight Connector 40"/>
            <p:cNvCxnSpPr/>
            <p:nvPr/>
          </p:nvCxnSpPr>
          <p:spPr bwMode="auto">
            <a:xfrm>
              <a:off x="3048000" y="2405583"/>
              <a:ext cx="0" cy="111059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Arrow Connector 41"/>
            <p:cNvCxnSpPr/>
            <p:nvPr/>
          </p:nvCxnSpPr>
          <p:spPr bwMode="auto">
            <a:xfrm>
              <a:off x="3048000" y="3516176"/>
              <a:ext cx="705634" cy="1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4" name="Left Brace 43"/>
          <p:cNvSpPr/>
          <p:nvPr/>
        </p:nvSpPr>
        <p:spPr bwMode="auto">
          <a:xfrm>
            <a:off x="3554507" y="4695300"/>
            <a:ext cx="304800" cy="6096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2590800" y="2877945"/>
            <a:ext cx="4191002" cy="2821255"/>
            <a:chOff x="2888502" y="1084730"/>
            <a:chExt cx="3575415" cy="3485773"/>
          </a:xfrm>
        </p:grpSpPr>
        <p:cxnSp>
          <p:nvCxnSpPr>
            <p:cNvPr id="48" name="Straight Connector 47"/>
            <p:cNvCxnSpPr/>
            <p:nvPr/>
          </p:nvCxnSpPr>
          <p:spPr bwMode="auto">
            <a:xfrm>
              <a:off x="5607658" y="1084730"/>
              <a:ext cx="856259" cy="8965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Straight Connector 48"/>
            <p:cNvCxnSpPr/>
            <p:nvPr/>
          </p:nvCxnSpPr>
          <p:spPr bwMode="auto">
            <a:xfrm flipH="1">
              <a:off x="6445262" y="1084730"/>
              <a:ext cx="13808" cy="133835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2888502" y="2398026"/>
              <a:ext cx="3557486" cy="7557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2888502" y="2405583"/>
              <a:ext cx="0" cy="216492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Straight Arrow Connector 51"/>
            <p:cNvCxnSpPr/>
            <p:nvPr/>
          </p:nvCxnSpPr>
          <p:spPr bwMode="auto">
            <a:xfrm>
              <a:off x="2888502" y="4554070"/>
              <a:ext cx="865132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Left Brace 57"/>
          <p:cNvSpPr/>
          <p:nvPr/>
        </p:nvSpPr>
        <p:spPr bwMode="auto">
          <a:xfrm>
            <a:off x="3554507" y="5394400"/>
            <a:ext cx="304800" cy="6096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2362200" y="3405669"/>
            <a:ext cx="4648200" cy="2966031"/>
            <a:chOff x="2719174" y="1084730"/>
            <a:chExt cx="3744743" cy="3664649"/>
          </a:xfrm>
        </p:grpSpPr>
        <p:cxnSp>
          <p:nvCxnSpPr>
            <p:cNvPr id="61" name="Straight Connector 60"/>
            <p:cNvCxnSpPr/>
            <p:nvPr/>
          </p:nvCxnSpPr>
          <p:spPr bwMode="auto">
            <a:xfrm flipV="1">
              <a:off x="5471149" y="1093695"/>
              <a:ext cx="992768" cy="1151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Straight Connector 61"/>
            <p:cNvCxnSpPr/>
            <p:nvPr/>
          </p:nvCxnSpPr>
          <p:spPr bwMode="auto">
            <a:xfrm flipH="1">
              <a:off x="6445988" y="1084730"/>
              <a:ext cx="13083" cy="840205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2719174" y="1924935"/>
              <a:ext cx="3726814" cy="7557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2719174" y="1924935"/>
              <a:ext cx="0" cy="282444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Straight Arrow Connector 64"/>
            <p:cNvCxnSpPr/>
            <p:nvPr/>
          </p:nvCxnSpPr>
          <p:spPr bwMode="auto">
            <a:xfrm>
              <a:off x="2719174" y="4749379"/>
              <a:ext cx="103446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9" name="Left Brace 68"/>
          <p:cNvSpPr/>
          <p:nvPr/>
        </p:nvSpPr>
        <p:spPr bwMode="auto">
          <a:xfrm>
            <a:off x="3550025" y="6066900"/>
            <a:ext cx="304800" cy="6096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3821440" y="4118289"/>
            <a:ext cx="2299577" cy="502702"/>
          </a:xfrm>
          <a:prstGeom prst="rect">
            <a:avLst/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3810000" y="4748413"/>
            <a:ext cx="2299577" cy="502702"/>
          </a:xfrm>
          <a:prstGeom prst="rect">
            <a:avLst/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3810000" y="5456623"/>
            <a:ext cx="2299577" cy="502702"/>
          </a:xfrm>
          <a:prstGeom prst="rect">
            <a:avLst/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3810000" y="6124493"/>
            <a:ext cx="2299577" cy="502702"/>
          </a:xfrm>
          <a:prstGeom prst="rect">
            <a:avLst/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2227" y="548911"/>
            <a:ext cx="89725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aseline="0" dirty="0"/>
              <a:t>Instead of looking at a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 pattern </a:t>
            </a:r>
            <a:r>
              <a:rPr lang="en-US" sz="2400" baseline="0" dirty="0"/>
              <a:t>and deciding which instruction it is, we need to </a:t>
            </a:r>
            <a:r>
              <a:rPr 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decode the instruction </a:t>
            </a:r>
            <a:r>
              <a:rPr lang="en-US" sz="2400" baseline="0" dirty="0"/>
              <a:t>such as follows:</a:t>
            </a:r>
          </a:p>
        </p:txBody>
      </p:sp>
    </p:spTree>
    <p:extLst>
      <p:ext uri="{BB962C8B-B14F-4D97-AF65-F5344CB8AC3E}">
        <p14:creationId xmlns:p14="http://schemas.microsoft.com/office/powerpoint/2010/main" val="49674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8" grpId="0" animBg="1"/>
      <p:bldP spid="44" grpId="0" animBg="1"/>
      <p:bldP spid="58" grpId="0" animBg="1"/>
      <p:bldP spid="69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CE8DBF-12C7-4D4C-B9EE-780BA8D24E2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58" y="1014412"/>
            <a:ext cx="8955741" cy="2109787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10000"/>
              </a:spcBef>
              <a:spcAft>
                <a:spcPct val="20000"/>
              </a:spcAft>
              <a:buNone/>
            </a:pPr>
            <a:r>
              <a:rPr lang="en-US" alt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8-bit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instructions, is it possible to allow the following to be encoded?</a:t>
            </a:r>
          </a:p>
          <a:p>
            <a:pPr marL="1035050" lvl="1">
              <a:spcBef>
                <a:spcPct val="10000"/>
              </a:spcBef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with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3-bit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operands.</a:t>
            </a:r>
          </a:p>
          <a:p>
            <a:pPr marL="1035050" lvl="1">
              <a:spcBef>
                <a:spcPct val="10000"/>
              </a:spcBef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with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4-bit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operand.</a:t>
            </a:r>
          </a:p>
          <a:p>
            <a:pPr marL="1035050" lvl="1">
              <a:spcBef>
                <a:spcPct val="10000"/>
              </a:spcBef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with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3-bit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operand.</a:t>
            </a:r>
          </a:p>
        </p:txBody>
      </p:sp>
      <p:sp>
        <p:nvSpPr>
          <p:cNvPr id="93194" name="Text Box 6"/>
          <p:cNvSpPr txBox="1">
            <a:spLocks noChangeArrowheads="1"/>
          </p:cNvSpPr>
          <p:nvPr/>
        </p:nvSpPr>
        <p:spPr bwMode="auto">
          <a:xfrm>
            <a:off x="35858" y="4495800"/>
            <a:ext cx="6277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15000"/>
              </a:spcBef>
              <a:buFontTx/>
              <a:buNone/>
            </a:pPr>
            <a:r>
              <a:rPr lang="en-US" altLang="en-US" sz="2400" baseline="0" dirty="0">
                <a:sym typeface="Symbol" panose="05050102010706020507" pitchFamily="18" charset="2"/>
              </a:rPr>
              <a:t>The total bit patterns required are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256</a:t>
            </a:r>
            <a:r>
              <a:rPr lang="en-US" altLang="en-US" sz="2400" baseline="0" dirty="0">
                <a:sym typeface="Symbol" panose="05050102010706020507" pitchFamily="18" charset="2"/>
              </a:rPr>
              <a:t> bit patterns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-42305" y="3008739"/>
            <a:ext cx="61189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15000"/>
              </a:spcBef>
              <a:buFontTx/>
              <a:buNone/>
            </a:pPr>
            <a:r>
              <a:rPr lang="en-US" altLang="en-US" sz="2400" baseline="0" dirty="0">
                <a:sym typeface="Symbol" panose="05050102010706020507" pitchFamily="18" charset="2"/>
              </a:rPr>
              <a:t>The </a:t>
            </a: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bit patterns </a:t>
            </a:r>
            <a:r>
              <a:rPr lang="en-US" altLang="en-US" sz="2400" baseline="0" dirty="0">
                <a:sym typeface="Symbol" panose="05050102010706020507" pitchFamily="18" charset="2"/>
              </a:rPr>
              <a:t>required for each category are: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81000" y="3429000"/>
            <a:ext cx="861059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33363" indent="-233363">
              <a:spcBef>
                <a:spcPct val="15000"/>
              </a:spcBef>
              <a:buFont typeface="Wingdings" panose="05000000000000000000" pitchFamily="2" charset="2"/>
              <a:buChar char="§"/>
            </a:pPr>
            <a:r>
              <a:rPr lang="en-US" altLang="en-US" sz="2000" baseline="0" dirty="0">
                <a:cs typeface="Times New Roman" panose="02020603050405020304" pitchFamily="18" charset="0"/>
              </a:rPr>
              <a:t>For the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3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instructions with </a:t>
            </a:r>
            <a:r>
              <a:rPr lang="en-US" altLang="en-US" sz="20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two</a:t>
            </a:r>
            <a:r>
              <a:rPr lang="en-US" altLang="en-US" sz="20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3-bit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operands - 3 </a:t>
            </a:r>
            <a:r>
              <a:rPr lang="en-US" altLang="en-US" sz="2000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2</a:t>
            </a:r>
            <a:r>
              <a:rPr lang="en-US" altLang="en-US" sz="2000" dirty="0">
                <a:cs typeface="Times New Roman" panose="02020603050405020304" pitchFamily="18" charset="0"/>
              </a:rPr>
              <a:t>3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</a:t>
            </a:r>
            <a:r>
              <a:rPr lang="en-US" altLang="en-US" sz="2000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2</a:t>
            </a:r>
            <a:r>
              <a:rPr lang="en-US" altLang="en-US" sz="2000" dirty="0">
                <a:cs typeface="Times New Roman" panose="02020603050405020304" pitchFamily="18" charset="0"/>
              </a:rPr>
              <a:t>3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=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192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bit patterns</a:t>
            </a:r>
          </a:p>
          <a:p>
            <a:pPr marL="233363" indent="-233363">
              <a:spcBef>
                <a:spcPct val="15000"/>
              </a:spcBef>
              <a:buFont typeface="Wingdings" panose="05000000000000000000" pitchFamily="2" charset="2"/>
              <a:buChar char="§"/>
            </a:pPr>
            <a:r>
              <a:rPr lang="en-US" altLang="en-US" sz="2000" baseline="0" dirty="0">
                <a:cs typeface="Times New Roman" panose="02020603050405020304" pitchFamily="18" charset="0"/>
              </a:rPr>
              <a:t>For the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2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instructions with </a:t>
            </a:r>
            <a:r>
              <a:rPr lang="en-US" altLang="en-US" sz="20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one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4-bit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operand   - 2 </a:t>
            </a:r>
            <a:r>
              <a:rPr lang="en-US" altLang="en-US" sz="2000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2</a:t>
            </a:r>
            <a:r>
              <a:rPr lang="en-US" altLang="en-US" sz="2000" dirty="0">
                <a:cs typeface="Times New Roman" panose="02020603050405020304" pitchFamily="18" charset="0"/>
              </a:rPr>
              <a:t>4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=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32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bit patterns</a:t>
            </a:r>
          </a:p>
          <a:p>
            <a:pPr marL="233363" indent="-233363">
              <a:spcBef>
                <a:spcPct val="15000"/>
              </a:spcBef>
              <a:buFont typeface="Wingdings" panose="05000000000000000000" pitchFamily="2" charset="2"/>
              <a:buChar char="§"/>
            </a:pPr>
            <a:r>
              <a:rPr lang="en-US" altLang="en-US" sz="2000" baseline="0" dirty="0">
                <a:cs typeface="Times New Roman" panose="02020603050405020304" pitchFamily="18" charset="0"/>
              </a:rPr>
              <a:t>For the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4 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instructions with </a:t>
            </a:r>
            <a:r>
              <a:rPr lang="en-US" altLang="en-US" sz="20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one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3-bit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operand   - 4 </a:t>
            </a:r>
            <a:r>
              <a:rPr lang="en-US" altLang="en-US" sz="2000" baseline="0" dirty="0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2</a:t>
            </a:r>
            <a:r>
              <a:rPr lang="en-US" altLang="en-US" sz="2000" dirty="0">
                <a:cs typeface="Times New Roman" panose="02020603050405020304" pitchFamily="18" charset="0"/>
              </a:rPr>
              <a:t>3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=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32</a:t>
            </a:r>
            <a:r>
              <a:rPr lang="en-US" altLang="en-US" sz="2000" baseline="0" dirty="0">
                <a:cs typeface="Times New Roman" panose="02020603050405020304" pitchFamily="18" charset="0"/>
              </a:rPr>
              <a:t> bit patterns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7053" y="4976824"/>
            <a:ext cx="5695485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Therefore, to be able to have </a:t>
            </a:r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256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different patterns </a:t>
            </a:r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 bits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required (</a:t>
            </a:r>
            <a:r>
              <a:rPr lang="en-US" sz="2400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256=2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371600" y="5936159"/>
            <a:ext cx="2955262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15000"/>
              </a:spcBef>
              <a:buFontTx/>
              <a:buNone/>
            </a:pPr>
            <a:r>
              <a:rPr lang="en-US" altLang="en-US" sz="2200" b="1" baseline="0" dirty="0">
                <a:solidFill>
                  <a:srgbClr val="CC3300"/>
                </a:solidFill>
              </a:rPr>
              <a:t>One such encoding is shown on the next slide</a:t>
            </a:r>
            <a:endParaRPr lang="en-US" altLang="en-US" sz="2000" baseline="0" dirty="0"/>
          </a:p>
        </p:txBody>
      </p:sp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3121510" y="420737"/>
            <a:ext cx="2971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b="1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Your Self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5A60492-E250-F4E5-66A5-5D3EDADEA4C0}"/>
              </a:ext>
            </a:extLst>
          </p:cNvPr>
          <p:cNvSpPr/>
          <p:nvPr/>
        </p:nvSpPr>
        <p:spPr bwMode="auto">
          <a:xfrm>
            <a:off x="6248400" y="5124818"/>
            <a:ext cx="609600" cy="535007"/>
          </a:xfrm>
          <a:prstGeom prst="rightArrow">
            <a:avLst/>
          </a:prstGeom>
          <a:solidFill>
            <a:srgbClr val="93B9DF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D44EE-3535-377B-312B-A768066DF6E5}"/>
              </a:ext>
            </a:extLst>
          </p:cNvPr>
          <p:cNvSpPr txBox="1"/>
          <p:nvPr/>
        </p:nvSpPr>
        <p:spPr>
          <a:xfrm>
            <a:off x="6858000" y="4976824"/>
            <a:ext cx="175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Assumption is TRUE</a:t>
            </a: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5F276A78-7ED7-66B9-82BF-6B1208ABF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268" y="2143140"/>
            <a:ext cx="2879064" cy="76944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15000"/>
              </a:spcBef>
              <a:buFontTx/>
              <a:buNone/>
            </a:pPr>
            <a:r>
              <a:rPr lang="en-US" altLang="en-US" sz="2200" b="1" baseline="0" dirty="0">
                <a:solidFill>
                  <a:srgbClr val="CC3300"/>
                </a:solidFill>
              </a:rPr>
              <a:t>See Examples 5.9 and 5.10 in the Textbook</a:t>
            </a:r>
            <a:endParaRPr lang="en-US" altLang="en-US" sz="2000" baseline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/>
      <p:bldP spid="93194" grpId="0"/>
      <p:bldP spid="11" grpId="0"/>
      <p:bldP spid="12" grpId="0"/>
      <p:bldP spid="2" grpId="0" animBg="1"/>
      <p:bldP spid="14" grpId="0" animBg="1"/>
      <p:bldP spid="3" grpId="0" animBg="1"/>
      <p:bldP spid="4" grpId="0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9A4AEE-0692-4541-AFE8-858D2ACC236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5.2 Instruction Formats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3121510" y="420737"/>
            <a:ext cx="2971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 b="1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Your Self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168763"/>
              </p:ext>
            </p:extLst>
          </p:nvPr>
        </p:nvGraphicFramePr>
        <p:xfrm>
          <a:off x="152400" y="1996440"/>
          <a:ext cx="281940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8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4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52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52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2400" y="1427202"/>
            <a:ext cx="26535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baseline="0" dirty="0"/>
              <a:t> instructions with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en-US" baseline="0" dirty="0">
                <a:solidFill>
                  <a:srgbClr val="0070C0"/>
                </a:solidFill>
              </a:rPr>
              <a:t>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3-bit</a:t>
            </a:r>
            <a:r>
              <a:rPr lang="en-US" baseline="0" dirty="0"/>
              <a:t> operands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161040"/>
              </p:ext>
            </p:extLst>
          </p:nvPr>
        </p:nvGraphicFramePr>
        <p:xfrm>
          <a:off x="3309231" y="1996440"/>
          <a:ext cx="2756647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23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2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449170" y="1427202"/>
            <a:ext cx="2514600" cy="55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aseline="0" dirty="0"/>
              <a:t> instructions with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4-bit</a:t>
            </a:r>
            <a:r>
              <a:rPr lang="en-US" baseline="0" dirty="0"/>
              <a:t> operand</a:t>
            </a:r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964933"/>
              </p:ext>
            </p:extLst>
          </p:nvPr>
        </p:nvGraphicFramePr>
        <p:xfrm>
          <a:off x="6291610" y="1996440"/>
          <a:ext cx="2756647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23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2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93449" y="1427202"/>
            <a:ext cx="2590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baseline="0" dirty="0"/>
              <a:t> instructions with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3-bit</a:t>
            </a:r>
            <a:r>
              <a:rPr lang="en-US" baseline="0" dirty="0"/>
              <a:t> operand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79176" y="3820835"/>
            <a:ext cx="65980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aseline="0" dirty="0"/>
              <a:t>If (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leftmost two bits</a:t>
            </a:r>
            <a:r>
              <a:rPr lang="en-US" sz="2200" baseline="0" dirty="0"/>
              <a:t> != </a:t>
            </a:r>
            <a:r>
              <a:rPr 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r>
              <a:rPr lang="en-US" sz="2200" baseline="0" dirty="0"/>
              <a:t>)</a:t>
            </a:r>
          </a:p>
          <a:p>
            <a:pPr marL="341313"/>
            <a:r>
              <a:rPr lang="en-US" sz="2200" baseline="0" dirty="0"/>
              <a:t>Execute appropriate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3-bit address</a:t>
            </a:r>
            <a:r>
              <a:rPr lang="en-US" sz="2200" baseline="0" dirty="0"/>
              <a:t> </a:t>
            </a:r>
            <a:r>
              <a:rPr 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</a:t>
            </a:r>
          </a:p>
          <a:p>
            <a:r>
              <a:rPr lang="en-US" sz="2200" baseline="0" dirty="0"/>
              <a:t>else if (</a:t>
            </a:r>
            <a:r>
              <a:rPr lang="en-US" sz="22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leftmost three bits </a:t>
            </a:r>
            <a:r>
              <a:rPr lang="en-US" sz="2200" baseline="0" dirty="0"/>
              <a:t>!= </a:t>
            </a:r>
            <a:r>
              <a:rPr lang="en-US" sz="22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111</a:t>
            </a:r>
            <a:r>
              <a:rPr lang="en-US" sz="2200" baseline="0" dirty="0"/>
              <a:t>)</a:t>
            </a:r>
          </a:p>
          <a:p>
            <a:pPr marL="341313"/>
            <a:r>
              <a:rPr lang="en-US" sz="2200" baseline="0" dirty="0"/>
              <a:t>Execute appropriate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</a:t>
            </a:r>
            <a:r>
              <a:rPr 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4-bit address instruction</a:t>
            </a:r>
          </a:p>
          <a:p>
            <a:r>
              <a:rPr lang="en-US" sz="2200" baseline="0" dirty="0"/>
              <a:t>else</a:t>
            </a:r>
          </a:p>
          <a:p>
            <a:pPr marL="341313"/>
            <a:r>
              <a:rPr lang="en-US" sz="2200" baseline="0" dirty="0"/>
              <a:t>Execute appropriate </a:t>
            </a:r>
            <a:r>
              <a:rPr lang="en-US" sz="22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</a:t>
            </a:r>
            <a:r>
              <a:rPr lang="en-US" sz="22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3-bit address instruction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5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CDCD60-F988-4073-B4DE-92A925C346A6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5.3 Instruction types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" y="762000"/>
            <a:ext cx="9067800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100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fall into several broad categories that you should be familiar with: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" y="1600200"/>
            <a:ext cx="8537448" cy="3268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lvl="1" indent="-171450">
              <a:buFont typeface="Arial" panose="020B0604020202020204" pitchFamily="34" charset="0"/>
              <a:buChar char="•"/>
            </a:pP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Data movement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(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memory to register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register to register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and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register to memory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).</a:t>
            </a:r>
          </a:p>
          <a:p>
            <a:pPr marL="231775" lvl="1" indent="-182563">
              <a:spcBef>
                <a:spcPct val="10000"/>
              </a:spcBef>
              <a:buFontTx/>
              <a:buChar char="•"/>
            </a:pP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Arithmetic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(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Add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Subtract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…..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).</a:t>
            </a:r>
          </a:p>
          <a:p>
            <a:pPr marL="231775" lvl="1" indent="-182563">
              <a:spcBef>
                <a:spcPct val="10000"/>
              </a:spcBef>
              <a:buFontTx/>
              <a:buChar char="•"/>
            </a:pP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Boolean</a:t>
            </a:r>
            <a:r>
              <a:rPr lang="en-US" altLang="en-US" sz="24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(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AND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OR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…..).</a:t>
            </a:r>
          </a:p>
          <a:p>
            <a:pPr marL="231775" lvl="1" indent="-182563">
              <a:spcBef>
                <a:spcPct val="10000"/>
              </a:spcBef>
              <a:buFontTx/>
              <a:buChar char="•"/>
            </a:pP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Bit manipulation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(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shift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rotate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…).</a:t>
            </a:r>
          </a:p>
          <a:p>
            <a:pPr marL="231775" lvl="1" indent="-182563">
              <a:spcBef>
                <a:spcPct val="10000"/>
              </a:spcBef>
              <a:buFontTx/>
              <a:buChar char="•"/>
            </a:pP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I/O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(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transferring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 from or to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 device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or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port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).</a:t>
            </a:r>
          </a:p>
          <a:p>
            <a:pPr marL="231775" lvl="1" indent="-182563">
              <a:spcBef>
                <a:spcPct val="10000"/>
              </a:spcBef>
              <a:buFontTx/>
              <a:buChar char="•"/>
            </a:pP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Control transfer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(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Skip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Jump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</a:t>
            </a:r>
            <a:r>
              <a:rPr lang="en-US" altLang="en-US" sz="2400" b="1" baseline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JnS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, …).</a:t>
            </a:r>
          </a:p>
          <a:p>
            <a:pPr marL="231775" lvl="1" indent="-182563">
              <a:spcBef>
                <a:spcPct val="10000"/>
              </a:spcBef>
              <a:buFontTx/>
              <a:buChar char="•"/>
            </a:pP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Special purpose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(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any other operations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build="p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8AFC44-8382-4C69-96B6-AFE14D483CB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5.4 Addressing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3048" y="533401"/>
            <a:ext cx="9147048" cy="19812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171450" indent="-171450">
              <a:spcBef>
                <a:spcPct val="30000"/>
              </a:spcBef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modes specify where an </a:t>
            </a:r>
            <a:r>
              <a:rPr lang="en-US" altLang="en-US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operand is located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Bef>
                <a:spcPct val="30000"/>
              </a:spcBef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specify a </a:t>
            </a:r>
            <a:r>
              <a:rPr lang="en-US" altLang="en-US" sz="21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altLang="en-US" sz="21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 </a:t>
            </a:r>
            <a:r>
              <a:rPr lang="en-US" altLang="en-US" sz="21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memory location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Bef>
                <a:spcPct val="30000"/>
              </a:spcBef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location of an operand is its </a:t>
            </a:r>
            <a:r>
              <a:rPr lang="en-US" altLang="en-US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effective address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Bef>
                <a:spcPct val="30000"/>
              </a:spcBef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addressing modes allow us to determine the address of an operand dynamically.</a:t>
            </a:r>
            <a:endParaRPr lang="en-US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3048" y="3443288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Addressing Modes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3886200"/>
            <a:ext cx="9144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indent="-169863"/>
            <a:r>
              <a:rPr lang="en-US" altLang="en-US" sz="21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Immediate addressing 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where the data is part of the instruction.</a:t>
            </a:r>
          </a:p>
          <a:p>
            <a:pPr marL="169863" indent="-169863"/>
            <a:r>
              <a:rPr lang="en-US" altLang="en-US" sz="21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Direct addressing 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where the address of the data is given in the instruction.</a:t>
            </a:r>
          </a:p>
          <a:p>
            <a:pPr marL="169863" indent="-169863"/>
            <a:r>
              <a:rPr lang="en-US" altLang="en-US" sz="21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Register addressing 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where the data is located in a register.</a:t>
            </a:r>
          </a:p>
          <a:p>
            <a:pPr marL="169863" indent="-169863"/>
            <a:r>
              <a:rPr lang="en-US" altLang="en-US" sz="21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Indirect addressing 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the address of the address of the data in the instruction.</a:t>
            </a:r>
          </a:p>
          <a:p>
            <a:pPr marL="169863" indent="-169863"/>
            <a:r>
              <a:rPr lang="en-US" altLang="en-US" sz="21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Register indirect addressing 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register to store the address of the address of the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14136"/>
            <a:ext cx="914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aseline="0" dirty="0"/>
              <a:t>The </a:t>
            </a:r>
            <a:r>
              <a:rPr lang="en-US" sz="21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12-bit</a:t>
            </a:r>
            <a:r>
              <a:rPr lang="en-US" sz="2100" baseline="0" dirty="0"/>
              <a:t> of the </a:t>
            </a:r>
            <a:r>
              <a:rPr lang="en-US" sz="21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MARIE</a:t>
            </a:r>
            <a:r>
              <a:rPr lang="en-US" sz="2100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100" baseline="0" dirty="0"/>
              <a:t>instruction can be interpreted in many way, thus providing us with several </a:t>
            </a:r>
            <a:r>
              <a:rPr lang="en-US" sz="21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 addressing modes</a:t>
            </a:r>
            <a:r>
              <a:rPr lang="en-US" sz="2100" baseline="0" dirty="0"/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/>
      <p:bldP spid="2" grpId="0"/>
      <p:bldP spid="6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B09107-18BC-4A16-9227-9A7AEF366E06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5.4 Addressing</a:t>
            </a:r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2" y="533400"/>
            <a:ext cx="9139518" cy="31242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169863" indent="-169863"/>
            <a:r>
              <a:rPr lang="en-US" altLang="en-US" sz="21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Indexed addressing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register (</a:t>
            </a:r>
            <a:r>
              <a:rPr lang="en-US" altLang="en-US" sz="21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implicitly</a:t>
            </a:r>
            <a:r>
              <a:rPr lang="en-US" altLang="en-US" sz="2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en-US" sz="21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explicitly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an offset, which is added to the address in the operand to determine the effective address of the data. (e.g. address </a:t>
            </a:r>
            <a:r>
              <a:rPr lang="en-US" alt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altLang="en-US" sz="21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 register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</a:t>
            </a:r>
            <a:r>
              <a:rPr lang="en-US" alt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US" altLang="en-US" sz="21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effective address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X+1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9863" indent="-169863"/>
            <a:r>
              <a:rPr lang="en-US" altLang="en-US" sz="21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Based addressing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similar as </a:t>
            </a:r>
            <a:r>
              <a:rPr lang="en-US" alt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indexed addressing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 that a base register is used instead of an index register.</a:t>
            </a:r>
          </a:p>
          <a:p>
            <a:pPr marL="169863" indent="-169863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1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en-US" altLang="en-US" sz="2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these two is that an </a:t>
            </a:r>
            <a:r>
              <a:rPr lang="en-US" altLang="en-US" sz="21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 register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an </a:t>
            </a:r>
            <a:r>
              <a:rPr lang="en-US" altLang="en-US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offset relative to the address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in the instruction, a </a:t>
            </a:r>
            <a:r>
              <a:rPr lang="en-US" altLang="en-US" sz="21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 register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a </a:t>
            </a:r>
            <a:r>
              <a:rPr lang="en-US" altLang="en-US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 address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the address field represents a displacement from this base.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3675609"/>
            <a:ext cx="8991600" cy="2496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indent="-169863"/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1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stack addressing 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operand is assumed to be on top of the stack.</a:t>
            </a:r>
          </a:p>
          <a:p>
            <a:pPr marL="169863" indent="-169863"/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variations to these </a:t>
            </a:r>
            <a:r>
              <a:rPr lang="en-US" altLang="en-US" sz="21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addressing modes 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including:</a:t>
            </a:r>
          </a:p>
          <a:p>
            <a:pPr marL="1035050" lvl="1">
              <a:spcBef>
                <a:spcPts val="0"/>
              </a:spcBef>
            </a:pP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indexed (</a:t>
            </a:r>
            <a:r>
              <a:rPr lang="en-US" altLang="en-US" sz="2100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uses indirect and indexed addressing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35050" lvl="1">
              <a:spcBef>
                <a:spcPts val="0"/>
              </a:spcBef>
            </a:pP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Base/offset (</a:t>
            </a:r>
            <a:r>
              <a:rPr lang="en-US" altLang="en-US" sz="2100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adds an offset to a specific base register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35050" lvl="1">
              <a:spcBef>
                <a:spcPts val="0"/>
              </a:spcBef>
            </a:pP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Self-relative (</a:t>
            </a:r>
            <a:r>
              <a:rPr lang="en-US" altLang="en-US" sz="2100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computes the address as an offset from current instruction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35050" lvl="1">
              <a:spcBef>
                <a:spcPts val="0"/>
              </a:spcBef>
            </a:pP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increment/decrement (</a:t>
            </a:r>
            <a:r>
              <a:rPr lang="en-US" altLang="en-US" sz="2100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increment or decrement the register containing address</a:t>
            </a:r>
            <a:r>
              <a:rPr lang="en-US" altLang="en-US" sz="2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181600" y="6092279"/>
            <a:ext cx="3962400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15000"/>
              </a:spcBef>
              <a:buFontTx/>
              <a:buNone/>
            </a:pPr>
            <a:r>
              <a:rPr lang="en-US" altLang="en-US" sz="2200" b="1" baseline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look at an example of the principal addressing modes.</a:t>
            </a:r>
            <a:endParaRPr lang="en-US" altLang="en-US" sz="20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/>
      <p:bldP spid="5" grpId="0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1725B7-7F05-420D-89BA-5B9ECFC83CF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5943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5.4 Addressing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592138"/>
            <a:ext cx="8991600" cy="831735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instruction shown, what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value is loaded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accumulator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</a:t>
            </a:r>
            <a:r>
              <a:rPr lang="en-US" alt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addressing mode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7200" y="1676400"/>
            <a:ext cx="3931920" cy="3803650"/>
            <a:chOff x="76200" y="1112683"/>
            <a:chExt cx="3931920" cy="3803650"/>
          </a:xfrm>
        </p:grpSpPr>
        <p:pic>
          <p:nvPicPr>
            <p:cNvPr id="109573" name="Picture 6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5" r="51178"/>
            <a:stretch/>
          </p:blipFill>
          <p:spPr bwMode="auto">
            <a:xfrm>
              <a:off x="76200" y="1112683"/>
              <a:ext cx="3931920" cy="3803650"/>
            </a:xfrm>
            <a:prstGeom prst="rect">
              <a:avLst/>
            </a:prstGeom>
            <a:solidFill>
              <a:srgbClr val="FFFFE6"/>
            </a:solidFill>
            <a:ln>
              <a:noFill/>
            </a:ln>
          </p:spPr>
        </p:pic>
        <p:sp>
          <p:nvSpPr>
            <p:cNvPr id="2" name="Rectangle 1"/>
            <p:cNvSpPr/>
            <p:nvPr/>
          </p:nvSpPr>
          <p:spPr bwMode="auto">
            <a:xfrm>
              <a:off x="3017520" y="2394159"/>
              <a:ext cx="990600" cy="2133600"/>
            </a:xfrm>
            <a:prstGeom prst="rect">
              <a:avLst/>
            </a:prstGeom>
            <a:solidFill>
              <a:srgbClr val="FFFFE6"/>
            </a:solidFill>
            <a:ln>
              <a:solidFill>
                <a:srgbClr val="FFFFFF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486400" y="1351905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 800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1066800" y="636963"/>
            <a:ext cx="2286000" cy="398462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512487" y="1427957"/>
            <a:ext cx="1345513" cy="398462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2261920"/>
            <a:ext cx="43608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baseline="0" dirty="0">
                <a:cs typeface="Times New Roman" panose="02020603050405020304" pitchFamily="18" charset="0"/>
              </a:rPr>
              <a:t>These are the values loaded into the accumulator for each addressing mode</a:t>
            </a: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9" t="37313" r="3371" b="4917"/>
          <a:stretch/>
        </p:blipFill>
        <p:spPr bwMode="auto">
          <a:xfrm>
            <a:off x="4572000" y="2987040"/>
            <a:ext cx="4297680" cy="219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 bwMode="auto">
          <a:xfrm>
            <a:off x="7330440" y="3815687"/>
            <a:ext cx="899160" cy="256480"/>
          </a:xfrm>
          <a:prstGeom prst="rect">
            <a:avLst/>
          </a:prstGeom>
          <a:solidFill>
            <a:srgbClr val="FFFF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352783" y="4108114"/>
            <a:ext cx="899160" cy="256480"/>
          </a:xfrm>
          <a:prstGeom prst="rect">
            <a:avLst/>
          </a:prstGeom>
          <a:solidFill>
            <a:srgbClr val="FFFF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7352783" y="4398475"/>
            <a:ext cx="899160" cy="256480"/>
          </a:xfrm>
          <a:prstGeom prst="rect">
            <a:avLst/>
          </a:prstGeom>
          <a:solidFill>
            <a:srgbClr val="FFFF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352783" y="4691921"/>
            <a:ext cx="899160" cy="256480"/>
          </a:xfrm>
          <a:prstGeom prst="rect">
            <a:avLst/>
          </a:prstGeom>
          <a:solidFill>
            <a:srgbClr val="FFFF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5194643" y="3832600"/>
            <a:ext cx="990600" cy="249648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5194643" y="4118253"/>
            <a:ext cx="990600" cy="249648"/>
          </a:xfrm>
          <a:prstGeom prst="rect">
            <a:avLst/>
          </a:prstGeom>
          <a:noFill/>
          <a:ln w="57150">
            <a:solidFill>
              <a:srgbClr val="0070C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519606" y="2261920"/>
            <a:ext cx="990600" cy="249648"/>
          </a:xfrm>
          <a:prstGeom prst="rect">
            <a:avLst/>
          </a:prstGeom>
          <a:noFill/>
          <a:ln w="57150">
            <a:solidFill>
              <a:srgbClr val="0070C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5194643" y="4410856"/>
            <a:ext cx="990600" cy="249648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519606" y="2907041"/>
            <a:ext cx="990600" cy="249648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5194643" y="4703459"/>
            <a:ext cx="990600" cy="249648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474720" y="2402829"/>
            <a:ext cx="792480" cy="302520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519606" y="4859758"/>
            <a:ext cx="990600" cy="249648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 build="p"/>
      <p:bldP spid="5" grpId="0"/>
      <p:bldP spid="7" grpId="0" animBg="1"/>
      <p:bldP spid="12" grpId="0" animBg="1"/>
      <p:bldP spid="8" grpId="0"/>
      <p:bldP spid="9" grpId="0" animBg="1"/>
      <p:bldP spid="9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3AC575-8D4B-4875-8CF4-10790C32D99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705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5.5 Instruction Pipelining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3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6200" y="685800"/>
            <a:ext cx="8991600" cy="31242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233363" indent="-233363">
              <a:spcBef>
                <a:spcPct val="4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CPUs divide the 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fetch-decode-execute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 into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smaller steps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33363" indent="-233363">
              <a:spcBef>
                <a:spcPct val="4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smaller steps can often be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parallel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increase throughput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PC. This method is used by all current CPUs.</a:t>
            </a:r>
          </a:p>
          <a:p>
            <a:pPr marL="233363" indent="-233363">
              <a:spcBef>
                <a:spcPct val="400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parallel execution is called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instruction pipelining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33363" indent="-233363">
              <a:spcBef>
                <a:spcPct val="40000"/>
              </a:spcBef>
            </a:pP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Instruction pipelining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exploit the </a:t>
            </a: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instruction level parallelism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2362200" y="4419600"/>
            <a:ext cx="44196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15000"/>
              </a:spcBef>
              <a:buFontTx/>
              <a:buNone/>
            </a:pPr>
            <a:r>
              <a:rPr lang="en-US" altLang="en-US" sz="2400" b="1" baseline="0" dirty="0">
                <a:solidFill>
                  <a:srgbClr val="CC3300"/>
                </a:solidFill>
              </a:rPr>
              <a:t>The next slide shows an example of instruction pipelining</a:t>
            </a:r>
            <a:endParaRPr lang="en-US" altLang="en-US" sz="2400" baseline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/>
      <p:bldP spid="11366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D64601-8974-4152-8D86-6D314A13699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117763" name="Rectangle 7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705600" cy="547688"/>
          </a:xfrm>
        </p:spPr>
        <p:txBody>
          <a:bodyPr/>
          <a:lstStyle/>
          <a:p>
            <a:r>
              <a:rPr lang="en-US" altLang="en-US" sz="3400" b="1" dirty="0">
                <a:latin typeface="Arial" panose="020B0604020202020204" pitchFamily="34" charset="0"/>
              </a:rPr>
              <a:t>5.5 Instruction Pipelining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4300" y="685800"/>
            <a:ext cx="891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pipelining </a:t>
            </a:r>
            <a:r>
              <a:rPr lang="en-US" sz="2400" baseline="0" dirty="0"/>
              <a:t>is </a:t>
            </a:r>
            <a:r>
              <a:rPr 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analogous</a:t>
            </a:r>
            <a:r>
              <a:rPr lang="en-US" sz="24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aseline="0" dirty="0"/>
              <a:t>to the </a:t>
            </a:r>
            <a:r>
              <a:rPr lang="en-US" sz="24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automobile assembly line</a:t>
            </a:r>
            <a:r>
              <a:rPr lang="en-US" sz="2400" baseline="0" dirty="0"/>
              <a:t>. Each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stage</a:t>
            </a:r>
            <a:r>
              <a:rPr lang="en-US" sz="2400" baseline="0" dirty="0"/>
              <a:t> in this line consists of a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parallel processes</a:t>
            </a:r>
            <a:r>
              <a:rPr lang="en-US" sz="2400" baseline="0" dirty="0"/>
              <a:t> and each stage is </a:t>
            </a:r>
            <a:r>
              <a:rPr 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dependent</a:t>
            </a:r>
            <a:r>
              <a:rPr lang="en-US" sz="2400" baseline="0" dirty="0"/>
              <a:t> on the output of the previous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" y="1886129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aseline="0" dirty="0"/>
              <a:t>Our goal always is to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balance</a:t>
            </a:r>
            <a:r>
              <a:rPr lang="en-US" sz="2400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execution time </a:t>
            </a:r>
            <a:r>
              <a:rPr lang="en-US" sz="2400" baseline="0" dirty="0"/>
              <a:t>of each pipelining stage with other pipelining stages to be </a:t>
            </a:r>
            <a:r>
              <a:rPr 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or less the same</a:t>
            </a:r>
            <a:r>
              <a:rPr lang="en-US" sz="2400" baseline="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746" y="2819400"/>
            <a:ext cx="3606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Laundry Machine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" y="3429001"/>
            <a:ext cx="1524000" cy="9541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aseline="0" dirty="0"/>
              <a:t>Washing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3429001"/>
            <a:ext cx="1524000" cy="9541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aseline="0" dirty="0"/>
              <a:t>Drying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429000"/>
            <a:ext cx="1524000" cy="9541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aseline="0" dirty="0"/>
              <a:t>Folding stage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07576" y="4486836"/>
            <a:ext cx="1524000" cy="515146"/>
            <a:chOff x="1098176" y="4619220"/>
            <a:chExt cx="1524000" cy="515146"/>
          </a:xfrm>
        </p:grpSpPr>
        <p:sp>
          <p:nvSpPr>
            <p:cNvPr id="5" name="Left-Right Arrow 4"/>
            <p:cNvSpPr/>
            <p:nvPr/>
          </p:nvSpPr>
          <p:spPr bwMode="auto">
            <a:xfrm>
              <a:off x="1098176" y="4619220"/>
              <a:ext cx="1524000" cy="304800"/>
            </a:xfrm>
            <a:prstGeom prst="leftRightArrow">
              <a:avLst>
                <a:gd name="adj1" fmla="val 38235"/>
                <a:gd name="adj2" fmla="val 50000"/>
              </a:avLst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74376" y="4857367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Time of execution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424953" y="4486836"/>
            <a:ext cx="1524000" cy="515146"/>
            <a:chOff x="1098176" y="4619220"/>
            <a:chExt cx="1524000" cy="515146"/>
          </a:xfrm>
        </p:grpSpPr>
        <p:sp>
          <p:nvSpPr>
            <p:cNvPr id="18" name="Left-Right Arrow 17"/>
            <p:cNvSpPr/>
            <p:nvPr/>
          </p:nvSpPr>
          <p:spPr bwMode="auto">
            <a:xfrm>
              <a:off x="1098176" y="4619220"/>
              <a:ext cx="1524000" cy="304800"/>
            </a:xfrm>
            <a:prstGeom prst="leftRightArrow">
              <a:avLst>
                <a:gd name="adj1" fmla="val 38235"/>
                <a:gd name="adj2" fmla="val 50000"/>
              </a:avLst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74376" y="4857367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Time of execution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800600" y="4486836"/>
            <a:ext cx="1524000" cy="515146"/>
            <a:chOff x="1098176" y="4619220"/>
            <a:chExt cx="1524000" cy="515146"/>
          </a:xfrm>
        </p:grpSpPr>
        <p:sp>
          <p:nvSpPr>
            <p:cNvPr id="21" name="Left-Right Arrow 20"/>
            <p:cNvSpPr/>
            <p:nvPr/>
          </p:nvSpPr>
          <p:spPr bwMode="auto">
            <a:xfrm>
              <a:off x="1098176" y="4619220"/>
              <a:ext cx="1524000" cy="304800"/>
            </a:xfrm>
            <a:prstGeom prst="leftRightArrow">
              <a:avLst>
                <a:gd name="adj1" fmla="val 38235"/>
                <a:gd name="adj2" fmla="val 50000"/>
              </a:avLst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74376" y="4857367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Time of execution</a:t>
              </a:r>
            </a:p>
          </p:txBody>
        </p:sp>
      </p:grpSp>
      <p:cxnSp>
        <p:nvCxnSpPr>
          <p:cNvPr id="12" name="Straight Arrow Connector 11"/>
          <p:cNvCxnSpPr>
            <a:endCxn id="6" idx="2"/>
          </p:cNvCxnSpPr>
          <p:nvPr/>
        </p:nvCxnSpPr>
        <p:spPr bwMode="auto">
          <a:xfrm flipV="1">
            <a:off x="869576" y="5001982"/>
            <a:ext cx="0" cy="352034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Arrow Connector 24"/>
          <p:cNvCxnSpPr>
            <a:endCxn id="19" idx="2"/>
          </p:cNvCxnSpPr>
          <p:nvPr/>
        </p:nvCxnSpPr>
        <p:spPr bwMode="auto">
          <a:xfrm flipV="1">
            <a:off x="3186953" y="5001982"/>
            <a:ext cx="0" cy="352034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>
            <a:endCxn id="22" idx="2"/>
          </p:cNvCxnSpPr>
          <p:nvPr/>
        </p:nvCxnSpPr>
        <p:spPr bwMode="auto">
          <a:xfrm flipV="1">
            <a:off x="5562600" y="5001982"/>
            <a:ext cx="0" cy="352034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869576" y="5354016"/>
            <a:ext cx="4693024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/>
          <p:cNvSpPr txBox="1"/>
          <p:nvPr/>
        </p:nvSpPr>
        <p:spPr>
          <a:xfrm>
            <a:off x="1109382" y="5385717"/>
            <a:ext cx="4300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aseline="0" dirty="0"/>
              <a:t>These times should be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equal</a:t>
            </a:r>
            <a:r>
              <a:rPr lang="en-US" baseline="0" dirty="0">
                <a:solidFill>
                  <a:srgbClr val="C00000"/>
                </a:solidFill>
              </a:rPr>
              <a:t> </a:t>
            </a:r>
            <a:r>
              <a:rPr lang="en-US" baseline="0" dirty="0"/>
              <a:t>in order to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minimize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waiting time </a:t>
            </a:r>
            <a:r>
              <a:rPr lang="en-US" baseline="0" dirty="0"/>
              <a:t>between stages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2177" y="3248561"/>
            <a:ext cx="27118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aseline="0" dirty="0"/>
              <a:t>Knowing that each stage contains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processes</a:t>
            </a:r>
            <a:r>
              <a:rPr lang="en-US" baseline="0" dirty="0"/>
              <a:t> that are carried out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parallel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3" grpId="0"/>
      <p:bldP spid="4" grpId="0" animBg="1"/>
      <p:bldP spid="10" grpId="0" animBg="1"/>
      <p:bldP spid="11" grpId="0" animBg="1"/>
      <p:bldP spid="26" grpId="0"/>
      <p:bldP spid="2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74B4AD-D662-4C98-8818-6FEA19E2D5E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2791202"/>
            <a:ext cx="8382000" cy="2771398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a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six-stage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pipeline.  </a:t>
            </a:r>
          </a:p>
          <a:p>
            <a:pPr marL="735013" lvl="1" indent="-334963">
              <a:spcBef>
                <a:spcPts val="0"/>
              </a:spcBef>
            </a:pP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fetches the instruction, </a:t>
            </a:r>
          </a:p>
          <a:p>
            <a:pPr marL="735013" lvl="1" indent="-334963">
              <a:spcBef>
                <a:spcPts val="0"/>
              </a:spcBef>
            </a:pP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decodes it, </a:t>
            </a:r>
          </a:p>
          <a:p>
            <a:pPr marL="735013" lvl="1" indent="-334963">
              <a:spcBef>
                <a:spcPts val="0"/>
              </a:spcBef>
            </a:pP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the address of the operands, </a:t>
            </a:r>
          </a:p>
          <a:p>
            <a:pPr marL="735013" lvl="1" indent="-334963">
              <a:spcBef>
                <a:spcPts val="0"/>
              </a:spcBef>
            </a:pP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S4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them, </a:t>
            </a:r>
          </a:p>
          <a:p>
            <a:pPr marL="735013" lvl="1" indent="-334963">
              <a:spcBef>
                <a:spcPts val="0"/>
              </a:spcBef>
            </a:pP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S5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executes the instruction, </a:t>
            </a:r>
          </a:p>
          <a:p>
            <a:pPr marL="735013" lvl="1" indent="-334963">
              <a:spcBef>
                <a:spcPts val="0"/>
              </a:spcBef>
            </a:pPr>
            <a:r>
              <a:rPr lang="en-US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S6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the result.</a:t>
            </a:r>
          </a:p>
        </p:txBody>
      </p:sp>
      <p:sp>
        <p:nvSpPr>
          <p:cNvPr id="113668" name="Text Box 5"/>
          <p:cNvSpPr txBox="1">
            <a:spLocks noChangeArrowheads="1"/>
          </p:cNvSpPr>
          <p:nvPr/>
        </p:nvSpPr>
        <p:spPr bwMode="auto">
          <a:xfrm>
            <a:off x="304800" y="1524000"/>
            <a:ext cx="8534400" cy="110799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42265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42265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422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5000"/>
              </a:lnSpc>
              <a:spcBef>
                <a:spcPct val="10000"/>
              </a:spcBef>
              <a:buFontTx/>
              <a:buNone/>
              <a:defRPr/>
            </a:pPr>
            <a:r>
              <a:rPr lang="en-US" altLang="en-US" sz="2400" baseline="0" dirty="0"/>
              <a:t>1.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</a:t>
            </a:r>
            <a:r>
              <a:rPr lang="en-US" altLang="en-US" sz="2400" baseline="0" dirty="0"/>
              <a:t> instruction.				4.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</a:t>
            </a:r>
            <a:r>
              <a:rPr lang="en-US" altLang="en-US" sz="2400" baseline="0" dirty="0"/>
              <a:t> operands.</a:t>
            </a:r>
          </a:p>
          <a:p>
            <a:pPr>
              <a:lnSpc>
                <a:spcPct val="85000"/>
              </a:lnSpc>
              <a:spcBef>
                <a:spcPct val="10000"/>
              </a:spcBef>
              <a:buFontTx/>
              <a:buNone/>
              <a:defRPr/>
            </a:pPr>
            <a:r>
              <a:rPr lang="en-US" altLang="en-US" sz="2400" baseline="0" dirty="0"/>
              <a:t>2.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Decode</a:t>
            </a:r>
            <a:r>
              <a:rPr lang="en-US" altLang="en-US" sz="2400" baseline="0" dirty="0"/>
              <a:t> opcode.				5.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</a:t>
            </a:r>
            <a:r>
              <a:rPr lang="en-US" altLang="en-US" sz="2400" baseline="0" dirty="0"/>
              <a:t> instruction.</a:t>
            </a:r>
          </a:p>
          <a:p>
            <a:pPr>
              <a:lnSpc>
                <a:spcPct val="85000"/>
              </a:lnSpc>
              <a:spcBef>
                <a:spcPct val="10000"/>
              </a:spcBef>
              <a:buNone/>
              <a:defRPr/>
            </a:pPr>
            <a:r>
              <a:rPr lang="en-US" altLang="en-US" sz="2400" baseline="0" dirty="0"/>
              <a:t>3.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en-US" altLang="en-US" sz="2400" baseline="0" dirty="0"/>
              <a:t> effective address of operands.	6. </a:t>
            </a:r>
            <a:r>
              <a:rPr lang="en-US" altLang="en-US" sz="24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</a:t>
            </a:r>
            <a:r>
              <a:rPr lang="en-US" altLang="en-US" sz="2400" baseline="0" dirty="0"/>
              <a:t> result.</a:t>
            </a:r>
          </a:p>
        </p:txBody>
      </p:sp>
      <p:sp>
        <p:nvSpPr>
          <p:cNvPr id="119813" name="Rectangle 7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705600" cy="547688"/>
          </a:xfrm>
        </p:spPr>
        <p:txBody>
          <a:bodyPr/>
          <a:lstStyle/>
          <a:p>
            <a:r>
              <a:rPr lang="en-US" altLang="en-US" sz="3400" b="1" dirty="0">
                <a:latin typeface="Arial" panose="020B0604020202020204" pitchFamily="34" charset="0"/>
              </a:rPr>
              <a:t>5.5 Instruction Pipelining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" y="578703"/>
            <a:ext cx="8915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en-US" sz="2400" baseline="0" dirty="0">
                <a:cs typeface="Times New Roman" panose="02020603050405020304" pitchFamily="18" charset="0"/>
              </a:rPr>
              <a:t>Suppose a</a:t>
            </a:r>
            <a:r>
              <a:rPr lang="en-US" altLang="en-US" sz="2400" b="1" baseline="0" dirty="0">
                <a:cs typeface="Times New Roman" panose="02020603050405020304" pitchFamily="18" charset="0"/>
              </a:rPr>
              <a:t> </a:t>
            </a:r>
            <a:r>
              <a:rPr lang="en-US" altLang="en-US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fetch-decode-execute</a:t>
            </a:r>
            <a:r>
              <a:rPr lang="en-US" altLang="en-US" sz="2400" b="1" baseline="0" dirty="0">
                <a:cs typeface="Times New Roman" panose="02020603050405020304" pitchFamily="18" charset="0"/>
              </a:rPr>
              <a:t>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cycle were </a:t>
            </a:r>
            <a:r>
              <a:rPr lang="en-US" altLang="en-US" sz="2400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broken into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the following </a:t>
            </a:r>
            <a:r>
              <a:rPr lang="en-US" altLang="en-US" sz="24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smaller</a:t>
            </a:r>
            <a:r>
              <a:rPr lang="en-US" altLang="en-US" sz="24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400" baseline="0" dirty="0">
                <a:cs typeface="Times New Roman" panose="02020603050405020304" pitchFamily="18" charset="0"/>
              </a:rPr>
              <a:t>steps: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/>
      <p:bldP spid="113668" grpId="0" animBg="1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705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5.5 Instruction Pipelining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184" y="596994"/>
            <a:ext cx="8915400" cy="469806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clock cycle, one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small step is carried out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stages are </a:t>
            </a:r>
            <a:r>
              <a:rPr lang="en-US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overlapped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186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44"/>
          <a:stretch/>
        </p:blipFill>
        <p:spPr bwMode="auto">
          <a:xfrm>
            <a:off x="120184" y="1116106"/>
            <a:ext cx="4437749" cy="3328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48200" y="1035424"/>
            <a:ext cx="44778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The Figure depicts the following: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Once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instruction 1</a:t>
            </a: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has been fetched and is in the process of being decoded, then</a:t>
            </a:r>
            <a:r>
              <a:rPr lang="en-US" b="1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</a:t>
            </a: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we can start the fetch on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instruction 2</a:t>
            </a: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When calculating the effective address of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instruction 1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operands, and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instruction 2</a:t>
            </a: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 is being decoded, then we can start fetching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instruction 3</a:t>
            </a: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baseline="0" dirty="0">
                <a:solidFill>
                  <a:srgbClr val="272526"/>
                </a:solidFill>
                <a:cs typeface="Times New Roman" panose="02020603050405020304" pitchFamily="18" charset="0"/>
              </a:rPr>
              <a:t>Notice these events can occur in parallel, very much like an automobile assembly line.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21141" y="5233481"/>
            <a:ext cx="8273584" cy="93871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42265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42265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422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226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5000"/>
              </a:lnSpc>
              <a:spcBef>
                <a:spcPct val="10000"/>
              </a:spcBef>
              <a:buFontTx/>
              <a:buNone/>
              <a:defRPr/>
            </a:pPr>
            <a:r>
              <a:rPr lang="en-US" altLang="en-US" sz="2000" baseline="0" dirty="0"/>
              <a:t>S1.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</a:t>
            </a:r>
            <a:r>
              <a:rPr lang="en-US" altLang="en-US" sz="2000" baseline="0" dirty="0"/>
              <a:t> instruction.				S4.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</a:t>
            </a:r>
            <a:r>
              <a:rPr lang="en-US" altLang="en-US" sz="2000" baseline="0" dirty="0"/>
              <a:t> operands.</a:t>
            </a:r>
          </a:p>
          <a:p>
            <a:pPr>
              <a:lnSpc>
                <a:spcPct val="85000"/>
              </a:lnSpc>
              <a:spcBef>
                <a:spcPct val="10000"/>
              </a:spcBef>
              <a:buFontTx/>
              <a:buNone/>
              <a:defRPr/>
            </a:pPr>
            <a:r>
              <a:rPr lang="en-US" altLang="en-US" sz="2000" baseline="0" dirty="0"/>
              <a:t>S2.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Decode</a:t>
            </a:r>
            <a:r>
              <a:rPr lang="en-US" altLang="en-US" sz="2000" baseline="0" dirty="0"/>
              <a:t> opcode.				S5.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</a:t>
            </a:r>
            <a:r>
              <a:rPr lang="en-US" altLang="en-US" sz="2000" baseline="0" dirty="0"/>
              <a:t> instruction.</a:t>
            </a:r>
          </a:p>
          <a:p>
            <a:pPr>
              <a:lnSpc>
                <a:spcPct val="85000"/>
              </a:lnSpc>
              <a:spcBef>
                <a:spcPct val="10000"/>
              </a:spcBef>
              <a:buNone/>
              <a:defRPr/>
            </a:pPr>
            <a:r>
              <a:rPr lang="en-US" altLang="en-US" sz="2000" baseline="0" dirty="0"/>
              <a:t>S3.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en-US" altLang="en-US" sz="2000" baseline="0" dirty="0"/>
              <a:t> effective address of operands.		S6.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</a:t>
            </a:r>
            <a:r>
              <a:rPr lang="en-US" altLang="en-US" sz="2000" baseline="0" dirty="0"/>
              <a:t> result.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762000" y="1465730"/>
            <a:ext cx="457200" cy="381000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762000" y="2175434"/>
            <a:ext cx="457200" cy="381000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038165" y="1367120"/>
            <a:ext cx="4020671" cy="1272143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5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1466435"/>
            <a:ext cx="457200" cy="37959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3000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1219200" y="2170869"/>
            <a:ext cx="457200" cy="37959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3000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219200" y="2861149"/>
            <a:ext cx="457200" cy="37959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3000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038165" y="2625413"/>
            <a:ext cx="4020671" cy="1220847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0" b="0" i="0" u="none" strike="noStrike" cap="none" normalizeH="0" baseline="3000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/>
      <p:bldP spid="11" grpId="0"/>
      <p:bldP spid="8" grpId="0" animBg="1"/>
      <p:bldP spid="3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2AAC26-9E8B-43DB-86B1-1723A7693F2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705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5.5 Instruction Pipelining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00" y="579064"/>
            <a:ext cx="8839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0" dirty="0"/>
              <a:t>Suppose we have a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k-stage</a:t>
            </a:r>
            <a:r>
              <a:rPr lang="en-US" baseline="0" dirty="0"/>
              <a:t>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pipeline</a:t>
            </a:r>
            <a:r>
              <a:rPr lang="en-US" baseline="0" dirty="0"/>
              <a:t>. Assume that the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clock</a:t>
            </a:r>
            <a:r>
              <a:rPr lang="en-US" baseline="0" dirty="0"/>
              <a:t>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 time is </a:t>
            </a:r>
            <a:r>
              <a:rPr lang="en-US" b="1" baseline="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/>
              <a:t>; that is, it takes </a:t>
            </a:r>
            <a:r>
              <a:rPr lang="en-US" b="1" baseline="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0" dirty="0"/>
              <a:t> time per stage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677"/>
              </p:ext>
            </p:extLst>
          </p:nvPr>
        </p:nvGraphicFramePr>
        <p:xfrm>
          <a:off x="3657600" y="1066800"/>
          <a:ext cx="40386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r>
                        <a:rPr lang="en-US" sz="2000" b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r>
                        <a:rPr lang="en-US" sz="2000" b="1" kern="1200" baseline="-25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………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r>
                        <a:rPr lang="en-US" sz="2000" b="1" kern="1200" baseline="-250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en-US" sz="2000" b="1" kern="1200" baseline="-25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 bwMode="auto">
          <a:xfrm>
            <a:off x="3630705" y="1564340"/>
            <a:ext cx="647700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3771900" y="1564340"/>
            <a:ext cx="43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en-US" b="1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" y="1905000"/>
            <a:ext cx="8915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0" dirty="0"/>
              <a:t>Assume also that we have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instructions </a:t>
            </a:r>
            <a:r>
              <a:rPr lang="en-US" baseline="0" dirty="0"/>
              <a:t>(often called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</a:t>
            </a:r>
            <a:r>
              <a:rPr lang="en-US" baseline="0" dirty="0"/>
              <a:t>) to process. </a:t>
            </a:r>
            <a:r>
              <a:rPr 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1</a:t>
            </a:r>
            <a:r>
              <a:rPr lang="en-US" baseline="0" dirty="0"/>
              <a:t> (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</a:t>
            </a:r>
            <a:r>
              <a:rPr lang="en-US" baseline="0" dirty="0"/>
              <a:t>) requires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  <a:r>
              <a:rPr lang="en-US" baseline="0" dirty="0"/>
              <a:t> × </a:t>
            </a:r>
            <a:r>
              <a:rPr lang="en-US" b="1" baseline="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0" dirty="0"/>
              <a:t> time to be completed. 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2639731"/>
            <a:ext cx="8839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0" dirty="0"/>
              <a:t>Based on the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pipelining principle</a:t>
            </a:r>
            <a:r>
              <a:rPr lang="en-US" baseline="0" dirty="0"/>
              <a:t>, each of the remaining (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n-1</a:t>
            </a:r>
            <a:r>
              <a:rPr lang="en-US" baseline="0" dirty="0"/>
              <a:t>)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</a:t>
            </a:r>
            <a:r>
              <a:rPr lang="en-US" baseline="0" dirty="0"/>
              <a:t> requires only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en-US" b="1" baseline="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0" dirty="0"/>
              <a:t> to be completed. Therefore, all the remaining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</a:t>
            </a:r>
            <a:r>
              <a:rPr lang="en-US" baseline="0" dirty="0"/>
              <a:t> requires (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n-1</a:t>
            </a:r>
            <a:r>
              <a:rPr lang="en-US" baseline="0" dirty="0"/>
              <a:t>) x </a:t>
            </a:r>
            <a:r>
              <a:rPr lang="en-US" b="1" baseline="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0" dirty="0"/>
              <a:t>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" y="3374462"/>
            <a:ext cx="6096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0" dirty="0"/>
              <a:t>Hence, the </a:t>
            </a:r>
            <a:r>
              <a:rPr 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time </a:t>
            </a:r>
            <a:r>
              <a:rPr lang="en-US" baseline="0" dirty="0"/>
              <a:t>required to complete  (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baseline="0" dirty="0"/>
              <a:t>) tasks is:</a:t>
            </a:r>
          </a:p>
          <a:p>
            <a:r>
              <a:rPr lang="en-US" baseline="0" dirty="0"/>
              <a:t>	</a:t>
            </a:r>
            <a:r>
              <a:rPr 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time </a:t>
            </a:r>
            <a:r>
              <a:rPr lang="en-US" baseline="0" dirty="0"/>
              <a:t>=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  <a:r>
              <a:rPr lang="en-US" baseline="0" dirty="0"/>
              <a:t> x </a:t>
            </a:r>
            <a:r>
              <a:rPr lang="en-US" b="1" baseline="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0" dirty="0"/>
              <a:t> + (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n-1</a:t>
            </a:r>
            <a:r>
              <a:rPr lang="en-US" baseline="0" dirty="0"/>
              <a:t>) x </a:t>
            </a:r>
            <a:r>
              <a:rPr lang="en-US" b="1" baseline="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en-US" b="1" baseline="-25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aseline="0" dirty="0"/>
              <a:t>		    = (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 + n – 1</a:t>
            </a:r>
            <a:r>
              <a:rPr lang="en-US" baseline="0" dirty="0"/>
              <a:t>) x </a:t>
            </a:r>
            <a:r>
              <a:rPr lang="en-US" b="1" baseline="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en-US" b="1" baseline="-25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259" y="4343400"/>
            <a:ext cx="55613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0" dirty="0"/>
              <a:t>Let’s calculate the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speedup</a:t>
            </a:r>
            <a:r>
              <a:rPr lang="en-US" baseline="0" dirty="0">
                <a:solidFill>
                  <a:srgbClr val="0070C0"/>
                </a:solidFill>
              </a:rPr>
              <a:t> </a:t>
            </a:r>
            <a:r>
              <a:rPr lang="en-US" baseline="0" dirty="0"/>
              <a:t>we gain using a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78" y="4852507"/>
            <a:ext cx="8678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/>
              <a:t>Then, as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baseline="0" dirty="0"/>
              <a:t> →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</a:t>
            </a:r>
            <a:r>
              <a:rPr lang="en-US" baseline="0" dirty="0">
                <a:sym typeface="Symbol" panose="05050102010706020507" pitchFamily="18" charset="2"/>
              </a:rPr>
              <a:t>, the denominator of the equation (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k + n – 1 </a:t>
            </a:r>
            <a:r>
              <a:rPr lang="en-US" baseline="0" dirty="0">
                <a:sym typeface="Symbol" panose="05050102010706020507" pitchFamily="18" charset="2"/>
              </a:rPr>
              <a:t>) will tends to be (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n</a:t>
            </a:r>
            <a:r>
              <a:rPr lang="en-US" baseline="0" dirty="0">
                <a:sym typeface="Symbol" panose="05050102010706020507" pitchFamily="18" charset="2"/>
              </a:rPr>
              <a:t> ).</a:t>
            </a:r>
            <a:endParaRPr lang="en-US" baseline="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512" y="4226860"/>
            <a:ext cx="3076575" cy="67170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56" y="5385908"/>
            <a:ext cx="2743200" cy="6572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00400" y="5486400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/>
              <a:t>Which is the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stages </a:t>
            </a:r>
            <a:r>
              <a:rPr lang="en-US" baseline="0" dirty="0"/>
              <a:t>in the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pipeline</a:t>
            </a:r>
            <a:r>
              <a:rPr lang="en-US" baseline="0" dirty="0"/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13" grpId="0"/>
      <p:bldP spid="9" grpId="0"/>
      <p:bldP spid="12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8C1D73-9B28-4684-9C03-F67276F36CC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705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5.5 Instruction Pipelining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685800"/>
            <a:ext cx="9067800" cy="3548152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 marL="233363" indent="-233363">
              <a:spcBef>
                <a:spcPct val="40000"/>
              </a:spcBef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equation suppose only the </a:t>
            </a:r>
            <a:r>
              <a:rPr lang="en-US" altLang="en-US" sz="23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ideal case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may be </a:t>
            </a:r>
            <a:r>
              <a:rPr lang="en-US" alt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not TRUE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time. </a:t>
            </a:r>
            <a:r>
              <a:rPr lang="en-US" altLang="en-US" sz="2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in our derivation, which are:</a:t>
            </a:r>
          </a:p>
          <a:p>
            <a:pPr marL="233363" indent="-233363">
              <a:spcBef>
                <a:spcPct val="40000"/>
              </a:spcBef>
            </a:pPr>
            <a:r>
              <a:rPr lang="en-US" altLang="en-US" sz="2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have to assume that the </a:t>
            </a:r>
            <a:r>
              <a:rPr lang="en-US" altLang="en-US" sz="23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</a:t>
            </a:r>
            <a:r>
              <a:rPr lang="en-US" altLang="en-US" sz="23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fetching instructions and data in parallel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Harvard model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Instead of </a:t>
            </a:r>
            <a:r>
              <a:rPr lang="en-US" alt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Harvard model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use of </a:t>
            </a:r>
            <a:r>
              <a:rPr lang="en-US" altLang="en-US" sz="23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cache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solve this problem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33363" indent="-233363">
              <a:spcBef>
                <a:spcPct val="40000"/>
              </a:spcBef>
            </a:pPr>
            <a:r>
              <a:rPr lang="en-US" altLang="en-US" sz="2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assume that the </a:t>
            </a:r>
            <a:r>
              <a:rPr lang="en-US" altLang="en-US" sz="23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en-US" alt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kept </a:t>
            </a:r>
            <a:r>
              <a:rPr lang="en-US" altLang="en-US" sz="23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filled at all times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This is not always the case.  Pipeline </a:t>
            </a:r>
            <a:r>
              <a:rPr lang="en-US" altLang="en-US" sz="23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hazards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arise that cause pipeline such as: </a:t>
            </a:r>
            <a:r>
              <a:rPr lang="en-US" altLang="en-US" sz="23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conflicts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" y="4310152"/>
            <a:ext cx="90678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>
              <a:spcBef>
                <a:spcPct val="40000"/>
              </a:spcBef>
              <a:buFont typeface="Arial" panose="020B0604020202020204" pitchFamily="34" charset="0"/>
              <a:buChar char="•"/>
            </a:pPr>
            <a:r>
              <a:rPr lang="en-US" altLang="en-US" sz="2300" baseline="0" dirty="0">
                <a:cs typeface="Times New Roman" panose="02020603050405020304" pitchFamily="18" charset="0"/>
              </a:rPr>
              <a:t>An instruction </a:t>
            </a:r>
            <a:r>
              <a:rPr lang="en-US" altLang="en-US" sz="23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pipeline</a:t>
            </a:r>
            <a:r>
              <a:rPr lang="en-US" altLang="en-US" sz="23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300" baseline="0" dirty="0">
                <a:cs typeface="Times New Roman" panose="02020603050405020304" pitchFamily="18" charset="0"/>
              </a:rPr>
              <a:t>may be </a:t>
            </a:r>
            <a:r>
              <a:rPr lang="en-US" altLang="en-US" sz="2300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flushed</a:t>
            </a:r>
            <a:r>
              <a:rPr lang="en-US" altLang="en-US" sz="23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300" baseline="0" dirty="0">
                <a:cs typeface="Times New Roman" panose="02020603050405020304" pitchFamily="18" charset="0"/>
              </a:rPr>
              <a:t>for any of the following reasons:</a:t>
            </a:r>
          </a:p>
          <a:p>
            <a:pPr marL="744538" lvl="1" indent="-287338">
              <a:spcBef>
                <a:spcPts val="0"/>
              </a:spcBef>
              <a:buFont typeface="+mj-lt"/>
              <a:buAutoNum type="arabicPeriod"/>
            </a:pPr>
            <a:r>
              <a:rPr lang="en-US" altLang="en-US" sz="2300" baseline="0" dirty="0">
                <a:cs typeface="Times New Roman" panose="02020603050405020304" pitchFamily="18" charset="0"/>
              </a:rPr>
              <a:t>Resource conflicts.</a:t>
            </a:r>
          </a:p>
          <a:p>
            <a:pPr marL="744538" lvl="1" indent="-287338">
              <a:spcBef>
                <a:spcPts val="0"/>
              </a:spcBef>
              <a:buFont typeface="+mj-lt"/>
              <a:buAutoNum type="arabicPeriod"/>
            </a:pPr>
            <a:r>
              <a:rPr lang="en-US" altLang="en-US" sz="2300" baseline="0" dirty="0">
                <a:cs typeface="Times New Roman" panose="02020603050405020304" pitchFamily="18" charset="0"/>
              </a:rPr>
              <a:t>Data dependencies.</a:t>
            </a:r>
          </a:p>
          <a:p>
            <a:pPr marL="744538" lvl="1" indent="-287338">
              <a:spcBef>
                <a:spcPts val="0"/>
              </a:spcBef>
              <a:buFont typeface="+mj-lt"/>
              <a:buAutoNum type="arabicPeriod"/>
            </a:pPr>
            <a:r>
              <a:rPr lang="en-US" altLang="en-US" sz="2300" baseline="0" dirty="0">
                <a:cs typeface="Times New Roman" panose="02020603050405020304" pitchFamily="18" charset="0"/>
              </a:rPr>
              <a:t>Conditional branching.</a:t>
            </a:r>
            <a:endParaRPr lang="en-US" sz="2300" baseline="0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2C52B-3AD9-0E67-9F8B-59A83A4B1AE2}"/>
              </a:ext>
            </a:extLst>
          </p:cNvPr>
          <p:cNvSpPr txBox="1"/>
          <p:nvPr/>
        </p:nvSpPr>
        <p:spPr>
          <a:xfrm>
            <a:off x="4610100" y="5178018"/>
            <a:ext cx="3733798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 the next slide for an example of </a:t>
            </a:r>
            <a:r>
              <a:rPr lang="en-US" b="1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Branching</a:t>
            </a:r>
            <a:endParaRPr lang="en-US" b="1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/>
      <p:bldP spid="2" grpId="0"/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E7B32B9-EF36-E11C-C33C-F6DA42413270}"/>
              </a:ext>
            </a:extLst>
          </p:cNvPr>
          <p:cNvSpPr txBox="1"/>
          <p:nvPr/>
        </p:nvSpPr>
        <p:spPr>
          <a:xfrm>
            <a:off x="287694" y="5486400"/>
            <a:ext cx="7637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/>
              <a:t>Also, only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instruction </a:t>
            </a:r>
            <a:r>
              <a:rPr lang="en-US" baseline="0" dirty="0"/>
              <a:t>was executed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within the period from 6 to 9</a:t>
            </a:r>
            <a:r>
              <a:rPr lang="en-US" baseline="0" dirty="0"/>
              <a:t>. </a:t>
            </a:r>
          </a:p>
        </p:txBody>
      </p:sp>
      <p:sp>
        <p:nvSpPr>
          <p:cNvPr id="1280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8C1D73-9B28-4684-9C03-F67276F36CC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705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5.5 Instruction Pipelining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A7AEF-E04E-1524-D479-748818950BE3}"/>
              </a:ext>
            </a:extLst>
          </p:cNvPr>
          <p:cNvSpPr txBox="1"/>
          <p:nvPr/>
        </p:nvSpPr>
        <p:spPr>
          <a:xfrm>
            <a:off x="228600" y="547688"/>
            <a:ext cx="7391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3363" indent="-233363">
              <a:spcBef>
                <a:spcPct val="40000"/>
              </a:spcBef>
            </a:pPr>
            <a:r>
              <a:rPr lang="en-US" altLang="en-US" sz="2000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alt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Suppose that we a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4-stages pipeline</a:t>
            </a:r>
            <a:r>
              <a:rPr lang="en-US" alt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as follows: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92E95-302C-D4F7-6BE8-57D09F5E39FB}"/>
              </a:ext>
            </a:extLst>
          </p:cNvPr>
          <p:cNvSpPr txBox="1"/>
          <p:nvPr/>
        </p:nvSpPr>
        <p:spPr>
          <a:xfrm>
            <a:off x="533400" y="947798"/>
            <a:ext cx="4800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S1</a:t>
            </a:r>
            <a:r>
              <a:rPr lang="en-US" baseline="0" dirty="0"/>
              <a:t> = fetch instruction</a:t>
            </a:r>
          </a:p>
          <a:p>
            <a:pPr algn="l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S2</a:t>
            </a:r>
            <a:r>
              <a:rPr lang="en-US" baseline="0" dirty="0"/>
              <a:t> = decode and calculate effective address </a:t>
            </a:r>
          </a:p>
          <a:p>
            <a:pPr algn="l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S3</a:t>
            </a:r>
            <a:r>
              <a:rPr lang="en-US" baseline="0" dirty="0"/>
              <a:t> = fetch operand</a:t>
            </a:r>
          </a:p>
          <a:p>
            <a:pPr algn="l"/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S4 </a:t>
            </a:r>
            <a:r>
              <a:rPr lang="en-US" baseline="0" dirty="0"/>
              <a:t>= execute instruction and store results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37D614-08FA-EEC8-E0CF-48E6BA8A2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303894"/>
            <a:ext cx="8643563" cy="21157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7339EE-2E69-6A99-4A3A-C530F9300D08}"/>
              </a:ext>
            </a:extLst>
          </p:cNvPr>
          <p:cNvSpPr txBox="1"/>
          <p:nvPr/>
        </p:nvSpPr>
        <p:spPr>
          <a:xfrm>
            <a:off x="304800" y="4495800"/>
            <a:ext cx="830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/>
              <a:t>After executing 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3</a:t>
            </a:r>
            <a:r>
              <a:rPr lang="en-US" baseline="0" dirty="0"/>
              <a:t>,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time period 6</a:t>
            </a:r>
            <a:r>
              <a:rPr lang="en-US" baseline="0" dirty="0"/>
              <a:t>, the stages executed for </a:t>
            </a:r>
            <a:r>
              <a:rPr lang="en-US" b="1" baseline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I4</a:t>
            </a:r>
            <a:r>
              <a:rPr lang="en-US" baseline="0" dirty="0"/>
              <a:t>, </a:t>
            </a:r>
            <a:r>
              <a:rPr lang="en-US" b="1" baseline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I5</a:t>
            </a:r>
            <a:r>
              <a:rPr lang="en-US" baseline="0" dirty="0"/>
              <a:t>, and </a:t>
            </a:r>
            <a:r>
              <a:rPr lang="en-US" b="1" baseline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I6</a:t>
            </a:r>
            <a:r>
              <a:rPr lang="en-US" baseline="0" dirty="0"/>
              <a:t> are no longer needed and the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pipeline is flushed </a:t>
            </a:r>
            <a:r>
              <a:rPr lang="en-US" baseline="0" dirty="0"/>
              <a:t>and it </a:t>
            </a:r>
            <a:r>
              <a:rPr 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starts to be filled </a:t>
            </a:r>
            <a:r>
              <a:rPr lang="en-US" baseline="0" dirty="0"/>
              <a:t>with </a:t>
            </a:r>
            <a:r>
              <a:rPr lang="en-US" b="1" baseline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I8</a:t>
            </a:r>
            <a:r>
              <a:rPr lang="en-US" baseline="0" dirty="0"/>
              <a:t>, </a:t>
            </a:r>
            <a:r>
              <a:rPr lang="en-US" b="1" baseline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I9</a:t>
            </a:r>
            <a:r>
              <a:rPr lang="en-US" baseline="0" dirty="0"/>
              <a:t>, and </a:t>
            </a:r>
            <a:r>
              <a:rPr lang="en-US" b="1" baseline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I10</a:t>
            </a:r>
            <a:r>
              <a:rPr lang="en-US" baseline="0" dirty="0"/>
              <a:t>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07439-2628-60E7-5549-C7C35D779DA5}"/>
              </a:ext>
            </a:extLst>
          </p:cNvPr>
          <p:cNvSpPr/>
          <p:nvPr/>
        </p:nvSpPr>
        <p:spPr bwMode="auto">
          <a:xfrm>
            <a:off x="3429000" y="3146362"/>
            <a:ext cx="1676400" cy="64633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8B4108-3963-4778-5FB6-84F051B97652}"/>
              </a:ext>
            </a:extLst>
          </p:cNvPr>
          <p:cNvSpPr/>
          <p:nvPr/>
        </p:nvSpPr>
        <p:spPr bwMode="auto">
          <a:xfrm>
            <a:off x="4057262" y="4851646"/>
            <a:ext cx="2038738" cy="37959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FA7E2-F4C2-DA04-4ECF-068ADBB27961}"/>
              </a:ext>
            </a:extLst>
          </p:cNvPr>
          <p:cNvSpPr txBox="1"/>
          <p:nvPr/>
        </p:nvSpPr>
        <p:spPr>
          <a:xfrm>
            <a:off x="287694" y="5498295"/>
            <a:ext cx="7637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/>
              <a:t>Also, only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instruction </a:t>
            </a:r>
            <a:r>
              <a:rPr lang="en-US" baseline="0" dirty="0"/>
              <a:t>was executed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within the period from 6 to 9</a:t>
            </a:r>
            <a:r>
              <a:rPr lang="en-US" baseline="0" dirty="0"/>
              <a:t>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877A1C-0589-187F-AAFC-DAA39FEE5743}"/>
              </a:ext>
            </a:extLst>
          </p:cNvPr>
          <p:cNvSpPr/>
          <p:nvPr/>
        </p:nvSpPr>
        <p:spPr bwMode="auto">
          <a:xfrm>
            <a:off x="4572000" y="2330410"/>
            <a:ext cx="2133600" cy="276999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A990FE-3580-5B4D-1F5E-0641CAD384DB}"/>
              </a:ext>
            </a:extLst>
          </p:cNvPr>
          <p:cNvSpPr/>
          <p:nvPr/>
        </p:nvSpPr>
        <p:spPr bwMode="auto">
          <a:xfrm>
            <a:off x="4572000" y="2947422"/>
            <a:ext cx="533400" cy="194925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6A232F-4102-E4A0-B138-24EA568D89B2}"/>
              </a:ext>
            </a:extLst>
          </p:cNvPr>
          <p:cNvSpPr/>
          <p:nvPr/>
        </p:nvSpPr>
        <p:spPr bwMode="auto">
          <a:xfrm>
            <a:off x="5105400" y="3766342"/>
            <a:ext cx="3276600" cy="584775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6D3DAB-2E01-C4F6-A179-984A2ED10DCD}"/>
              </a:ext>
            </a:extLst>
          </p:cNvPr>
          <p:cNvSpPr/>
          <p:nvPr/>
        </p:nvSpPr>
        <p:spPr bwMode="auto">
          <a:xfrm>
            <a:off x="6705600" y="4851646"/>
            <a:ext cx="1371600" cy="379591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13CF0A-6E9E-8F2E-57F7-841BA90CD81A}"/>
              </a:ext>
            </a:extLst>
          </p:cNvPr>
          <p:cNvSpPr/>
          <p:nvPr/>
        </p:nvSpPr>
        <p:spPr bwMode="auto">
          <a:xfrm>
            <a:off x="339012" y="5143767"/>
            <a:ext cx="651588" cy="379591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76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" grpId="0"/>
      <p:bldP spid="9" grpId="0"/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F9F6F6-898A-4865-AF13-3B78F442290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130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705600" cy="547688"/>
          </a:xfrm>
        </p:spPr>
        <p:txBody>
          <a:bodyPr/>
          <a:lstStyle/>
          <a:p>
            <a:r>
              <a:rPr lang="en-US" altLang="en-US" sz="3400" b="1" dirty="0">
                <a:solidFill>
                  <a:schemeClr val="tx1"/>
                </a:solidFill>
                <a:latin typeface="Arial" panose="020B0604020202020204" pitchFamily="34" charset="0"/>
              </a:rPr>
              <a:t>5.5 Instruction Pipelining</a:t>
            </a:r>
            <a:endParaRPr lang="en-US" altLang="en-US" sz="3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09600"/>
            <a:ext cx="2539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7338" lvl="1" indent="-287338">
              <a:spcBef>
                <a:spcPct val="40000"/>
              </a:spcBef>
              <a:buFont typeface="+mj-lt"/>
              <a:buAutoNum type="arabicPeriod"/>
            </a:pPr>
            <a:r>
              <a:rPr lang="en-US" alt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Resource conflicts: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914400"/>
            <a:ext cx="8915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0" dirty="0"/>
              <a:t>Accessing the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 resource simultaneously </a:t>
            </a:r>
            <a:r>
              <a:rPr lang="en-US" baseline="0" dirty="0"/>
              <a:t>from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/>
              <a:t>sources. if one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/>
              <a:t>is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storing a value </a:t>
            </a:r>
            <a:r>
              <a:rPr lang="en-US" baseline="0" dirty="0"/>
              <a:t>to memory while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another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/>
              <a:t>is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being fetched from memory</a:t>
            </a:r>
            <a:r>
              <a:rPr lang="en-US" baseline="0" dirty="0"/>
              <a:t>, </a:t>
            </a:r>
            <a:r>
              <a:rPr lang="en-US" b="1" i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need access to memory</a:t>
            </a:r>
            <a:r>
              <a:rPr lang="en-US" baseline="0" dirty="0"/>
              <a:t>. Typically this is resolved by allowing the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execute to continue</a:t>
            </a:r>
            <a:r>
              <a:rPr lang="en-US" baseline="0" dirty="0"/>
              <a:t>, while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forcing</a:t>
            </a:r>
            <a:r>
              <a:rPr lang="en-US" baseline="0" dirty="0"/>
              <a:t> the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fetch to wait</a:t>
            </a:r>
            <a:r>
              <a:rPr lang="en-US" baseline="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209800"/>
            <a:ext cx="24644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33363" indent="-233363">
              <a:buFont typeface="+mj-lt"/>
              <a:buAutoNum type="arabicPeriod" startAt="2"/>
            </a:pPr>
            <a:r>
              <a:rPr lang="en-US" alt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Data dependencies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2514600"/>
            <a:ext cx="8915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0" dirty="0"/>
              <a:t>Arise when the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one instruction</a:t>
            </a:r>
            <a:r>
              <a:rPr lang="en-US" baseline="0" dirty="0"/>
              <a:t>, not yet available, is to be used as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operand to a following instruction</a:t>
            </a:r>
            <a:r>
              <a:rPr lang="en-US" baseline="0" dirty="0"/>
              <a:t>.</a:t>
            </a:r>
            <a:endParaRPr lang="en-US" b="1" baseline="0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86300" y="2868543"/>
            <a:ext cx="28378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0" dirty="0"/>
              <a:t>X = Y + 3 and Z = 2 * X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76" y="3200400"/>
            <a:ext cx="6238875" cy="10763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4419600" y="3683477"/>
            <a:ext cx="1295400" cy="533400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3000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8851" y="3632102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value of (</a:t>
            </a:r>
            <a:r>
              <a:rPr lang="en-US" sz="16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sz="1600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will not be available to be fetched.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267200"/>
            <a:ext cx="29052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33363" indent="-233363">
              <a:buFont typeface="+mj-lt"/>
              <a:buAutoNum type="arabicPeriod" startAt="3"/>
            </a:pPr>
            <a:r>
              <a:rPr lang="en-US" altLang="en-US" b="1" u="sng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Conditional branching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4572000"/>
            <a:ext cx="8534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aseline="0" dirty="0"/>
              <a:t>If </a:t>
            </a:r>
            <a:r>
              <a:rPr lang="en-US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instructions are fetched </a:t>
            </a:r>
            <a:r>
              <a:rPr lang="en-US" baseline="0" dirty="0"/>
              <a:t>one per clock cycle, several can be fetched and even decoded </a:t>
            </a:r>
            <a:r>
              <a:rPr lang="en-US" b="1" baseline="0" dirty="0">
                <a:solidFill>
                  <a:srgbClr val="0070C0"/>
                </a:solidFill>
              </a:rPr>
              <a:t>before a preceding instruction</a:t>
            </a:r>
            <a:r>
              <a:rPr lang="en-US" baseline="0" dirty="0"/>
              <a:t>, </a:t>
            </a:r>
            <a:r>
              <a:rPr lang="en-US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indicating a branch</a:t>
            </a:r>
            <a:r>
              <a:rPr lang="en-US" baseline="0" dirty="0"/>
              <a:t>, </a:t>
            </a:r>
            <a:r>
              <a:rPr lang="en-US" b="1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executed</a:t>
            </a:r>
            <a:r>
              <a:rPr lang="en-US" baseline="0" dirty="0"/>
              <a:t>. </a:t>
            </a:r>
            <a:r>
              <a:rPr lang="en-US" b="1" baseline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branching </a:t>
            </a:r>
            <a:r>
              <a:rPr lang="en-US" baseline="0" dirty="0"/>
              <a:t>is particularly </a:t>
            </a:r>
            <a:r>
              <a:rPr lang="en-US" b="1" baseline="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difficult</a:t>
            </a:r>
            <a:r>
              <a:rPr lang="en-US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aseline="0" dirty="0"/>
              <a:t>to deal with. 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3200400" y="5715000"/>
            <a:ext cx="5867400" cy="10668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40000"/>
              </a:spcBef>
              <a:buNone/>
            </a:pPr>
            <a:r>
              <a:rPr lang="en-US" altLang="en-US" sz="20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Measures can be taken at the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software level </a:t>
            </a:r>
            <a:r>
              <a:rPr lang="en-US" altLang="en-US" sz="20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 well as at the </a:t>
            </a:r>
            <a:r>
              <a:rPr lang="en-US" altLang="en-US" sz="20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hardware level </a:t>
            </a:r>
            <a:r>
              <a:rPr lang="en-US" altLang="en-US" sz="20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effects of these hazards, but they cannot be totally eliminated.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6" grpId="0"/>
      <p:bldP spid="9" grpId="0" animBg="1"/>
      <p:bldP spid="10" grpId="0"/>
      <p:bldP spid="11" grpId="0"/>
      <p:bldP spid="12" grpId="0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4D1FCE-FCD5-4A89-8D37-804C70D7D0D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132099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143000"/>
            <a:ext cx="7620000" cy="41910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ISAs are distinguished according to their bits per instruction, number of operands per instruction, operand location and types and sizes of operands.</a:t>
            </a:r>
          </a:p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Endianness as another major architectural consideration.</a:t>
            </a:r>
          </a:p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CPU can store store data based on</a:t>
            </a:r>
          </a:p>
          <a:p>
            <a:pPr lvl="1">
              <a:lnSpc>
                <a:spcPct val="85000"/>
              </a:lnSpc>
              <a:spcBef>
                <a:spcPct val="10000"/>
              </a:spcBef>
              <a:buFontTx/>
              <a:buNone/>
            </a:pPr>
            <a:r>
              <a:rPr lang="en-US" altLang="en-US" sz="2400"/>
              <a:t>1. A stack architecture</a:t>
            </a:r>
          </a:p>
          <a:p>
            <a:pPr lvl="1">
              <a:lnSpc>
                <a:spcPct val="85000"/>
              </a:lnSpc>
              <a:spcBef>
                <a:spcPct val="10000"/>
              </a:spcBef>
              <a:buFontTx/>
              <a:buNone/>
            </a:pPr>
            <a:r>
              <a:rPr lang="en-US" altLang="en-US" sz="2400"/>
              <a:t>2. An accumulator architecture</a:t>
            </a:r>
          </a:p>
          <a:p>
            <a:pPr lvl="1">
              <a:lnSpc>
                <a:spcPct val="85000"/>
              </a:lnSpc>
              <a:spcBef>
                <a:spcPct val="10000"/>
              </a:spcBef>
              <a:buFontTx/>
              <a:buNone/>
            </a:pPr>
            <a:r>
              <a:rPr lang="en-US" altLang="en-US" sz="2400"/>
              <a:t>3. A general purpose register architecture</a:t>
            </a:r>
            <a:r>
              <a:rPr lang="en-US" altLang="en-US" sz="2100">
                <a:latin typeface="Arial" panose="020B0604020202020204" pitchFamily="34" charset="0"/>
              </a:rPr>
              <a:t>.</a:t>
            </a:r>
            <a:endParaRPr lang="en-US" altLang="en-US" sz="2200">
              <a:latin typeface="Arial" panose="020B0604020202020204" pitchFamily="34" charset="0"/>
            </a:endParaRPr>
          </a:p>
        </p:txBody>
      </p:sp>
      <p:sp>
        <p:nvSpPr>
          <p:cNvPr id="132100" name="Rectangle 3"/>
          <p:cNvSpPr>
            <a:spLocks noGrp="1" noChangeArrowheads="1"/>
          </p:cNvSpPr>
          <p:nvPr>
            <p:ph type="title"/>
          </p:nvPr>
        </p:nvSpPr>
        <p:spPr>
          <a:xfrm>
            <a:off x="1333500" y="228600"/>
            <a:ext cx="6477000" cy="5476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3400" b="1">
                <a:solidFill>
                  <a:schemeClr val="tx1"/>
                </a:solidFill>
                <a:latin typeface="Arial" panose="020B0604020202020204" pitchFamily="34" charset="0"/>
              </a:rPr>
              <a:t>Chapter 5 Conclusion</a:t>
            </a:r>
            <a:endParaRPr lang="en-US" altLang="en-US" sz="3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46BB2E-9CF6-4066-BF5D-43CD9FCD6FB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333500"/>
            <a:ext cx="7620000" cy="41910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Instructions can be fixed length or variable length.</a:t>
            </a:r>
          </a:p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To enrich the instruction set for a fixed length instruction set, expanding opcodes can be used.</a:t>
            </a:r>
          </a:p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The addressing mode of an ISA is also another important factor.  We looked at:</a:t>
            </a:r>
          </a:p>
          <a:p>
            <a:pPr lvl="1">
              <a:lnSpc>
                <a:spcPct val="85000"/>
              </a:lnSpc>
              <a:spcBef>
                <a:spcPct val="10000"/>
              </a:spcBef>
            </a:pPr>
            <a:r>
              <a:rPr lang="en-US" altLang="en-US" sz="2400"/>
              <a:t>Immediate	– Direct</a:t>
            </a:r>
          </a:p>
          <a:p>
            <a:pPr lvl="1">
              <a:lnSpc>
                <a:spcPct val="85000"/>
              </a:lnSpc>
              <a:spcBef>
                <a:spcPct val="10000"/>
              </a:spcBef>
            </a:pPr>
            <a:r>
              <a:rPr lang="en-US" altLang="en-US" sz="2400"/>
              <a:t>Register		– Register Indirect</a:t>
            </a:r>
          </a:p>
          <a:p>
            <a:pPr lvl="1">
              <a:lnSpc>
                <a:spcPct val="85000"/>
              </a:lnSpc>
              <a:spcBef>
                <a:spcPct val="10000"/>
              </a:spcBef>
            </a:pPr>
            <a:r>
              <a:rPr lang="en-US" altLang="en-US" sz="2400"/>
              <a:t>Indirect		– Indexed</a:t>
            </a:r>
          </a:p>
          <a:p>
            <a:pPr lvl="1">
              <a:lnSpc>
                <a:spcPct val="85000"/>
              </a:lnSpc>
              <a:spcBef>
                <a:spcPct val="10000"/>
              </a:spcBef>
            </a:pPr>
            <a:r>
              <a:rPr lang="en-US" altLang="en-US" sz="2400"/>
              <a:t>Based		– Stack</a:t>
            </a:r>
          </a:p>
        </p:txBody>
      </p:sp>
      <p:sp>
        <p:nvSpPr>
          <p:cNvPr id="134148" name="Rectangle 3"/>
          <p:cNvSpPr>
            <a:spLocks noGrp="1" noChangeArrowheads="1"/>
          </p:cNvSpPr>
          <p:nvPr>
            <p:ph type="title"/>
          </p:nvPr>
        </p:nvSpPr>
        <p:spPr>
          <a:xfrm>
            <a:off x="1333500" y="381000"/>
            <a:ext cx="6477000" cy="5476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3400" b="1">
                <a:solidFill>
                  <a:schemeClr val="tx1"/>
                </a:solidFill>
                <a:latin typeface="Arial" panose="020B0604020202020204" pitchFamily="34" charset="0"/>
              </a:rPr>
              <a:t>Chapter 5 Conclusion</a:t>
            </a:r>
            <a:endParaRPr lang="en-US" altLang="en-US" sz="3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F0838E-C8DA-4467-A1CC-F6F16D16942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/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219200"/>
            <a:ext cx="7620000" cy="4191000"/>
          </a:xfrm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A </a:t>
            </a:r>
            <a:r>
              <a:rPr lang="en-US" altLang="en-US" sz="2600" i="1">
                <a:latin typeface="Arial" panose="020B0604020202020204" pitchFamily="34" charset="0"/>
              </a:rPr>
              <a:t>k</a:t>
            </a:r>
            <a:r>
              <a:rPr lang="en-US" altLang="en-US" sz="2600">
                <a:latin typeface="Arial" panose="020B0604020202020204" pitchFamily="34" charset="0"/>
              </a:rPr>
              <a:t>-stage pipeline can theoretically produce execution speedup of </a:t>
            </a:r>
            <a:r>
              <a:rPr lang="en-US" altLang="en-US" sz="2600" i="1">
                <a:latin typeface="Arial" panose="020B0604020202020204" pitchFamily="34" charset="0"/>
              </a:rPr>
              <a:t>k</a:t>
            </a:r>
            <a:r>
              <a:rPr lang="en-US" altLang="en-US" sz="2600">
                <a:latin typeface="Arial" panose="020B0604020202020204" pitchFamily="34" charset="0"/>
              </a:rPr>
              <a:t> as compared to a non-pipelined machine.</a:t>
            </a:r>
          </a:p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Pipeline hazards such as resource conflicts and conditional branching prevents this speedup from being achieved in practice.</a:t>
            </a:r>
          </a:p>
          <a:p>
            <a:pPr>
              <a:spcBef>
                <a:spcPct val="30000"/>
              </a:spcBef>
            </a:pPr>
            <a:r>
              <a:rPr lang="en-US" altLang="en-US" sz="2600">
                <a:latin typeface="Arial" panose="020B0604020202020204" pitchFamily="34" charset="0"/>
              </a:rPr>
              <a:t>The Intel, MIPS, and JVM architectures provide good examples of the concepts presented in this chapter.</a:t>
            </a:r>
            <a:endParaRPr lang="en-US" altLang="en-US" sz="2800"/>
          </a:p>
        </p:txBody>
      </p:sp>
      <p:sp>
        <p:nvSpPr>
          <p:cNvPr id="136196" name="Rectangle 3"/>
          <p:cNvSpPr>
            <a:spLocks noGrp="1" noChangeArrowheads="1"/>
          </p:cNvSpPr>
          <p:nvPr>
            <p:ph type="title"/>
          </p:nvPr>
        </p:nvSpPr>
        <p:spPr>
          <a:xfrm>
            <a:off x="1333500" y="381000"/>
            <a:ext cx="6477000" cy="5476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3400" b="1">
                <a:solidFill>
                  <a:schemeClr val="tx1"/>
                </a:solidFill>
                <a:latin typeface="Arial" panose="020B0604020202020204" pitchFamily="34" charset="0"/>
              </a:rPr>
              <a:t>Chapter 5 Conclusion</a:t>
            </a:r>
            <a:endParaRPr lang="en-US" altLang="en-US" sz="3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3B4B99-F4E6-4A04-BB48-CFC5B774FFC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/>
          </a:p>
        </p:txBody>
      </p:sp>
      <p:sp>
        <p:nvSpPr>
          <p:cNvPr id="138243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2514600"/>
            <a:ext cx="77724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3400" b="1" dirty="0">
                <a:solidFill>
                  <a:srgbClr val="666699"/>
                </a:solidFill>
                <a:latin typeface="Arial" panose="020B0604020202020204" pitchFamily="34" charset="0"/>
              </a:rPr>
              <a:t>End of Chapter 5</a:t>
            </a:r>
            <a:endParaRPr lang="en-US" altLang="en-US" sz="3400" b="1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ECOA_Mstr.pot">
  <a:themeElements>
    <a:clrScheme name="ECOA_Mstr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COA_Mstr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ECOA_Mstr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A_Mstr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6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7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8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9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0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1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2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3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4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5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6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7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8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9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0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1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2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3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4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5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6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7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Office\Templates\ECOA_Mstr.pot</Template>
  <TotalTime>12131</TotalTime>
  <Words>5088</Words>
  <Application>Microsoft Office PowerPoint</Application>
  <PresentationFormat>On-screen Show (4:3)</PresentationFormat>
  <Paragraphs>633</Paragraphs>
  <Slides>45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Times New Roman</vt:lpstr>
      <vt:lpstr>Times-Roman</vt:lpstr>
      <vt:lpstr>Wingdings</vt:lpstr>
      <vt:lpstr>ECOA_Mstr.pot</vt:lpstr>
      <vt:lpstr>Chapter 5</vt:lpstr>
      <vt:lpstr>Chapter 5 Objectives</vt:lpstr>
      <vt:lpstr>5.1 Introduction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5.2 Instruction Formats</vt:lpstr>
      <vt:lpstr>PowerPoint Presentation</vt:lpstr>
      <vt:lpstr>5.2 Instruction Formats</vt:lpstr>
      <vt:lpstr>5.2 Instruction Formats</vt:lpstr>
      <vt:lpstr>5.2 Instruction Formats</vt:lpstr>
      <vt:lpstr>5.2 Instruction Formats</vt:lpstr>
      <vt:lpstr>PowerPoint Presentation</vt:lpstr>
      <vt:lpstr>5.2 Instruction Formats</vt:lpstr>
      <vt:lpstr>PowerPoint Presentation</vt:lpstr>
      <vt:lpstr>5.2 Instruction Formats</vt:lpstr>
      <vt:lpstr>5.2 Instruction Formats</vt:lpstr>
      <vt:lpstr>5.3 Instruction types</vt:lpstr>
      <vt:lpstr>5.4 Addressing</vt:lpstr>
      <vt:lpstr>5.4 Addressing</vt:lpstr>
      <vt:lpstr>5.4 Addressing</vt:lpstr>
      <vt:lpstr>5.5 Instruction Pipelining</vt:lpstr>
      <vt:lpstr>5.5 Instruction Pipelining</vt:lpstr>
      <vt:lpstr>5.5 Instruction Pipelining</vt:lpstr>
      <vt:lpstr>5.5 Instruction Pipelining</vt:lpstr>
      <vt:lpstr>5.5 Instruction Pipelining</vt:lpstr>
      <vt:lpstr>5.5 Instruction Pipelining</vt:lpstr>
      <vt:lpstr>5.5 Instruction Pipelining</vt:lpstr>
      <vt:lpstr>5.5 Instruction Pipelining</vt:lpstr>
      <vt:lpstr>Chapter 5 Conclusion</vt:lpstr>
      <vt:lpstr>Chapter 5 Conclusion</vt:lpstr>
      <vt:lpstr>Chapter 5 Conclusion</vt:lpstr>
      <vt:lpstr>End of Chapter 5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Null &amp; Lobur</dc:creator>
  <cp:lastModifiedBy>Emad Elsamahy</cp:lastModifiedBy>
  <cp:revision>691</cp:revision>
  <cp:lastPrinted>2021-12-10T07:59:38Z</cp:lastPrinted>
  <dcterms:created xsi:type="dcterms:W3CDTF">2002-11-19T23:57:00Z</dcterms:created>
  <dcterms:modified xsi:type="dcterms:W3CDTF">2023-05-19T17:55:38Z</dcterms:modified>
</cp:coreProperties>
</file>