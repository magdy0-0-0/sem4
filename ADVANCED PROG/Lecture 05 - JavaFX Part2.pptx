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  <p:sldMasterId id="2147483697" r:id="rId4"/>
  </p:sldMasterIdLst>
  <p:notesMasterIdLst>
    <p:notesMasterId r:id="rId41"/>
  </p:notesMasterIdLst>
  <p:sldIdLst>
    <p:sldId id="421" r:id="rId5"/>
    <p:sldId id="451" r:id="rId6"/>
    <p:sldId id="466" r:id="rId7"/>
    <p:sldId id="525" r:id="rId8"/>
    <p:sldId id="527" r:id="rId9"/>
    <p:sldId id="529" r:id="rId10"/>
    <p:sldId id="526" r:id="rId11"/>
    <p:sldId id="530" r:id="rId12"/>
    <p:sldId id="528" r:id="rId13"/>
    <p:sldId id="531" r:id="rId14"/>
    <p:sldId id="521" r:id="rId15"/>
    <p:sldId id="524" r:id="rId16"/>
    <p:sldId id="523" r:id="rId17"/>
    <p:sldId id="522" r:id="rId18"/>
    <p:sldId id="532" r:id="rId19"/>
    <p:sldId id="533" r:id="rId20"/>
    <p:sldId id="535" r:id="rId21"/>
    <p:sldId id="455" r:id="rId22"/>
    <p:sldId id="534" r:id="rId23"/>
    <p:sldId id="520" r:id="rId24"/>
    <p:sldId id="497" r:id="rId25"/>
    <p:sldId id="493" r:id="rId26"/>
    <p:sldId id="495" r:id="rId27"/>
    <p:sldId id="510" r:id="rId28"/>
    <p:sldId id="498" r:id="rId29"/>
    <p:sldId id="536" r:id="rId30"/>
    <p:sldId id="537" r:id="rId31"/>
    <p:sldId id="538" r:id="rId32"/>
    <p:sldId id="539" r:id="rId33"/>
    <p:sldId id="540" r:id="rId34"/>
    <p:sldId id="542" r:id="rId35"/>
    <p:sldId id="543" r:id="rId36"/>
    <p:sldId id="544" r:id="rId37"/>
    <p:sldId id="545" r:id="rId38"/>
    <p:sldId id="438" r:id="rId39"/>
    <p:sldId id="43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7FAF"/>
    <a:srgbClr val="F1F2F7"/>
    <a:srgbClr val="EEF2F5"/>
    <a:srgbClr val="ED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215" autoAdjust="0"/>
  </p:normalViewPr>
  <p:slideViewPr>
    <p:cSldViewPr snapToGrid="0">
      <p:cViewPr varScale="1">
        <p:scale>
          <a:sx n="48" d="100"/>
          <a:sy n="48" d="100"/>
        </p:scale>
        <p:origin x="1268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81141-7A5D-4940-AD23-CCD8E2E28C90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C5383-A0D3-422C-AD55-83366BE25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2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be perfectly precise with Java terminology, once you add the static keyword, it is technically no longer called an "inner class" but rather a </a:t>
            </a:r>
            <a:r>
              <a:rPr lang="en-US" b="1" dirty="0" smtClean="0"/>
              <a:t>"Static Nested Class."</a:t>
            </a:r>
            <a:r>
              <a:rPr lang="en-US" dirty="0" smtClean="0"/>
              <a:t> However, developers use the terms interchangeably all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74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lambda expression consists of three main parts:</a:t>
            </a:r>
          </a:p>
          <a:p>
            <a:r>
              <a:rPr lang="en-US" b="1" dirty="0" smtClean="0"/>
              <a:t>Parameters ( ):</a:t>
            </a:r>
            <a:r>
              <a:rPr lang="en-US" dirty="0" smtClean="0"/>
              <a:t> A comma-separated list of formal parameters enclosed in parentheses. If there is only one parameter, the parentheses can be omitted. If there are no parameters, empty parentheses are required.</a:t>
            </a:r>
          </a:p>
          <a:p>
            <a:r>
              <a:rPr lang="en-US" b="1" dirty="0" smtClean="0"/>
              <a:t>The Arrow Token -&gt;:</a:t>
            </a:r>
            <a:r>
              <a:rPr lang="en-US" dirty="0" smtClean="0"/>
              <a:t> This simply links the parameters to the body of the lambda. You can read it as "becomes" or "goes to".</a:t>
            </a:r>
          </a:p>
          <a:p>
            <a:r>
              <a:rPr lang="en-US" b="1" dirty="0" smtClean="0"/>
              <a:t>The Body { }:</a:t>
            </a:r>
            <a:r>
              <a:rPr lang="en-US" dirty="0" smtClean="0"/>
              <a:t> Contains expressions or statements. If it's a single expression, curly braces are not required, and the result of the expression is automatically returned. If it contains multiple statements, curly braces are required, and you must explicitly use a return statement if a value needs to be returned.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26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Functional Interface is simply any interface in Java that contains </a:t>
            </a:r>
            <a:r>
              <a:rPr lang="en-US" b="1" dirty="0" smtClean="0"/>
              <a:t>exactly one abstract method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EventHandler</a:t>
            </a:r>
            <a:r>
              <a:rPr lang="en-US" dirty="0" smtClean="0"/>
              <a:t>&lt;T&gt; is a functional interface because it only has handle().</a:t>
            </a:r>
          </a:p>
          <a:p>
            <a:r>
              <a:rPr lang="en-US" dirty="0" smtClean="0"/>
              <a:t>Runnable is a functional interface because it only has run().</a:t>
            </a:r>
          </a:p>
          <a:p>
            <a:r>
              <a:rPr lang="en-US" dirty="0" err="1" smtClean="0"/>
              <a:t>ActionListener</a:t>
            </a:r>
            <a:r>
              <a:rPr lang="en-US" dirty="0" smtClean="0"/>
              <a:t> is a functional interface because it only has </a:t>
            </a:r>
            <a:r>
              <a:rPr lang="en-US" dirty="0" err="1" smtClean="0"/>
              <a:t>actionPerformed</a:t>
            </a:r>
            <a:r>
              <a:rPr lang="en-US" dirty="0" smtClean="0"/>
              <a:t>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83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2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43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01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81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69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4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98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481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17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/>
              <a:t>Button</a:t>
            </a:r>
            <a:r>
              <a:rPr lang="en-US" dirty="0" smtClean="0"/>
              <a:t> is the </a:t>
            </a:r>
            <a:r>
              <a:rPr lang="en-US" b="1" dirty="0" smtClean="0"/>
              <a:t>Target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event happens when the </a:t>
            </a:r>
            <a:r>
              <a:rPr lang="en-US" b="1" dirty="0" smtClean="0"/>
              <a:t>user clicks the button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/>
              <a:t>source</a:t>
            </a:r>
            <a:r>
              <a:rPr lang="en-US" dirty="0" smtClean="0"/>
              <a:t> is the </a:t>
            </a:r>
            <a:r>
              <a:rPr lang="en-US" b="1" dirty="0" smtClean="0"/>
              <a:t>object that generated the event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4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7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6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 Transition in JavaFX is applied using the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RotateTransition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in the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javafx.animation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package. This is done by specifying the starting value, the ending value and the duration of the transition. The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RotateTransition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has the following properties −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smtClean="0"/>
              <a:t>import </a:t>
            </a:r>
            <a:r>
              <a:rPr lang="en-US" dirty="0" err="1" smtClean="0"/>
              <a:t>javafx.animation.RotateTransition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javafx.application.Application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static </a:t>
            </a:r>
            <a:r>
              <a:rPr lang="en-US" dirty="0" err="1" smtClean="0"/>
              <a:t>javafx.application.Application.launch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javafx.scene.Group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javafx.scene.Scene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javafx.scene.paint.Color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javafx.scene.shape.Polygon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javafx.stage.Stage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javafx.util.Duration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public class </a:t>
            </a:r>
            <a:r>
              <a:rPr lang="en-US" dirty="0" err="1" smtClean="0"/>
              <a:t>RotateTransitionExample</a:t>
            </a:r>
            <a:r>
              <a:rPr lang="en-US" dirty="0" smtClean="0"/>
              <a:t> extends Application { </a:t>
            </a:r>
          </a:p>
          <a:p>
            <a:r>
              <a:rPr lang="en-US" dirty="0" smtClean="0"/>
              <a:t>   @Override </a:t>
            </a:r>
          </a:p>
          <a:p>
            <a:r>
              <a:rPr lang="en-US" dirty="0" smtClean="0"/>
              <a:t>   public void start(Stage stage) {      </a:t>
            </a:r>
          </a:p>
          <a:p>
            <a:r>
              <a:rPr lang="en-US" dirty="0" smtClean="0"/>
              <a:t>      //Creating a hexagon </a:t>
            </a:r>
          </a:p>
          <a:p>
            <a:r>
              <a:rPr lang="en-US" dirty="0" smtClean="0"/>
              <a:t>      Polygon hexagon = new Polygon();       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//Adding coordinates to the hexagon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hexagon.getPoints</a:t>
            </a:r>
            <a:r>
              <a:rPr lang="en-US" dirty="0" smtClean="0"/>
              <a:t>().</a:t>
            </a:r>
            <a:r>
              <a:rPr lang="en-US" dirty="0" err="1" smtClean="0"/>
              <a:t>addAll</a:t>
            </a:r>
            <a:r>
              <a:rPr lang="en-US" dirty="0" smtClean="0"/>
              <a:t>(new Double[]{        </a:t>
            </a:r>
          </a:p>
          <a:p>
            <a:r>
              <a:rPr lang="en-US" dirty="0" smtClean="0"/>
              <a:t>         200.0, 50.0, </a:t>
            </a:r>
          </a:p>
          <a:p>
            <a:r>
              <a:rPr lang="en-US" dirty="0" smtClean="0"/>
              <a:t>         400.0, 50.0, </a:t>
            </a:r>
          </a:p>
          <a:p>
            <a:r>
              <a:rPr lang="en-US" dirty="0" smtClean="0"/>
              <a:t>         450.0, 150.0,          </a:t>
            </a:r>
          </a:p>
          <a:p>
            <a:r>
              <a:rPr lang="en-US" dirty="0" smtClean="0"/>
              <a:t>         400.0, 250.0, </a:t>
            </a:r>
          </a:p>
          <a:p>
            <a:r>
              <a:rPr lang="en-US" dirty="0" smtClean="0"/>
              <a:t>         200.0, 250.0,                   </a:t>
            </a:r>
          </a:p>
          <a:p>
            <a:r>
              <a:rPr lang="en-US" dirty="0" smtClean="0"/>
              <a:t>         150.0, 150.0, </a:t>
            </a:r>
          </a:p>
          <a:p>
            <a:r>
              <a:rPr lang="en-US" dirty="0" smtClean="0"/>
              <a:t>      }); </a:t>
            </a:r>
          </a:p>
          <a:p>
            <a:r>
              <a:rPr lang="en-US" dirty="0" smtClean="0"/>
              <a:t>      //Setting the fill color for the hexagon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hexagon.setFill</a:t>
            </a:r>
            <a:r>
              <a:rPr lang="en-US" dirty="0" smtClean="0"/>
              <a:t>(</a:t>
            </a:r>
            <a:r>
              <a:rPr lang="en-US" dirty="0" err="1" smtClean="0"/>
              <a:t>Color.BLUE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//Creating a rotate transition  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RotateTransition</a:t>
            </a:r>
            <a:r>
              <a:rPr lang="en-US" dirty="0" smtClean="0"/>
              <a:t> </a:t>
            </a:r>
            <a:r>
              <a:rPr lang="en-US" dirty="0" err="1" smtClean="0"/>
              <a:t>rotateTransition</a:t>
            </a:r>
            <a:r>
              <a:rPr lang="en-US" dirty="0" smtClean="0"/>
              <a:t> = new </a:t>
            </a:r>
            <a:r>
              <a:rPr lang="en-US" dirty="0" err="1" smtClean="0"/>
              <a:t>RotateTransition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duration for the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rotateTransition.setDuration</a:t>
            </a:r>
            <a:r>
              <a:rPr lang="en-US" dirty="0" smtClean="0"/>
              <a:t>(</a:t>
            </a:r>
            <a:r>
              <a:rPr lang="en-US" dirty="0" err="1" smtClean="0"/>
              <a:t>Duration.millis</a:t>
            </a:r>
            <a:r>
              <a:rPr lang="en-US" dirty="0" smtClean="0"/>
              <a:t>(1000));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node for the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rotateTransition.setNode</a:t>
            </a:r>
            <a:r>
              <a:rPr lang="en-US" dirty="0" smtClean="0"/>
              <a:t>(hexagon);      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angle of the rotation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rotateTransition.setByAngle</a:t>
            </a:r>
            <a:r>
              <a:rPr lang="en-US" dirty="0" smtClean="0"/>
              <a:t>(360);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cycle count for the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rotateTransition.setCycleCount</a:t>
            </a:r>
            <a:r>
              <a:rPr lang="en-US" dirty="0" smtClean="0"/>
              <a:t>(50);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auto reverse value to false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rotateTransition.setAutoReverse</a:t>
            </a:r>
            <a:r>
              <a:rPr lang="en-US" dirty="0" smtClean="0"/>
              <a:t>(false);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//Playing the animation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rotateTransition.play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Group object   </a:t>
            </a:r>
          </a:p>
          <a:p>
            <a:r>
              <a:rPr lang="en-US" dirty="0" smtClean="0"/>
              <a:t>      Group root = new Group(hexagon);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scene object </a:t>
            </a:r>
          </a:p>
          <a:p>
            <a:r>
              <a:rPr lang="en-US" dirty="0" smtClean="0"/>
              <a:t>      Scene </a:t>
            </a:r>
            <a:r>
              <a:rPr lang="en-US" dirty="0" err="1" smtClean="0"/>
              <a:t>scene</a:t>
            </a:r>
            <a:r>
              <a:rPr lang="en-US" dirty="0" smtClean="0"/>
              <a:t> = new Scene(root, 600, 300);  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title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stage.setTitle</a:t>
            </a:r>
            <a:r>
              <a:rPr lang="en-US" dirty="0" smtClean="0"/>
              <a:t>("Rotate transition example ");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//Adding scene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stage.setScene</a:t>
            </a:r>
            <a:r>
              <a:rPr lang="en-US" dirty="0" smtClean="0"/>
              <a:t>(scene);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//Displaying the contents of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stage.show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}      </a:t>
            </a:r>
          </a:p>
          <a:p>
            <a:r>
              <a:rPr lang="en-US" dirty="0" smtClean="0"/>
              <a:t>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</a:t>
            </a:r>
          </a:p>
          <a:p>
            <a:r>
              <a:rPr lang="en-US" dirty="0" smtClean="0"/>
              <a:t>      launch(</a:t>
            </a:r>
            <a:r>
              <a:rPr lang="en-US" dirty="0" err="1" smtClean="0"/>
              <a:t>args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}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36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 Transition in JavaFX is applied using the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RotateTransition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in the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javafx.animation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package. This is done by specifying the starting value, the ending value and the duration of the transition. The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RotateTransition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has the following properties 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91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 Transition in JavaFX is applied using the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RotateTransition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in the 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javafx.animation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package. This is done by specifying the starting value, the ending value and the duration of the transition. The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RotateTransition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has the following properties 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513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r>
              <a:rPr lang="en-US" dirty="0" err="1" smtClean="0"/>
              <a:t>javafx.animation.FadeTransition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javafx.application.Application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javafx.scene.Group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javafx.scene.Scene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javafx.scene.paint.Color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javafx.scene.shape.Circle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javafx.stage.Stage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javafx.util.Duration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public class </a:t>
            </a:r>
            <a:r>
              <a:rPr lang="en-US" dirty="0" err="1" smtClean="0"/>
              <a:t>FadeTransitionExample</a:t>
            </a:r>
            <a:r>
              <a:rPr lang="en-US" dirty="0" smtClean="0"/>
              <a:t> extends Application { </a:t>
            </a:r>
          </a:p>
          <a:p>
            <a:r>
              <a:rPr lang="en-US" dirty="0" smtClean="0"/>
              <a:t>   @Override </a:t>
            </a:r>
          </a:p>
          <a:p>
            <a:r>
              <a:rPr lang="en-US" dirty="0" smtClean="0"/>
              <a:t>   public void start(Stage stage) {</a:t>
            </a:r>
          </a:p>
          <a:p>
            <a:r>
              <a:rPr lang="en-US" dirty="0" smtClean="0"/>
              <a:t>      //Drawing a Circle </a:t>
            </a:r>
          </a:p>
          <a:p>
            <a:r>
              <a:rPr lang="en-US" dirty="0" smtClean="0"/>
              <a:t>      Circle </a:t>
            </a:r>
            <a:r>
              <a:rPr lang="en-US" dirty="0" err="1" smtClean="0"/>
              <a:t>circle</a:t>
            </a:r>
            <a:r>
              <a:rPr lang="en-US" dirty="0" smtClean="0"/>
              <a:t> = new Circle();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position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circle.setCenterX</a:t>
            </a:r>
            <a:r>
              <a:rPr lang="en-US" dirty="0" smtClean="0"/>
              <a:t>(300.0f);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circle.setCenterY</a:t>
            </a:r>
            <a:r>
              <a:rPr lang="en-US" dirty="0" smtClean="0"/>
              <a:t>(135.0f);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radius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circle.setRadius</a:t>
            </a:r>
            <a:r>
              <a:rPr lang="en-US" dirty="0" smtClean="0"/>
              <a:t>(100.0f);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color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circle.setFill</a:t>
            </a:r>
            <a:r>
              <a:rPr lang="en-US" dirty="0" smtClean="0"/>
              <a:t>(</a:t>
            </a:r>
            <a:r>
              <a:rPr lang="en-US" dirty="0" err="1" smtClean="0"/>
              <a:t>Color.BROWN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stroke width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circle.setStrokeWidth</a:t>
            </a:r>
            <a:r>
              <a:rPr lang="en-US" dirty="0" smtClean="0"/>
              <a:t>(20);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//Creating the fade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</a:t>
            </a:r>
            <a:r>
              <a:rPr lang="en-US" dirty="0" smtClean="0"/>
              <a:t> </a:t>
            </a:r>
            <a:r>
              <a:rPr lang="en-US" dirty="0" err="1" smtClean="0"/>
              <a:t>fadeTransition</a:t>
            </a:r>
            <a:r>
              <a:rPr lang="en-US" dirty="0" smtClean="0"/>
              <a:t> = new </a:t>
            </a:r>
            <a:r>
              <a:rPr lang="en-US" dirty="0" err="1" smtClean="0"/>
              <a:t>FadeTransition</a:t>
            </a:r>
            <a:r>
              <a:rPr lang="en-US" dirty="0" smtClean="0"/>
              <a:t>(</a:t>
            </a:r>
            <a:r>
              <a:rPr lang="en-US" dirty="0" err="1" smtClean="0"/>
              <a:t>Duration.millis</a:t>
            </a:r>
            <a:r>
              <a:rPr lang="en-US" dirty="0" smtClean="0"/>
              <a:t>(1000));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node for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fadeTransition.setNode</a:t>
            </a:r>
            <a:r>
              <a:rPr lang="en-US" dirty="0" smtClean="0"/>
              <a:t>(circle);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property </a:t>
            </a:r>
            <a:r>
              <a:rPr lang="en-US" dirty="0" err="1" smtClean="0"/>
              <a:t>fromValue</a:t>
            </a:r>
            <a:r>
              <a:rPr lang="en-US" dirty="0" smtClean="0"/>
              <a:t> of the transition (opacity)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fadeTransition.setFromValue</a:t>
            </a:r>
            <a:r>
              <a:rPr lang="en-US" dirty="0" smtClean="0"/>
              <a:t>(1.0);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property </a:t>
            </a:r>
            <a:r>
              <a:rPr lang="en-US" dirty="0" err="1" smtClean="0"/>
              <a:t>toValue</a:t>
            </a:r>
            <a:r>
              <a:rPr lang="en-US" dirty="0" smtClean="0"/>
              <a:t> of the transition (opacity)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fadeTransition.setToValue</a:t>
            </a:r>
            <a:r>
              <a:rPr lang="en-US" dirty="0" smtClean="0"/>
              <a:t>(0.3);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cycle count for the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fadeTransition.setCycleCount</a:t>
            </a:r>
            <a:r>
              <a:rPr lang="en-US" dirty="0" smtClean="0"/>
              <a:t>(50);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auto reverse value to false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fadeTransition.setAutoReverse</a:t>
            </a:r>
            <a:r>
              <a:rPr lang="en-US" dirty="0" smtClean="0"/>
              <a:t>(false);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      //Playing the animation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fadeTransition.play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Group object  </a:t>
            </a:r>
          </a:p>
          <a:p>
            <a:r>
              <a:rPr lang="en-US" dirty="0" smtClean="0"/>
              <a:t>      Group root = new Group(circle);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scene object </a:t>
            </a:r>
          </a:p>
          <a:p>
            <a:r>
              <a:rPr lang="en-US" dirty="0" smtClean="0"/>
              <a:t>      Scene </a:t>
            </a:r>
            <a:r>
              <a:rPr lang="en-US" dirty="0" err="1" smtClean="0"/>
              <a:t>scene</a:t>
            </a:r>
            <a:r>
              <a:rPr lang="en-US" dirty="0" smtClean="0"/>
              <a:t> = new Scene(root, 600, 300);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title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stage.setTitle</a:t>
            </a:r>
            <a:r>
              <a:rPr lang="en-US" dirty="0" smtClean="0"/>
              <a:t>("Fade transition example");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//Adding scene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stage.setScene</a:t>
            </a:r>
            <a:r>
              <a:rPr lang="en-US" dirty="0" smtClean="0"/>
              <a:t>(scene);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//Displaying the contents of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stage.show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}      </a:t>
            </a:r>
          </a:p>
          <a:p>
            <a:r>
              <a:rPr lang="en-US" dirty="0" smtClean="0"/>
              <a:t>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</a:t>
            </a:r>
          </a:p>
          <a:p>
            <a:r>
              <a:rPr lang="en-US" dirty="0" smtClean="0"/>
              <a:t>      launch(</a:t>
            </a:r>
            <a:r>
              <a:rPr lang="en-US" dirty="0" err="1" smtClean="0"/>
              <a:t>args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} 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22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r>
              <a:rPr lang="en-US" dirty="0" err="1" smtClean="0"/>
              <a:t>javafx.animation.FadeTransition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javafx.application.Application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javafx.scene.Group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javafx.scene.Scene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javafx.scene.paint.Color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javafx.scene.shape.Circle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javafx.stage.Stage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javafx.util.Duration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public class </a:t>
            </a:r>
            <a:r>
              <a:rPr lang="en-US" dirty="0" err="1" smtClean="0"/>
              <a:t>FadeTransitionExample</a:t>
            </a:r>
            <a:r>
              <a:rPr lang="en-US" dirty="0" smtClean="0"/>
              <a:t> extends Application { </a:t>
            </a:r>
          </a:p>
          <a:p>
            <a:r>
              <a:rPr lang="en-US" dirty="0" smtClean="0"/>
              <a:t>   @Override </a:t>
            </a:r>
          </a:p>
          <a:p>
            <a:r>
              <a:rPr lang="en-US" dirty="0" smtClean="0"/>
              <a:t>   public void start(Stage stage) {</a:t>
            </a:r>
          </a:p>
          <a:p>
            <a:r>
              <a:rPr lang="en-US" dirty="0" smtClean="0"/>
              <a:t>      //Drawing a Circle </a:t>
            </a:r>
          </a:p>
          <a:p>
            <a:r>
              <a:rPr lang="en-US" dirty="0" smtClean="0"/>
              <a:t>      Circle </a:t>
            </a:r>
            <a:r>
              <a:rPr lang="en-US" dirty="0" err="1" smtClean="0"/>
              <a:t>circle</a:t>
            </a:r>
            <a:r>
              <a:rPr lang="en-US" dirty="0" smtClean="0"/>
              <a:t> = new Circle();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position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circle.setCenterX</a:t>
            </a:r>
            <a:r>
              <a:rPr lang="en-US" dirty="0" smtClean="0"/>
              <a:t>(300.0f);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circle.setCenterY</a:t>
            </a:r>
            <a:r>
              <a:rPr lang="en-US" dirty="0" smtClean="0"/>
              <a:t>(135.0f);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radius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circle.setRadius</a:t>
            </a:r>
            <a:r>
              <a:rPr lang="en-US" dirty="0" smtClean="0"/>
              <a:t>(100.0f);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color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circle.setFill</a:t>
            </a:r>
            <a:r>
              <a:rPr lang="en-US" dirty="0" smtClean="0"/>
              <a:t>(</a:t>
            </a:r>
            <a:r>
              <a:rPr lang="en-US" dirty="0" err="1" smtClean="0"/>
              <a:t>Color.BROWN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stroke width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circle.setStrokeWidth</a:t>
            </a:r>
            <a:r>
              <a:rPr lang="en-US" dirty="0" smtClean="0"/>
              <a:t>(20);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//Creating the fade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</a:t>
            </a:r>
            <a:r>
              <a:rPr lang="en-US" dirty="0" smtClean="0"/>
              <a:t> </a:t>
            </a:r>
            <a:r>
              <a:rPr lang="en-US" dirty="0" err="1" smtClean="0"/>
              <a:t>fadeTransition</a:t>
            </a:r>
            <a:r>
              <a:rPr lang="en-US" dirty="0" smtClean="0"/>
              <a:t> = new </a:t>
            </a:r>
            <a:r>
              <a:rPr lang="en-US" dirty="0" err="1" smtClean="0"/>
              <a:t>FadeTransition</a:t>
            </a:r>
            <a:r>
              <a:rPr lang="en-US" dirty="0" smtClean="0"/>
              <a:t>(</a:t>
            </a:r>
            <a:r>
              <a:rPr lang="en-US" dirty="0" err="1" smtClean="0"/>
              <a:t>Duration.millis</a:t>
            </a:r>
            <a:r>
              <a:rPr lang="en-US" dirty="0" smtClean="0"/>
              <a:t>(1000));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node for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fadeTransition.setNode</a:t>
            </a:r>
            <a:r>
              <a:rPr lang="en-US" dirty="0" smtClean="0"/>
              <a:t>(circle);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property </a:t>
            </a:r>
            <a:r>
              <a:rPr lang="en-US" dirty="0" err="1" smtClean="0"/>
              <a:t>fromValue</a:t>
            </a:r>
            <a:r>
              <a:rPr lang="en-US" dirty="0" smtClean="0"/>
              <a:t> of the transition (opacity)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fadeTransition.setFromValue</a:t>
            </a:r>
            <a:r>
              <a:rPr lang="en-US" dirty="0" smtClean="0"/>
              <a:t>(1.0);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property </a:t>
            </a:r>
            <a:r>
              <a:rPr lang="en-US" dirty="0" err="1" smtClean="0"/>
              <a:t>toValue</a:t>
            </a:r>
            <a:r>
              <a:rPr lang="en-US" dirty="0" smtClean="0"/>
              <a:t> of the transition (opacity)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fadeTransition.setToValue</a:t>
            </a:r>
            <a:r>
              <a:rPr lang="en-US" dirty="0" smtClean="0"/>
              <a:t>(0.3);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cycle count for the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fadeTransition.setCycleCount</a:t>
            </a:r>
            <a:r>
              <a:rPr lang="en-US" dirty="0" smtClean="0"/>
              <a:t>(50);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auto reverse value to false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fadeTransition.setAutoReverse</a:t>
            </a:r>
            <a:r>
              <a:rPr lang="en-US" dirty="0" smtClean="0"/>
              <a:t>(false);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      //Playing the animation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fadeTransition.play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Group object  </a:t>
            </a:r>
          </a:p>
          <a:p>
            <a:r>
              <a:rPr lang="en-US" dirty="0" smtClean="0"/>
              <a:t>      Group root = new Group(circle);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scene object </a:t>
            </a:r>
          </a:p>
          <a:p>
            <a:r>
              <a:rPr lang="en-US" dirty="0" smtClean="0"/>
              <a:t>      Scene </a:t>
            </a:r>
            <a:r>
              <a:rPr lang="en-US" dirty="0" err="1" smtClean="0"/>
              <a:t>scene</a:t>
            </a:r>
            <a:r>
              <a:rPr lang="en-US" dirty="0" smtClean="0"/>
              <a:t> = new Scene(root, 600, 300);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title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stage.setTitle</a:t>
            </a:r>
            <a:r>
              <a:rPr lang="en-US" dirty="0" smtClean="0"/>
              <a:t>("Fade transition example");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//Adding scene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stage.setScene</a:t>
            </a:r>
            <a:r>
              <a:rPr lang="en-US" dirty="0" smtClean="0"/>
              <a:t>(scene);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//Displaying the contents of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stage.show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}      </a:t>
            </a:r>
          </a:p>
          <a:p>
            <a:r>
              <a:rPr lang="en-US" dirty="0" smtClean="0"/>
              <a:t>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</a:t>
            </a:r>
          </a:p>
          <a:p>
            <a:r>
              <a:rPr lang="en-US" dirty="0" smtClean="0"/>
              <a:t>      launch(</a:t>
            </a:r>
            <a:r>
              <a:rPr lang="en-US" dirty="0" err="1" smtClean="0"/>
              <a:t>args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} 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1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r>
              <a:rPr lang="en-US" dirty="0" err="1" smtClean="0"/>
              <a:t>javafx.animation.FadeTransition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javafx.application.Application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javafx.scene.Group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javafx.scene.Scene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javafx.scene.paint.Color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javafx.scene.shape.Circle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javafx.stage.Stage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javafx.util.Duration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public class </a:t>
            </a:r>
            <a:r>
              <a:rPr lang="en-US" dirty="0" err="1" smtClean="0"/>
              <a:t>FadeTransitionExample</a:t>
            </a:r>
            <a:r>
              <a:rPr lang="en-US" dirty="0" smtClean="0"/>
              <a:t> extends Application { </a:t>
            </a:r>
          </a:p>
          <a:p>
            <a:r>
              <a:rPr lang="en-US" dirty="0" smtClean="0"/>
              <a:t>   @Override </a:t>
            </a:r>
          </a:p>
          <a:p>
            <a:r>
              <a:rPr lang="en-US" dirty="0" smtClean="0"/>
              <a:t>   public void start(Stage stage) {</a:t>
            </a:r>
          </a:p>
          <a:p>
            <a:r>
              <a:rPr lang="en-US" dirty="0" smtClean="0"/>
              <a:t>      //Drawing a Circle </a:t>
            </a:r>
          </a:p>
          <a:p>
            <a:r>
              <a:rPr lang="en-US" dirty="0" smtClean="0"/>
              <a:t>      Circle </a:t>
            </a:r>
            <a:r>
              <a:rPr lang="en-US" dirty="0" err="1" smtClean="0"/>
              <a:t>circle</a:t>
            </a:r>
            <a:r>
              <a:rPr lang="en-US" dirty="0" smtClean="0"/>
              <a:t> = new Circle();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position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circle.setCenterX</a:t>
            </a:r>
            <a:r>
              <a:rPr lang="en-US" dirty="0" smtClean="0"/>
              <a:t>(300.0f);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circle.setCenterY</a:t>
            </a:r>
            <a:r>
              <a:rPr lang="en-US" dirty="0" smtClean="0"/>
              <a:t>(135.0f);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radius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circle.setRadius</a:t>
            </a:r>
            <a:r>
              <a:rPr lang="en-US" dirty="0" smtClean="0"/>
              <a:t>(100.0f);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color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circle.setFill</a:t>
            </a:r>
            <a:r>
              <a:rPr lang="en-US" dirty="0" smtClean="0"/>
              <a:t>(</a:t>
            </a:r>
            <a:r>
              <a:rPr lang="en-US" dirty="0" err="1" smtClean="0"/>
              <a:t>Color.BROWN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stroke width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circle.setStrokeWidth</a:t>
            </a:r>
            <a:r>
              <a:rPr lang="en-US" dirty="0" smtClean="0"/>
              <a:t>(20);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//Creating the fade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</a:t>
            </a:r>
            <a:r>
              <a:rPr lang="en-US" dirty="0" smtClean="0"/>
              <a:t> </a:t>
            </a:r>
            <a:r>
              <a:rPr lang="en-US" dirty="0" err="1" smtClean="0"/>
              <a:t>fadeTransition</a:t>
            </a:r>
            <a:r>
              <a:rPr lang="en-US" dirty="0" smtClean="0"/>
              <a:t> = new </a:t>
            </a:r>
            <a:r>
              <a:rPr lang="en-US" dirty="0" err="1" smtClean="0"/>
              <a:t>FadeTransition</a:t>
            </a:r>
            <a:r>
              <a:rPr lang="en-US" dirty="0" smtClean="0"/>
              <a:t>(</a:t>
            </a:r>
            <a:r>
              <a:rPr lang="en-US" dirty="0" err="1" smtClean="0"/>
              <a:t>Duration.millis</a:t>
            </a:r>
            <a:r>
              <a:rPr lang="en-US" dirty="0" smtClean="0"/>
              <a:t>(1000));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node for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fadeTransition.setNode</a:t>
            </a:r>
            <a:r>
              <a:rPr lang="en-US" dirty="0" smtClean="0"/>
              <a:t>(circle);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property </a:t>
            </a:r>
            <a:r>
              <a:rPr lang="en-US" dirty="0" err="1" smtClean="0"/>
              <a:t>fromValue</a:t>
            </a:r>
            <a:r>
              <a:rPr lang="en-US" dirty="0" smtClean="0"/>
              <a:t> of the transition (opacity)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fadeTransition.setFromValue</a:t>
            </a:r>
            <a:r>
              <a:rPr lang="en-US" dirty="0" smtClean="0"/>
              <a:t>(1.0);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property </a:t>
            </a:r>
            <a:r>
              <a:rPr lang="en-US" dirty="0" err="1" smtClean="0"/>
              <a:t>toValue</a:t>
            </a:r>
            <a:r>
              <a:rPr lang="en-US" dirty="0" smtClean="0"/>
              <a:t> of the transition (opacity)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fadeTransition.setToValue</a:t>
            </a:r>
            <a:r>
              <a:rPr lang="en-US" dirty="0" smtClean="0"/>
              <a:t>(0.3);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cycle count for the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fadeTransition.setCycleCount</a:t>
            </a:r>
            <a:r>
              <a:rPr lang="en-US" dirty="0" smtClean="0"/>
              <a:t>(50);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auto reverse value to false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fadeTransition.setAutoReverse</a:t>
            </a:r>
            <a:r>
              <a:rPr lang="en-US" dirty="0" smtClean="0"/>
              <a:t>(false);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      //Playing the animation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fadeTransition.play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Group object  </a:t>
            </a:r>
          </a:p>
          <a:p>
            <a:r>
              <a:rPr lang="en-US" dirty="0" smtClean="0"/>
              <a:t>      Group root = new Group(circle);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scene object </a:t>
            </a:r>
          </a:p>
          <a:p>
            <a:r>
              <a:rPr lang="en-US" dirty="0" smtClean="0"/>
              <a:t>      Scene </a:t>
            </a:r>
            <a:r>
              <a:rPr lang="en-US" dirty="0" err="1" smtClean="0"/>
              <a:t>scene</a:t>
            </a:r>
            <a:r>
              <a:rPr lang="en-US" dirty="0" smtClean="0"/>
              <a:t> = new Scene(root, 600, 300);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title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stage.setTitle</a:t>
            </a:r>
            <a:r>
              <a:rPr lang="en-US" dirty="0" smtClean="0"/>
              <a:t>("Fade transition example");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//Adding scene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stage.setScene</a:t>
            </a:r>
            <a:r>
              <a:rPr lang="en-US" dirty="0" smtClean="0"/>
              <a:t>(scene);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//Displaying the contents of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stage.show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}      </a:t>
            </a:r>
          </a:p>
          <a:p>
            <a:r>
              <a:rPr lang="en-US" dirty="0" smtClean="0"/>
              <a:t>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</a:t>
            </a:r>
          </a:p>
          <a:p>
            <a:r>
              <a:rPr lang="en-US" dirty="0" smtClean="0"/>
              <a:t>      launch(</a:t>
            </a:r>
            <a:r>
              <a:rPr lang="en-US" dirty="0" err="1" smtClean="0"/>
              <a:t>args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} 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16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r>
              <a:rPr lang="en-US" dirty="0" err="1" smtClean="0"/>
              <a:t>javafx.animation.FadeTransition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javafx.application.Application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javafx.scene.Group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javafx.scene.Scene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javafx.scene.paint.Color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javafx.scene.shape.Circle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javafx.stage.Stage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javafx.util.Duration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public class </a:t>
            </a:r>
            <a:r>
              <a:rPr lang="en-US" dirty="0" err="1" smtClean="0"/>
              <a:t>FadeTransitionExample</a:t>
            </a:r>
            <a:r>
              <a:rPr lang="en-US" dirty="0" smtClean="0"/>
              <a:t> extends Application { </a:t>
            </a:r>
          </a:p>
          <a:p>
            <a:r>
              <a:rPr lang="en-US" dirty="0" smtClean="0"/>
              <a:t>   @Override </a:t>
            </a:r>
          </a:p>
          <a:p>
            <a:r>
              <a:rPr lang="en-US" dirty="0" smtClean="0"/>
              <a:t>   public void start(Stage stage) {</a:t>
            </a:r>
          </a:p>
          <a:p>
            <a:r>
              <a:rPr lang="en-US" dirty="0" smtClean="0"/>
              <a:t>      //Drawing a Circle </a:t>
            </a:r>
          </a:p>
          <a:p>
            <a:r>
              <a:rPr lang="en-US" dirty="0" smtClean="0"/>
              <a:t>      Circle </a:t>
            </a:r>
            <a:r>
              <a:rPr lang="en-US" dirty="0" err="1" smtClean="0"/>
              <a:t>circle</a:t>
            </a:r>
            <a:r>
              <a:rPr lang="en-US" dirty="0" smtClean="0"/>
              <a:t> = new Circle();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position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circle.setCenterX</a:t>
            </a:r>
            <a:r>
              <a:rPr lang="en-US" dirty="0" smtClean="0"/>
              <a:t>(300.0f);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circle.setCenterY</a:t>
            </a:r>
            <a:r>
              <a:rPr lang="en-US" dirty="0" smtClean="0"/>
              <a:t>(135.0f);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radius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circle.setRadius</a:t>
            </a:r>
            <a:r>
              <a:rPr lang="en-US" dirty="0" smtClean="0"/>
              <a:t>(100.0f);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color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circle.setFill</a:t>
            </a:r>
            <a:r>
              <a:rPr lang="en-US" dirty="0" smtClean="0"/>
              <a:t>(</a:t>
            </a:r>
            <a:r>
              <a:rPr lang="en-US" dirty="0" err="1" smtClean="0"/>
              <a:t>Color.BROWN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stroke width of the circle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circle.setStrokeWidth</a:t>
            </a:r>
            <a:r>
              <a:rPr lang="en-US" dirty="0" smtClean="0"/>
              <a:t>(20);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//Creating the fade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</a:t>
            </a:r>
            <a:r>
              <a:rPr lang="en-US" dirty="0" smtClean="0"/>
              <a:t> </a:t>
            </a:r>
            <a:r>
              <a:rPr lang="en-US" dirty="0" err="1" smtClean="0"/>
              <a:t>fadeTransition</a:t>
            </a:r>
            <a:r>
              <a:rPr lang="en-US" dirty="0" smtClean="0"/>
              <a:t> = new </a:t>
            </a:r>
            <a:r>
              <a:rPr lang="en-US" dirty="0" err="1" smtClean="0"/>
              <a:t>FadeTransition</a:t>
            </a:r>
            <a:r>
              <a:rPr lang="en-US" dirty="0" smtClean="0"/>
              <a:t>(</a:t>
            </a:r>
            <a:r>
              <a:rPr lang="en-US" dirty="0" err="1" smtClean="0"/>
              <a:t>Duration.millis</a:t>
            </a:r>
            <a:r>
              <a:rPr lang="en-US" dirty="0" smtClean="0"/>
              <a:t>(1000));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node for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fadeTransition.setNode</a:t>
            </a:r>
            <a:r>
              <a:rPr lang="en-US" dirty="0" smtClean="0"/>
              <a:t>(circle);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property </a:t>
            </a:r>
            <a:r>
              <a:rPr lang="en-US" dirty="0" err="1" smtClean="0"/>
              <a:t>fromValue</a:t>
            </a:r>
            <a:r>
              <a:rPr lang="en-US" dirty="0" smtClean="0"/>
              <a:t> of the transition (opacity)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fadeTransition.setFromValue</a:t>
            </a:r>
            <a:r>
              <a:rPr lang="en-US" dirty="0" smtClean="0"/>
              <a:t>(1.0);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property </a:t>
            </a:r>
            <a:r>
              <a:rPr lang="en-US" dirty="0" err="1" smtClean="0"/>
              <a:t>toValue</a:t>
            </a:r>
            <a:r>
              <a:rPr lang="en-US" dirty="0" smtClean="0"/>
              <a:t> of the transition (opacity)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fadeTransition.setToValue</a:t>
            </a:r>
            <a:r>
              <a:rPr lang="en-US" dirty="0" smtClean="0"/>
              <a:t>(0.3);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cycle count for the transition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fadeTransition.setCycleCount</a:t>
            </a:r>
            <a:r>
              <a:rPr lang="en-US" dirty="0" smtClean="0"/>
              <a:t>(50);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auto reverse value to false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fadeTransition.setAutoReverse</a:t>
            </a:r>
            <a:r>
              <a:rPr lang="en-US" dirty="0" smtClean="0"/>
              <a:t>(false);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      //Playing the animation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fadeTransition.play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Group object  </a:t>
            </a:r>
          </a:p>
          <a:p>
            <a:r>
              <a:rPr lang="en-US" dirty="0" smtClean="0"/>
              <a:t>      Group root = new Group(circle);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//Creating a scene object </a:t>
            </a:r>
          </a:p>
          <a:p>
            <a:r>
              <a:rPr lang="en-US" dirty="0" smtClean="0"/>
              <a:t>      Scene </a:t>
            </a:r>
            <a:r>
              <a:rPr lang="en-US" dirty="0" err="1" smtClean="0"/>
              <a:t>scene</a:t>
            </a:r>
            <a:r>
              <a:rPr lang="en-US" dirty="0" smtClean="0"/>
              <a:t> = new Scene(root, 600, 300);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title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stage.setTitle</a:t>
            </a:r>
            <a:r>
              <a:rPr lang="en-US" dirty="0" smtClean="0"/>
              <a:t>("Fade transition example");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//Adding scene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stage.setScene</a:t>
            </a:r>
            <a:r>
              <a:rPr lang="en-US" dirty="0" smtClean="0"/>
              <a:t>(scene);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//Displaying the contents of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stage.show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}      </a:t>
            </a:r>
          </a:p>
          <a:p>
            <a:r>
              <a:rPr lang="en-US" dirty="0" smtClean="0"/>
              <a:t>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</a:t>
            </a:r>
          </a:p>
          <a:p>
            <a:r>
              <a:rPr lang="en-US" dirty="0" smtClean="0"/>
              <a:t>      launch(</a:t>
            </a:r>
            <a:r>
              <a:rPr lang="en-US" dirty="0" err="1" smtClean="0"/>
              <a:t>args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} 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1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import </a:t>
            </a:r>
            <a:r>
              <a:rPr lang="en-US" dirty="0" err="1" smtClean="0"/>
              <a:t>javafx.application.Application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static </a:t>
            </a:r>
            <a:r>
              <a:rPr lang="en-US" dirty="0" err="1" smtClean="0"/>
              <a:t>javafx.application.Application.launch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javafx.geometry.Insets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javafx.geometry.Pos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javafx.scene.Scene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javafx.scene.control.Button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javafx.scene.control.PasswordField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javafx.scene.layout.GridPane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javafx.scene.text.Text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javafx.scene.control.TextField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javafx.stage.Stage</a:t>
            </a:r>
            <a:r>
              <a:rPr lang="en-US" dirty="0" smtClean="0"/>
              <a:t>;  </a:t>
            </a:r>
          </a:p>
          <a:p>
            <a:endParaRPr lang="en-US" dirty="0" smtClean="0"/>
          </a:p>
          <a:p>
            <a:r>
              <a:rPr lang="en-US" dirty="0" smtClean="0"/>
              <a:t>public class </a:t>
            </a:r>
            <a:r>
              <a:rPr lang="en-US" dirty="0" err="1" smtClean="0"/>
              <a:t>CssExample</a:t>
            </a:r>
            <a:r>
              <a:rPr lang="en-US" dirty="0" smtClean="0"/>
              <a:t> extends Application { </a:t>
            </a:r>
          </a:p>
          <a:p>
            <a:r>
              <a:rPr lang="en-US" dirty="0" smtClean="0"/>
              <a:t>   @Override </a:t>
            </a:r>
          </a:p>
          <a:p>
            <a:r>
              <a:rPr lang="en-US" dirty="0" smtClean="0"/>
              <a:t>   public void start(Stage stage) {      </a:t>
            </a:r>
          </a:p>
          <a:p>
            <a:r>
              <a:rPr lang="en-US" dirty="0" smtClean="0"/>
              <a:t>      //creating label email </a:t>
            </a:r>
          </a:p>
          <a:p>
            <a:r>
              <a:rPr lang="en-US" dirty="0" smtClean="0"/>
              <a:t>      Text text1 = new Text("Email");      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//creating label password </a:t>
            </a:r>
          </a:p>
          <a:p>
            <a:r>
              <a:rPr lang="en-US" dirty="0" smtClean="0"/>
              <a:t>      Text text2 = new Text("Password");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//Creating Text Filed for email      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TextField</a:t>
            </a:r>
            <a:r>
              <a:rPr lang="en-US" dirty="0" smtClean="0"/>
              <a:t> textField1 = new </a:t>
            </a:r>
            <a:r>
              <a:rPr lang="en-US" dirty="0" err="1" smtClean="0"/>
              <a:t>TextField</a:t>
            </a:r>
            <a:r>
              <a:rPr lang="en-US" dirty="0" smtClean="0"/>
              <a:t>();      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//Creating Text Filed for password      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PasswordField</a:t>
            </a:r>
            <a:r>
              <a:rPr lang="en-US" dirty="0" smtClean="0"/>
              <a:t> textField2 = new </a:t>
            </a:r>
            <a:r>
              <a:rPr lang="en-US" dirty="0" err="1" smtClean="0"/>
              <a:t>PasswordField</a:t>
            </a:r>
            <a:r>
              <a:rPr lang="en-US" dirty="0" smtClean="0"/>
              <a:t>(); 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//Creating Buttons </a:t>
            </a:r>
          </a:p>
          <a:p>
            <a:r>
              <a:rPr lang="en-US" dirty="0" smtClean="0"/>
              <a:t>      Button button1 = new Button("Submit"); </a:t>
            </a:r>
          </a:p>
          <a:p>
            <a:r>
              <a:rPr lang="en-US" dirty="0" smtClean="0"/>
              <a:t>      Button button2 = new Button("Clear"); 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//Creating a Grid Pane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</a:t>
            </a:r>
            <a:r>
              <a:rPr lang="en-US" dirty="0" smtClean="0"/>
              <a:t> </a:t>
            </a:r>
            <a:r>
              <a:rPr lang="en-US" dirty="0" err="1" smtClean="0"/>
              <a:t>gridPane</a:t>
            </a:r>
            <a:r>
              <a:rPr lang="en-US" dirty="0" smtClean="0"/>
              <a:t> = new </a:t>
            </a:r>
            <a:r>
              <a:rPr lang="en-US" dirty="0" err="1" smtClean="0"/>
              <a:t>GridPane</a:t>
            </a:r>
            <a:r>
              <a:rPr lang="en-US" dirty="0" smtClean="0"/>
              <a:t>();   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size for the pane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gridPane.setMinSize</a:t>
            </a:r>
            <a:r>
              <a:rPr lang="en-US" dirty="0" smtClean="0"/>
              <a:t>(400, 200);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padding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gridPane.setPadding</a:t>
            </a:r>
            <a:r>
              <a:rPr lang="en-US" dirty="0" smtClean="0"/>
              <a:t>(new Insets(10, 10, 10, 10));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vertical and horizontal gaps between the columns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gridPane.setVgap</a:t>
            </a:r>
            <a:r>
              <a:rPr lang="en-US" dirty="0" smtClean="0"/>
              <a:t>(5);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gridPane.setHgap</a:t>
            </a:r>
            <a:r>
              <a:rPr lang="en-US" dirty="0" smtClean="0"/>
              <a:t>(5);       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//Setting the Grid alignment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gridPane.setAlignment</a:t>
            </a:r>
            <a:r>
              <a:rPr lang="en-US" dirty="0" smtClean="0"/>
              <a:t>(</a:t>
            </a:r>
            <a:r>
              <a:rPr lang="en-US" dirty="0" err="1" smtClean="0"/>
              <a:t>Pos.CENTER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//Arranging all the nodes in the grid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gridPane.add</a:t>
            </a:r>
            <a:r>
              <a:rPr lang="en-US" dirty="0" smtClean="0"/>
              <a:t>(text1, 0, 0);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gridPane.add</a:t>
            </a:r>
            <a:r>
              <a:rPr lang="en-US" dirty="0" smtClean="0"/>
              <a:t>(textField1, 1, 0);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gridPane.add</a:t>
            </a:r>
            <a:r>
              <a:rPr lang="en-US" dirty="0" smtClean="0"/>
              <a:t>(text2, 0, 1);     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gridPane.add</a:t>
            </a:r>
            <a:r>
              <a:rPr lang="en-US" dirty="0" smtClean="0"/>
              <a:t>(textField2, 1, 1);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gridPane.add</a:t>
            </a:r>
            <a:r>
              <a:rPr lang="en-US" dirty="0" smtClean="0"/>
              <a:t>(button1, 0, 2);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gridPane.add</a:t>
            </a:r>
            <a:r>
              <a:rPr lang="en-US" dirty="0" smtClean="0"/>
              <a:t>(button2, 1, 2);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//Styling nodes  </a:t>
            </a:r>
          </a:p>
          <a:p>
            <a:r>
              <a:rPr lang="en-US" dirty="0" smtClean="0"/>
              <a:t>      button1.setStyle("-</a:t>
            </a:r>
            <a:r>
              <a:rPr lang="en-US" dirty="0" err="1" smtClean="0"/>
              <a:t>fx</a:t>
            </a:r>
            <a:r>
              <a:rPr lang="en-US" dirty="0" smtClean="0"/>
              <a:t>-background-color: </a:t>
            </a:r>
            <a:r>
              <a:rPr lang="en-US" dirty="0" err="1" smtClean="0"/>
              <a:t>darkslateblue</a:t>
            </a:r>
            <a:r>
              <a:rPr lang="en-US" dirty="0" smtClean="0"/>
              <a:t>; -</a:t>
            </a:r>
            <a:r>
              <a:rPr lang="en-US" dirty="0" err="1" smtClean="0"/>
              <a:t>fx</a:t>
            </a:r>
            <a:r>
              <a:rPr lang="en-US" dirty="0" smtClean="0"/>
              <a:t>-text-fill: white;"); </a:t>
            </a:r>
          </a:p>
          <a:p>
            <a:r>
              <a:rPr lang="en-US" dirty="0" smtClean="0"/>
              <a:t>      button2.setStyle("-</a:t>
            </a:r>
            <a:r>
              <a:rPr lang="en-US" dirty="0" err="1" smtClean="0"/>
              <a:t>fx</a:t>
            </a:r>
            <a:r>
              <a:rPr lang="en-US" dirty="0" smtClean="0"/>
              <a:t>-background-color: </a:t>
            </a:r>
            <a:r>
              <a:rPr lang="en-US" dirty="0" err="1" smtClean="0"/>
              <a:t>darkslateblue</a:t>
            </a:r>
            <a:r>
              <a:rPr lang="en-US" dirty="0" smtClean="0"/>
              <a:t>; -</a:t>
            </a:r>
            <a:r>
              <a:rPr lang="en-US" dirty="0" err="1" smtClean="0"/>
              <a:t>fx</a:t>
            </a:r>
            <a:r>
              <a:rPr lang="en-US" dirty="0" smtClean="0"/>
              <a:t>-text-fill: white;");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text1.setStyle("-</a:t>
            </a:r>
            <a:r>
              <a:rPr lang="en-US" dirty="0" err="1" smtClean="0"/>
              <a:t>fx</a:t>
            </a:r>
            <a:r>
              <a:rPr lang="en-US" dirty="0" smtClean="0"/>
              <a:t>-font: normal bold 20px 'serif' "); </a:t>
            </a:r>
          </a:p>
          <a:p>
            <a:r>
              <a:rPr lang="en-US" dirty="0" smtClean="0"/>
              <a:t>      text2.setStyle("-</a:t>
            </a:r>
            <a:r>
              <a:rPr lang="en-US" dirty="0" err="1" smtClean="0"/>
              <a:t>fx</a:t>
            </a:r>
            <a:r>
              <a:rPr lang="en-US" dirty="0" smtClean="0"/>
              <a:t>-font: normal bold 20px 'serif' ");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gridPane.setStyle</a:t>
            </a:r>
            <a:r>
              <a:rPr lang="en-US" dirty="0" smtClean="0"/>
              <a:t>("-</a:t>
            </a:r>
            <a:r>
              <a:rPr lang="en-US" dirty="0" err="1" smtClean="0"/>
              <a:t>fx</a:t>
            </a:r>
            <a:r>
              <a:rPr lang="en-US" dirty="0" smtClean="0"/>
              <a:t>-background-color: BEIGE;");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 Creating a scene object </a:t>
            </a:r>
          </a:p>
          <a:p>
            <a:r>
              <a:rPr lang="en-US" dirty="0" smtClean="0"/>
              <a:t>      Scene </a:t>
            </a:r>
            <a:r>
              <a:rPr lang="en-US" dirty="0" err="1" smtClean="0"/>
              <a:t>scene</a:t>
            </a:r>
            <a:r>
              <a:rPr lang="en-US" dirty="0" smtClean="0"/>
              <a:t> = new Scene(</a:t>
            </a:r>
            <a:r>
              <a:rPr lang="en-US" dirty="0" err="1" smtClean="0"/>
              <a:t>gridPane</a:t>
            </a:r>
            <a:r>
              <a:rPr lang="en-US" dirty="0" smtClean="0"/>
              <a:t>, 400, 300); </a:t>
            </a:r>
          </a:p>
          <a:p>
            <a:r>
              <a:rPr lang="en-US" dirty="0" smtClean="0"/>
              <a:t>       </a:t>
            </a:r>
          </a:p>
          <a:p>
            <a:r>
              <a:rPr lang="en-US" dirty="0" smtClean="0"/>
              <a:t>      // Setting title to the Stage  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stage.setTitle</a:t>
            </a:r>
            <a:r>
              <a:rPr lang="en-US" dirty="0" smtClean="0"/>
              <a:t>("CSS Example in JavaFX"); </a:t>
            </a:r>
          </a:p>
          <a:p>
            <a:r>
              <a:rPr lang="en-US" dirty="0" smtClean="0"/>
              <a:t>         </a:t>
            </a:r>
          </a:p>
          <a:p>
            <a:r>
              <a:rPr lang="en-US" dirty="0" smtClean="0"/>
              <a:t>      // Adding scene to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stage.setScene</a:t>
            </a:r>
            <a:r>
              <a:rPr lang="en-US" dirty="0" smtClean="0"/>
              <a:t>(scene);</a:t>
            </a:r>
          </a:p>
          <a:p>
            <a:r>
              <a:rPr lang="en-US" dirty="0" smtClean="0"/>
              <a:t>      </a:t>
            </a:r>
          </a:p>
          <a:p>
            <a:r>
              <a:rPr lang="en-US" dirty="0" smtClean="0"/>
              <a:t>      //Displaying the contents of the stage 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stage.show</a:t>
            </a:r>
            <a:r>
              <a:rPr lang="en-US" dirty="0" smtClean="0"/>
              <a:t>(); </a:t>
            </a:r>
          </a:p>
          <a:p>
            <a:r>
              <a:rPr lang="en-US" dirty="0" smtClean="0"/>
              <a:t>   } </a:t>
            </a:r>
          </a:p>
          <a:p>
            <a:r>
              <a:rPr lang="en-US" dirty="0" smtClean="0"/>
              <a:t>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</a:t>
            </a:r>
          </a:p>
          <a:p>
            <a:r>
              <a:rPr lang="en-US" dirty="0" smtClean="0"/>
              <a:t>      launch(</a:t>
            </a:r>
            <a:r>
              <a:rPr lang="en-US" dirty="0" err="1" smtClean="0"/>
              <a:t>args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   } 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86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5383-A0D3-422C-AD55-83366BE2596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6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F689-E2DA-47E3-8165-D59E34087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72B40-AF4A-4C92-BF79-F487D7CF4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BE9AC-B256-4501-9722-CAF8D4AF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185" y="6381177"/>
            <a:ext cx="22790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CC0FD-85F3-4B92-A4D8-6584C249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5619" y="6381176"/>
            <a:ext cx="2743200" cy="365125"/>
          </a:xfrm>
        </p:spPr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6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B523-43D5-4A18-87CD-AA0EF7E6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20691-2C3F-43C2-A375-FA5D4EC3C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EA78E-405F-40D7-9ACE-EB1542EF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1BEC3-2A03-4CEC-90BA-18E827713447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5FF18-6B72-447D-B5A2-D6A0851A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570E1-3A11-4B53-A5EC-DE41F5A3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7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3660-4B2E-4419-8525-09A6EB5A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9685B-DE26-4118-A5E9-E1E4FC71F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3FA-C04B-40F5-B425-D3DF18EF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EB7A-6AB3-4FCA-932F-8B3CEEDC632D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53653-20A2-484C-8343-EA6A418C5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37E7-C8A3-4F0D-B982-B67CE585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7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3200-71C5-4283-9FD7-31CD75A3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58FB2-6546-4AD7-B0EA-8C542C9EB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0780C-6E6D-4C08-93BC-6529F262D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75451-BCCA-43CC-B971-A07EF4A1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7817-A3F1-437B-A90F-12EF341B9C1F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7C01B-EA68-486B-BC55-52534DA86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9BA9B-9197-4642-8145-0B85DF80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5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972E-8021-4285-ADC3-8F02EE13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0A3D4-5F17-4B76-9A32-1B45E5381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438F5-CCC3-45BB-8A0B-56CD246A1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59D56-E31B-4ED8-9DD9-552EF3BC7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F03D3-3D33-4D4B-B03B-344531C98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0CD2F-5114-4AA7-B159-71377410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24EF-5D8D-4C93-87C5-67118B55AE75}" type="datetime1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C2410-1893-44AD-9E5C-4F64C1D1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02D40E-B638-476D-BA44-3E3667B9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5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82BF-6436-48DC-9D95-CF901975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631D1-CCC8-4B58-A4EE-3EFEE625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03FDA-D88F-44B4-A0F3-D82D5108B01B}" type="datetime1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3804F-00CA-4D81-B4E5-980FD399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BAE62-CA36-4548-859D-78A46E32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3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090E9-A667-48B1-A9A9-838A5E8B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BDC5-E684-499B-8AFB-CAE8856DA100}" type="datetime1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CA9A4-0DC9-4EBC-A922-BC7B23FD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03EA9-363F-4BB2-85AA-3D3EE9D5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1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EA95-1CE5-4A07-97C5-4DBFA70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7C88-0037-425C-A4A3-E21DC011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2056C-76E4-4B02-8B61-A2E873452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00512-B6F3-44B2-B2F4-0BC7822A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7B2A-326A-4D08-ABC2-1FA90346E7E0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20F7-8527-4AD5-AB21-A57DF6E8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B75BD-E13A-45A6-921D-C30A062C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00CF-71F5-431F-AC5F-625F91A5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64A5-9E92-4BAE-ACA4-CB4DD1E40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6D9EE-3D67-40F4-A332-4DA720A9C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9AAD7-0A07-4746-82D5-186EC767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D77BC-1FE0-4050-8599-43FF938F55EB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F4FFB-2775-4CA4-A3E7-81C4FF980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890FE-42B2-4E18-AF90-984C2D5B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9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264D-B5F4-4DC7-A266-8DD4CFFE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39A08-78D9-4AA0-93B0-3886FA8F7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BCFE4-858D-4A21-AA9E-2D4D2BEC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0C04-BCF0-404F-8743-AC106A951577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1F6BF-C697-4511-9CD3-224E29AD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E48A3-DE09-4297-8423-CBEAE32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2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94D2A-7113-416F-A4BD-414B9A9E9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12E1B-17C6-4E03-B954-8411F9F00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68C37-CFA2-4574-A7C1-B432A7643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761C2-7467-4352-9235-A9E8E472745A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2040A-9563-432F-A625-A9AC88EF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96CD6-B60B-41C6-8AA2-8F1BD45D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65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6AD1-B992-FEB8-27D6-458B23AED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82CAC-5800-16A1-FEF6-BCD60CD1E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AC752-D757-9B3E-F3A6-E7DA45B9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7CF5-E93F-5DB1-340E-32ADBCC7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B5F06-917E-1C08-1A0B-B6BE498A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2FC3-8C20-47EF-B2E3-37052A635A6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178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FBC3-B999-6623-46D8-1A760E14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AE53C-E7AF-6EBE-F35F-984550D72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A8468-4851-FD7E-5529-7989CA7F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E1D7-4991-578E-2E56-9D1E98CF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654F3-F07B-3E36-D370-EA0FEB91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8E64-F234-4485-992B-9FB0071E4A0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832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192A-CDA1-0720-0EB9-08A6B6FD5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C7AE-84E7-423E-4F58-655AA1156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82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9252F-22E4-326A-4654-950AF692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8D7D-57BA-40F1-CA62-D001EC74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CB181-EDAE-8B53-A3F8-CBED376D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5B0B9-3E8E-4FF4-8489-136857E4E9D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94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E267-CDA0-8CA0-7EC2-9826B841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7DB8-5E6D-BD5B-12FE-FD4E2C69B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54497-7A5E-1297-99D9-0275527AA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B6934-5A1B-96F7-9466-028FE4FA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AABCB-DA82-DC48-D12B-8A5250DC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FF366-F774-85CC-3C0E-95A6E8F0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800A8-18FA-4941-B5D4-9A548941170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295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AC82-821F-8B9D-6321-AEFB7D76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823FE-17DA-CBD8-4779-B336D0FA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9C849-3D5B-B1E9-CAE7-8542F7142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74A84-96D5-6B53-3470-6E6324BFA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F02B4-85D3-59BE-C8E5-73993F07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1E89A-5AED-84B6-2886-530939EA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1FF71-DB00-069C-D774-C3C72AE2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35FD9-3840-C00B-A53B-014CFD51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5DA7-3192-4705-BC19-0AE86D4C6EE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422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3265-B352-9078-386C-2C924CAC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EEE03-4823-5DA7-9B07-8544D457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C798-005E-2C17-DFCD-8138D728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2400E-2DA3-969B-04F3-39AED389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F42-18FF-4A99-9D1A-D848586D4CB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6490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CCF34B-2DBC-23A6-CCAD-1C8BF7DE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B40B3-8C85-382E-6973-6FD608B3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71560-D457-1AB6-AA7D-0ABF2340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521D-D86A-4C11-A4E3-15CBCEA2C6E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418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2BDC-570A-9594-F51C-2B96A3B8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A736-B340-0DCC-06C3-1EF46D86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E26F8-9AF4-D847-57D9-616CD6608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2479E-CD39-35A8-BF62-890C8AC1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8CFF6-22FD-8393-FB13-52D89A64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7E8D-05F4-53BC-951A-59DF5F89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A9A1-A1AD-4761-8D91-8E8F7BF8733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0387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379A-AAE3-B883-49BF-16CC7529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5AC74-AF34-2949-1A54-35A1DAC6D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17EC0-52F9-8484-455E-5E4352B75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D4F7C-7B25-BF49-0A1D-62A6E7610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6B06C-0CE8-4569-CA7A-F9FA11B7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0A624-F592-F5D7-1AF2-BDEE9CD8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1C20-9B36-4C7E-89B6-AEC660A9B7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2193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C9A7-BF17-84ED-5DB9-FB147562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C7679-5895-BE2A-C416-4B4A1987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023FC-7F0A-49CB-8DF3-7CFF76A0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BFC0F-C919-F88A-D5B8-AEA9A7D5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194D-6139-AE2A-8B30-52E39A60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6B51-EA9C-45D3-8591-F57ECBB88ED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30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737796-A3B8-5019-D6A5-F69D0AC9E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47D51-CC99-80AF-7A4D-E54828333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4B34-8D11-56E0-D060-0A8991B8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E6BC6-8613-6986-504D-3E22E0F1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10F2-3F23-845D-FADD-A67301E9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8C767-2B6F-4A56-9783-61A9B99D21C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0284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4" y="228600"/>
            <a:ext cx="10687049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12800" y="1143000"/>
            <a:ext cx="10566400" cy="4876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97DE24A3-4BD1-EDDA-3426-AE75EA1E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5029CD84-5BAD-45B5-9175-D7A0B8E8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5AF30C9C-DE12-89DC-15F2-2CE7C58D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EC9F63-F2A7-481B-B9AE-F90A620A7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93877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DECC-0979-ADDD-2D5F-BE9F3D837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1DE3F-ECB2-7B9D-EA68-386A14F7D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14BCA-A09B-581E-5CCA-D371A651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AE603-C9EE-36FE-3325-218B1CC9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CD618-7F28-0E3C-6D91-2FA02DAA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570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EE86-7299-569C-C577-3F0BB5C0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8805B-FEFF-CECD-B653-95F169377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44B0E-7E87-2A01-2C0F-0479BADD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EA58E-75A0-314C-8336-122F7345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F1ED-5320-E54A-182F-1B875F44E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74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140C-9F84-A6FE-9A5E-1C49FF4F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B7D96-8690-2865-C21C-94007666D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0E211-2190-2540-BD62-ABFB0C9A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18B56-61FD-54DD-ACE2-3BCEF649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85F4B-1070-D13F-82C2-08C93BA2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248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0DFC-CC04-0E31-55C8-2384E070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09E53-EA1B-2B59-01A1-640707EA2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D7EA6-906A-2C81-8B05-66D7C658F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B6DE6-2F51-EA61-D633-3C64D41F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F7970-9D7B-E68A-D5B7-C7DEABD3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E2E0-5C82-5920-BECC-BDB33FE9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417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A835-D9A9-1FA4-6262-BF916C35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7193E-7AEB-B01F-3C1C-298E11071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2761F-21D8-9319-5103-010C9266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8F662-0D20-F8FF-F842-6A667131E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83BFD-CA13-DD16-11FC-EC0D2F014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8A0B5C-F22F-A4F1-246F-7C72BD7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10209-FD95-8AB4-8A07-69042687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21D56-E18C-AA43-1A66-5CFE3321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135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6777-0F8D-60A1-E91C-399CA32D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3276B-8492-4616-0983-50AFA2C8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53C2A-560F-9763-9491-F59D0945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6309E-856E-39EA-B76B-034F1B20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960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35994-6B00-A77D-2474-72E3BD63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0D1F4-058E-E369-0E9B-7949D28E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9BE43-E39F-C87A-E484-A366B9A0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45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012E-E994-8588-F054-185F19F7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03840-32B1-76EE-B17D-EF0E88B8A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00880-7B5C-4FB5-29DB-904D06571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50E6-5E76-53BA-4EFB-C48D73985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1CB40-6A94-1CA5-7287-B1820AA8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0FBCD-5474-7B0D-0D68-89F6A72A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385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2AE7-9FF9-8733-072B-172C555C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AE66EE-3157-2EC9-42E2-8FCD15E70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287AF-1EE9-E8CE-98DF-98E4B7237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16DDB-5B8C-2A2A-6E56-B3F26FE5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BD65A-C8F7-C4BB-733F-0108EB38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8B9F3-C91C-365B-1E4C-29B1870E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8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947F-0A6E-C0E2-6B67-C7E51D06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A6A51-36DF-C577-F965-498802433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DB195-025F-7577-BD6D-02F8C30B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56AA8-977C-9BFD-F9F6-5CD7CC86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323E6-C3C0-FB31-3CFA-65CF3A6F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431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6771D5-0922-15EC-D4FD-8A70276EA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73467-72DB-73C3-7884-BE8559FFA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C6568-738A-7908-F8DE-6E028099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1CF36-5B86-4C1C-F343-D899C7D2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A99A-4B3F-D00F-C22E-CA6610B7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348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6AD1-B992-FEB8-27D6-458B23AED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82CAC-5800-16A1-FEF6-BCD60CD1E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AC752-D757-9B3E-F3A6-E7DA45B9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7CF5-E93F-5DB1-340E-32ADBCC7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B5F06-917E-1C08-1A0B-B6BE498A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22FC3-8C20-47EF-B2E3-37052A635A69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38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FBC3-B999-6623-46D8-1A760E14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AE53C-E7AF-6EBE-F35F-984550D72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A8468-4851-FD7E-5529-7989CA7F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5E1D7-4991-578E-2E56-9D1E98CF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654F3-F07B-3E36-D370-EA0FEB91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EF58E64-F234-4485-992B-9FB0071E4A0C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9588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192A-CDA1-0720-0EB9-08A6B6FD5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8"/>
            <a:ext cx="10515600" cy="2852737"/>
          </a:xfrm>
        </p:spPr>
        <p:txBody>
          <a:bodyPr anchor="b"/>
          <a:lstStyle>
            <a:lvl1pPr>
              <a:defRPr sz="4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C7AE-84E7-423E-4F58-655AA1156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88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82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9252F-22E4-326A-4654-950AF692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8D7D-57BA-40F1-CA62-D001EC74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CB181-EDAE-8B53-A3F8-CBED376D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715B0B9-3E8E-4FF4-8489-136857E4E9DE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5964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E267-CDA0-8CA0-7EC2-9826B841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07DB8-5E6D-BD5B-12FE-FD4E2C69B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54497-7A5E-1297-99D9-0275527AA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B6934-5A1B-96F7-9466-028FE4FA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AABCB-DA82-DC48-D12B-8A5250DC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FF366-F774-85CC-3C0E-95A6E8F0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800A8-18FA-4941-B5D4-9A548941170D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504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AC82-821F-8B9D-6321-AEFB7D76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823FE-17DA-CBD8-4779-B336D0FAE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9C849-3D5B-B1E9-CAE7-8542F7142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74A84-96D5-6B53-3470-6E6324BFA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AF02B4-85D3-59BE-C8E5-73993F07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1E89A-5AED-84B6-2886-530939EA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1FF71-DB00-069C-D774-C3C72AE2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35FD9-3840-C00B-A53B-014CFD51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5DA7-3192-4705-BC19-0AE86D4C6EEE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702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3265-B352-9078-386C-2C924CAC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EEE03-4823-5DA7-9B07-8544D457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C798-005E-2C17-DFCD-8138D728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2400E-2DA3-969B-04F3-39AED389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8F42-18FF-4A99-9D1A-D848586D4CBF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3090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CCF34B-2DBC-23A6-CCAD-1C8BF7DE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B40B3-8C85-382E-6973-6FD608B3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71560-D457-1AB6-AA7D-0ABF2340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521D-D86A-4C11-A4E3-15CBCEA2C6ED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5199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2BDC-570A-9594-F51C-2B96A3B8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A736-B340-0DCC-06C3-1EF46D86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E26F8-9AF4-D847-57D9-616CD6608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2479E-CD39-35A8-BF62-890C8AC1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8CFF6-22FD-8393-FB13-52D89A64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7E8D-05F4-53BC-951A-59DF5F89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9A9A1-A1AD-4761-8D91-8E8F7BF87335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4446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379A-AAE3-B883-49BF-16CC7529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5AC74-AF34-2949-1A54-35A1DAC6D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17EC0-52F9-8484-455E-5E4352B75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D4F7C-7B25-BF49-0A1D-62A6E7610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6B06C-0CE8-4569-CA7A-F9FA11B7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0A624-F592-F5D7-1AF2-BDEE9CD8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C1C20-9B36-4C7E-89B6-AEC660A9B7E8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3813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C9A7-BF17-84ED-5DB9-FB147562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C7679-5895-BE2A-C416-4B4A1987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023FC-7F0A-49CB-8DF3-7CFF76A0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BFC0F-C919-F88A-D5B8-AEA9A7D5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194D-6139-AE2A-8B30-52E39A60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D6B51-EA9C-45D3-8591-F57ECBB88ED5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1749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737796-A3B8-5019-D6A5-F69D0AC9E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47D51-CC99-80AF-7A4D-E54828333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4B34-8D11-56E0-D060-0A8991B8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E6BC6-8613-6986-504D-3E22E0F1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10F2-3F23-845D-FADD-A67301E9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8C767-2B6F-4A56-9783-61A9B99D21C2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1870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7" y="228600"/>
            <a:ext cx="10687049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12800" y="1143000"/>
            <a:ext cx="10566400" cy="4876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97DE24A3-4BD1-EDDA-3426-AE75EA1E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5029CD84-5BAD-45B5-9175-D7A0B8E8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5AF30C9C-DE12-89DC-15F2-2CE7C58D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EC9F63-F2A7-481B-B9AE-F90A620A7E33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28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8E80B-393A-4A8F-BB45-CC9059AE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14635-C1C4-4488-A530-5451CAC26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ABAC-B4C0-4BEA-BE54-2FB538CC9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979ED-A582-43ED-81AB-679805B611AF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19B55-FAE7-4C0A-AEC3-1ED595425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01485-14AB-4CC0-90D2-3A0FE20A9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735DC-365B-4A8A-8206-6A8F226C6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4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2A969-2DDB-38CE-1803-41D71E53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C466B-9439-443F-7519-14F68EB77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4E0F-1C1A-A70E-054D-F6592362F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EA14-2D9B-F9B7-FBC6-85983003F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F6907-BC9A-9DFB-F771-366742FF3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E9A08-9077-403E-A7E9-995AC34B0DB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5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472BD3-2E2A-A6CC-3B92-1F0CB8083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A9DBC-20EB-1DB5-50EC-64ACA8629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9AFA7-B4A2-61D7-A044-7A4B5EF7F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6D53A-65F0-49CA-8FEC-A1D575AC9855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EC008-508B-DC36-B005-608B7F6AA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E05E6-77D1-DDEB-9FDC-BF8BF3E26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052D6-23A7-4907-ADDC-CFA682C15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0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2A969-2DDB-38CE-1803-41D71E53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C466B-9439-443F-7519-14F68EB77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4E0F-1C1A-A70E-054D-F6592362F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EA14-2D9B-F9B7-FBC6-85983003F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F6907-BC9A-9DFB-F771-366742FF3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E5E9A08-9077-403E-A7E9-995AC34B0DBA}" type="slidenum">
              <a:rPr lang="en-US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51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ava/java_lambda.as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javafx/javafx_using_convenience_methods.ht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www.tutorialspoint.com/javafx/javafx_using_convenience_methods.htm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www.tutorialspoint.com/javafx/javafx_using_convenience_methods.htm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www.tutorialspoint.com/javafx/javafx_using_convenience_methods.htm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www.tutorialspoint.com/javafx/javafx_fade_transition.htm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www.tutorialspoint.com/javafx/javafx_fade_transition.htm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www.tutorialspoint.com/javafx/javafx_fade_transition.htm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www.tutorialspoint.com/javafx/javafx_fade_transition.htm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75" name="Straight Connector 7174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F730C-C8E2-C608-3646-805B89D9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3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8E735DC-365B-4A8A-8206-6A8F226C6312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 rotWithShape="1">
          <a:blip r:embed="rId2"/>
          <a:srcRect b="408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9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2" name="Rectangle 1025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5" y="0"/>
            <a:ext cx="91417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2E24C51-BA0B-08AE-B911-B1A839A04E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798823" y="735289"/>
            <a:ext cx="4106804" cy="3165045"/>
          </a:xfrm>
        </p:spPr>
        <p:txBody>
          <a:bodyPr anchor="b">
            <a:normAutofit/>
          </a:bodyPr>
          <a:lstStyle/>
          <a:p>
            <a:pPr algn="l"/>
            <a:r>
              <a:rPr lang="en-US" altLang="en-US" sz="4200" dirty="0" smtClean="0"/>
              <a:t>Advanced Programming Applications </a:t>
            </a:r>
            <a:endParaRPr lang="en-US" altLang="en-US" sz="4200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F17E628-BC43-0345-F5F4-463B2C98AF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01869" y="4050226"/>
            <a:ext cx="3733800" cy="2058657"/>
          </a:xfrm>
        </p:spPr>
        <p:txBody>
          <a:bodyPr>
            <a:normAutofit/>
          </a:bodyPr>
          <a:lstStyle/>
          <a:p>
            <a:pPr algn="l"/>
            <a:r>
              <a:rPr lang="en-US" altLang="en-US" sz="2000" dirty="0"/>
              <a:t>Lecture </a:t>
            </a:r>
            <a:r>
              <a:rPr lang="en-US" altLang="en-US" sz="2000" dirty="0" smtClean="0"/>
              <a:t>05- </a:t>
            </a:r>
            <a:r>
              <a:rPr lang="en-US" altLang="en-US" sz="2000" dirty="0" smtClean="0"/>
              <a:t>JavaFX </a:t>
            </a:r>
            <a:r>
              <a:rPr lang="en-AE" altLang="en-US" sz="2000" dirty="0" smtClean="0"/>
              <a:t>–</a:t>
            </a:r>
            <a:r>
              <a:rPr lang="en-US" altLang="en-US" sz="2000" dirty="0" smtClean="0"/>
              <a:t> Part II</a:t>
            </a:r>
            <a:endParaRPr lang="en-US" altLang="en-US" sz="2000" dirty="0"/>
          </a:p>
        </p:txBody>
      </p:sp>
      <p:pic>
        <p:nvPicPr>
          <p:cNvPr id="10247" name="Graphic 10246" descr="Maze">
            <a:extLst>
              <a:ext uri="{FF2B5EF4-FFF2-40B4-BE49-F238E27FC236}">
                <a16:creationId xmlns:a16="http://schemas.microsoft.com/office/drawing/2014/main" id="{48420D68-ABFE-0EE3-2CBA-1BC36E0F16C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8022" y="2933545"/>
            <a:ext cx="966789" cy="966789"/>
          </a:xfrm>
          <a:prstGeom prst="rect">
            <a:avLst/>
          </a:prstGeom>
        </p:spPr>
      </p:pic>
      <p:pic>
        <p:nvPicPr>
          <p:cNvPr id="10249" name="Graphic 10248" descr="Maze">
            <a:extLst>
              <a:ext uri="{FF2B5EF4-FFF2-40B4-BE49-F238E27FC236}">
                <a16:creationId xmlns:a16="http://schemas.microsoft.com/office/drawing/2014/main" id="{26E7EFA0-FB42-45FD-B4EE-C58A98D22D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9867" y="1392831"/>
            <a:ext cx="4058507" cy="4058507"/>
          </a:xfrm>
          <a:prstGeom prst="rect">
            <a:avLst/>
          </a:prstGeom>
        </p:spPr>
      </p:pic>
      <p:pic>
        <p:nvPicPr>
          <p:cNvPr id="10245" name="Picture 5" descr="Logo">
            <a:extLst>
              <a:ext uri="{FF2B5EF4-FFF2-40B4-BE49-F238E27FC236}">
                <a16:creationId xmlns:a16="http://schemas.microsoft.com/office/drawing/2014/main" id="{50062FBE-C6A2-FE29-ECF1-AE86F6F6B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876" y="27437"/>
            <a:ext cx="966791" cy="10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78F068-E186-957E-266C-A12900A20C00}"/>
              </a:ext>
            </a:extLst>
          </p:cNvPr>
          <p:cNvSpPr txBox="1"/>
          <p:nvPr/>
        </p:nvSpPr>
        <p:spPr>
          <a:xfrm>
            <a:off x="3352799" y="4928112"/>
            <a:ext cx="5444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latin typeface="Monotype Corsiva" panose="03010101010201010101" pitchFamily="66" charset="0"/>
              </a:rPr>
              <a:t>Dr. </a:t>
            </a:r>
            <a:r>
              <a:rPr lang="en-US" sz="2800" b="1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Mohamed Mostafa Eltaweel</a:t>
            </a:r>
            <a:endParaRPr lang="en-US" sz="2800" b="1" dirty="0">
              <a:solidFill>
                <a:prstClr val="blac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85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A60D-2E7D-6655-4AD0-13B5E9D5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0" name="Rectangle 13319">
            <a:extLst>
              <a:ext uri="{FF2B5EF4-FFF2-40B4-BE49-F238E27FC236}">
                <a16:creationId xmlns:a16="http://schemas.microsoft.com/office/drawing/2014/main" id="{758E9722-C7CA-6F41-9D2C-B0D5B65EFF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322" name="Rectangle 13321">
            <a:extLst>
              <a:ext uri="{FF2B5EF4-FFF2-40B4-BE49-F238E27FC236}">
                <a16:creationId xmlns:a16="http://schemas.microsoft.com/office/drawing/2014/main" id="{31971DE3-4290-8ABB-C335-DD733CEF2C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" y="3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324" name="Rectangle 13323">
            <a:extLst>
              <a:ext uri="{FF2B5EF4-FFF2-40B4-BE49-F238E27FC236}">
                <a16:creationId xmlns:a16="http://schemas.microsoft.com/office/drawing/2014/main" id="{C60CA67D-2680-FA7F-E3ED-0CD82CC77ED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60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326" name="Rectangle 13325">
            <a:extLst>
              <a:ext uri="{FF2B5EF4-FFF2-40B4-BE49-F238E27FC236}">
                <a16:creationId xmlns:a16="http://schemas.microsoft.com/office/drawing/2014/main" id="{33783040-44FF-74C0-166B-85D05B8A31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8F7AC7FA-6E96-C5EF-A24D-754EABB56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2" y="348868"/>
            <a:ext cx="10577420" cy="877729"/>
          </a:xfrm>
        </p:spPr>
        <p:txBody>
          <a:bodyPr anchor="ctr">
            <a:normAutofit/>
          </a:bodyPr>
          <a:lstStyle/>
          <a:p>
            <a:r>
              <a:rPr lang="en-US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D7671-E06E-5764-77D7-159D56B3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727" y="2041063"/>
            <a:ext cx="10515600" cy="4351339"/>
          </a:xfrm>
        </p:spPr>
        <p:txBody>
          <a:bodyPr>
            <a:normAutofit/>
          </a:bodyPr>
          <a:lstStyle/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 smtClean="0"/>
              <a:t>Inner Classes</a:t>
            </a:r>
            <a:endParaRPr lang="en-US" sz="2400" b="1" dirty="0"/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Anonymous Inner Classes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 smtClean="0"/>
              <a:t>Lambda Expression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JavaFX - Event </a:t>
            </a:r>
            <a:r>
              <a:rPr lang="en-US" sz="2400" b="1" dirty="0" smtClean="0"/>
              <a:t>Handling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/>
              <a:t>JavaFX </a:t>
            </a:r>
            <a:r>
              <a:rPr lang="en-AE" sz="2400" b="1" dirty="0" smtClean="0"/>
              <a:t>–</a:t>
            </a:r>
            <a:r>
              <a:rPr lang="en-US" sz="2400" b="1" dirty="0" smtClean="0"/>
              <a:t> Animations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altLang="en-US" sz="2400" b="1" dirty="0" smtClean="0"/>
              <a:t>JavaFX and CSS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sz="2400" b="1" dirty="0" smtClean="0"/>
              <a:t>Practice</a:t>
            </a:r>
          </a:p>
          <a:p>
            <a:pPr marL="624063" indent="-514338">
              <a:spcAft>
                <a:spcPts val="1200"/>
              </a:spcAft>
              <a:buFont typeface="+mj-lt"/>
              <a:buAutoNum type="arabicPeriod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33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Inner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916" y="1380457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class: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is a member of another class.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some applications, you can use an inner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to make programs simple.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inner class can reference the data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outer class in which it nests, so you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pass the reference of the outer class to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inner class</a:t>
            </a:r>
          </a:p>
        </p:txBody>
      </p:sp>
      <p:pic>
        <p:nvPicPr>
          <p:cNvPr id="8194" name="Picture 2" descr="240+ Car Engine X Ray Image Photos Stock Photos, Pictures &amp; Royalty-Free  Image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084" y="4075567"/>
            <a:ext cx="4158916" cy="264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29916" y="4243152"/>
            <a:ext cx="76175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public class Car </a:t>
            </a:r>
            <a:r>
              <a:rPr lang="en-US" dirty="0" smtClean="0"/>
              <a:t>{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// The Outer Class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>
                <a:solidFill>
                  <a:srgbClr val="FF0000"/>
                </a:solidFill>
              </a:rPr>
              <a:t>public class Engine {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// THIS IS THE INNER CLASS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	}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// END OF THE INNER CLASS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77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5168" y="589547"/>
            <a:ext cx="1127359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public class Car {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Outer Class</a:t>
            </a:r>
          </a:p>
          <a:p>
            <a:r>
              <a:rPr lang="en-US" dirty="0" smtClean="0"/>
              <a:t>    private </a:t>
            </a:r>
            <a:r>
              <a:rPr lang="en-US" dirty="0"/>
              <a:t>String model;</a:t>
            </a:r>
          </a:p>
          <a:p>
            <a:r>
              <a:rPr lang="en-US" dirty="0"/>
              <a:t>    private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isRunning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smtClean="0"/>
              <a:t> </a:t>
            </a:r>
            <a:r>
              <a:rPr lang="en-US" dirty="0"/>
              <a:t>public Car(String model) {</a:t>
            </a:r>
          </a:p>
          <a:p>
            <a:r>
              <a:rPr lang="en-US" dirty="0"/>
              <a:t>     </a:t>
            </a:r>
            <a:r>
              <a:rPr lang="en-US" dirty="0" err="1" smtClean="0"/>
              <a:t>this.model</a:t>
            </a:r>
            <a:r>
              <a:rPr lang="en-US" dirty="0" smtClean="0"/>
              <a:t> </a:t>
            </a:r>
            <a:r>
              <a:rPr lang="en-US" dirty="0"/>
              <a:t>= model;</a:t>
            </a:r>
          </a:p>
          <a:p>
            <a:r>
              <a:rPr lang="en-US" dirty="0"/>
              <a:t>     </a:t>
            </a:r>
            <a:r>
              <a:rPr lang="en-US" dirty="0" err="1" smtClean="0"/>
              <a:t>this.isRunning</a:t>
            </a:r>
            <a:r>
              <a:rPr lang="en-US" dirty="0" smtClean="0"/>
              <a:t> </a:t>
            </a:r>
            <a:r>
              <a:rPr lang="en-US" dirty="0"/>
              <a:t>= false;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public </a:t>
            </a:r>
            <a:r>
              <a:rPr lang="en-US" dirty="0">
                <a:solidFill>
                  <a:srgbClr val="FF0000"/>
                </a:solidFill>
              </a:rPr>
              <a:t>class Engine </a:t>
            </a:r>
            <a:r>
              <a:rPr lang="en-US" dirty="0" smtClean="0">
                <a:solidFill>
                  <a:srgbClr val="FF0000"/>
                </a:solidFill>
              </a:rPr>
              <a:t>{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// THIS IS THE INNER CLASS</a:t>
            </a:r>
          </a:p>
          <a:p>
            <a:r>
              <a:rPr lang="en-US" dirty="0" smtClean="0"/>
              <a:t>      </a:t>
            </a:r>
            <a:endParaRPr lang="en-US" dirty="0"/>
          </a:p>
          <a:p>
            <a:r>
              <a:rPr lang="en-US" dirty="0"/>
              <a:t>        public void start() {</a:t>
            </a:r>
          </a:p>
          <a:p>
            <a:r>
              <a:rPr lang="en-US" dirty="0"/>
              <a:t>   </a:t>
            </a:r>
            <a:r>
              <a:rPr lang="en-US" dirty="0" smtClean="0"/>
              <a:t> 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// The Inner Class can access the Outer Class's private variables!</a:t>
            </a:r>
          </a:p>
          <a:p>
            <a:r>
              <a:rPr lang="en-US" dirty="0"/>
              <a:t>      </a:t>
            </a:r>
            <a:r>
              <a:rPr lang="en-US" dirty="0" smtClean="0"/>
              <a:t>   </a:t>
            </a:r>
            <a:r>
              <a:rPr lang="en-US" dirty="0"/>
              <a:t>if (!</a:t>
            </a:r>
            <a:r>
              <a:rPr lang="en-US" dirty="0" err="1"/>
              <a:t>isRunning</a:t>
            </a:r>
            <a:r>
              <a:rPr lang="en-US" dirty="0"/>
              <a:t>) {</a:t>
            </a:r>
          </a:p>
          <a:p>
            <a:r>
              <a:rPr lang="en-US" dirty="0"/>
              <a:t>                </a:t>
            </a:r>
            <a:r>
              <a:rPr lang="en-US" dirty="0" err="1"/>
              <a:t>isRunning</a:t>
            </a:r>
            <a:r>
              <a:rPr lang="en-US" dirty="0"/>
              <a:t> = true;</a:t>
            </a:r>
          </a:p>
          <a:p>
            <a:r>
              <a:rPr lang="en-US" dirty="0" smtClean="0"/>
              <a:t> 	</a:t>
            </a:r>
            <a:r>
              <a:rPr lang="en-US" dirty="0" err="1" smtClean="0"/>
              <a:t>System.out.println</a:t>
            </a:r>
            <a:r>
              <a:rPr lang="en-US" dirty="0"/>
              <a:t>("The " + model + "'s engine fires up. Vroom!");</a:t>
            </a:r>
          </a:p>
          <a:p>
            <a:r>
              <a:rPr lang="en-US" dirty="0"/>
              <a:t>            } </a:t>
            </a:r>
            <a:endParaRPr lang="en-US" dirty="0" smtClean="0"/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}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 // </a:t>
            </a:r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END OF THE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INNER CLASS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7" name="Picture 2" descr="240+ Car Engine X Ray Image Photos Stock Photos, Pictures &amp; Royalty-Free  Image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63" y="5226528"/>
            <a:ext cx="2566737" cy="16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3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5168" y="589547"/>
            <a:ext cx="1127359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public class </a:t>
            </a:r>
            <a:r>
              <a:rPr lang="en-US" dirty="0"/>
              <a:t>Main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// Step 1: You MUST create an instance of the Outer Class first</a:t>
            </a:r>
          </a:p>
          <a:p>
            <a:r>
              <a:rPr lang="en-US" dirty="0"/>
              <a:t>        Car </a:t>
            </a:r>
            <a:r>
              <a:rPr lang="en-US" dirty="0" err="1"/>
              <a:t>myMustang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Car("Ford Mustang");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smtClean="0"/>
              <a:t>     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// Step 2: Use the Outer Class instance to create the Inner Class</a:t>
            </a:r>
          </a:p>
          <a:p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sz="1600" b="1" i="1" dirty="0" smtClean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// Notice the syntax: </a:t>
            </a:r>
            <a:r>
              <a:rPr lang="en-US" sz="1600" b="1" i="1" dirty="0" err="1">
                <a:solidFill>
                  <a:schemeClr val="accent6">
                    <a:lumMod val="75000"/>
                  </a:schemeClr>
                </a:solidFill>
              </a:rPr>
              <a:t>OuterClass.InnerClass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 variable = </a:t>
            </a:r>
            <a:r>
              <a:rPr lang="en-US" sz="1600" b="1" i="1" dirty="0" err="1">
                <a:solidFill>
                  <a:schemeClr val="accent6">
                    <a:lumMod val="75000"/>
                  </a:schemeClr>
                </a:solidFill>
              </a:rPr>
              <a:t>outerInstance.new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600" b="1" i="1" dirty="0" err="1">
                <a:solidFill>
                  <a:schemeClr val="accent6">
                    <a:lumMod val="75000"/>
                  </a:schemeClr>
                </a:solidFill>
              </a:rPr>
              <a:t>InnerClass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();</a:t>
            </a:r>
          </a:p>
          <a:p>
            <a:r>
              <a:rPr lang="en-US" dirty="0"/>
              <a:t>        </a:t>
            </a:r>
            <a:endParaRPr lang="en-US" dirty="0" smtClean="0"/>
          </a:p>
          <a:p>
            <a:r>
              <a:rPr lang="en-US" dirty="0" err="1" smtClean="0"/>
              <a:t>Car.Engine</a:t>
            </a:r>
            <a:r>
              <a:rPr lang="en-US" dirty="0" smtClean="0"/>
              <a:t> </a:t>
            </a:r>
            <a:r>
              <a:rPr lang="en-US" dirty="0" err="1"/>
              <a:t>mustangEngine</a:t>
            </a:r>
            <a:r>
              <a:rPr lang="en-US" dirty="0"/>
              <a:t> = </a:t>
            </a:r>
            <a:r>
              <a:rPr lang="en-US" dirty="0" err="1"/>
              <a:t>myMustang.</a:t>
            </a:r>
            <a:r>
              <a:rPr lang="en-US" dirty="0" err="1">
                <a:solidFill>
                  <a:srgbClr val="FF0000"/>
                </a:solidFill>
              </a:rPr>
              <a:t>new</a:t>
            </a:r>
            <a:r>
              <a:rPr lang="en-US" dirty="0"/>
              <a:t> Engine();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// Step 3: Run the inner class method</a:t>
            </a:r>
          </a:p>
          <a:p>
            <a:r>
              <a:rPr lang="en-US" dirty="0"/>
              <a:t>        </a:t>
            </a:r>
            <a:r>
              <a:rPr lang="en-US" dirty="0" err="1"/>
              <a:t>mustangEngine.start</a:t>
            </a:r>
            <a:r>
              <a:rPr lang="en-US" dirty="0"/>
              <a:t>(); 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// Output: The Ford Mustang's engine fires up. Vroom!</a:t>
            </a:r>
          </a:p>
          <a:p>
            <a:r>
              <a:rPr lang="en-US" dirty="0"/>
              <a:t>        </a:t>
            </a:r>
            <a:r>
              <a:rPr lang="en-US" dirty="0" err="1"/>
              <a:t>mustangEngine.start</a:t>
            </a:r>
            <a:r>
              <a:rPr lang="en-US" dirty="0"/>
              <a:t>(); </a:t>
            </a:r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</a:rPr>
              <a:t>// Output: The Ford Mustang's engine is already running.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pic>
        <p:nvPicPr>
          <p:cNvPr id="7" name="Picture 2" descr="240+ Car Engine X Ray Image Photos Stock Photos, Pictures &amp; Royalty-Free  Image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63" y="5226528"/>
            <a:ext cx="2566737" cy="16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54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Inner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inner class supports the work of its containing outer class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compiled into a class named</a:t>
            </a:r>
          </a:p>
          <a:p>
            <a:pPr marL="342892" lvl="1" indent="0">
              <a:buNone/>
            </a:pPr>
            <a:r>
              <a:rPr lang="en-US" sz="2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 err="1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OuterClassName</a:t>
            </a:r>
            <a:r>
              <a:rPr lang="en-US" sz="2400" dirty="0" err="1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sz="2400" i="1" dirty="0" err="1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InnerClassName</a:t>
            </a:r>
            <a:r>
              <a:rPr lang="en-US" sz="2400" dirty="0" err="1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.class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inner class can be declared public,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protected, 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subject to the same visibility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 applied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member of the class.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inner class can be declared static.</a:t>
            </a:r>
          </a:p>
          <a:p>
            <a:pPr lvl="1"/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inner class can be accessed using the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name.</a:t>
            </a:r>
          </a:p>
          <a:p>
            <a:pPr marL="517525" lvl="8" indent="-168275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static inner class cannot access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nonstatic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members of the outer class.</a:t>
            </a:r>
          </a:p>
        </p:txBody>
      </p:sp>
    </p:spTree>
    <p:extLst>
      <p:ext uri="{BB962C8B-B14F-4D97-AF65-F5344CB8AC3E}">
        <p14:creationId xmlns:p14="http://schemas.microsoft.com/office/powerpoint/2010/main" val="124091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Anonymous Inner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4362"/>
            <a:ext cx="11181348" cy="435133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anonymous inner class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inner class without a name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anonymous inner class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always extend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superclass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implement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interface,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it cannot have an explicit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extends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clause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anonymous inner class must implement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methods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superclass or in the interface.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anonymous inner class uses the no-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constructor from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superclass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instance.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anonymous inner class is compiled into a class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OuterClassName$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example, if the outer class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has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anonymous inner classes, these two classes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compiled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Test$1.class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Test$2.class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866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Anonymous Inner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85497"/>
            <a:ext cx="3132221" cy="1304329"/>
          </a:xfrm>
          <a:solidFill>
            <a:srgbClr val="00B0F0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The Traditional Way</a:t>
            </a:r>
            <a:r>
              <a:rPr lang="en-US" sz="2400" b="1" dirty="0" smtClean="0"/>
              <a:t>: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A Named </a:t>
            </a:r>
            <a:r>
              <a:rPr lang="en-US" sz="2400" b="1" dirty="0" smtClean="0">
                <a:solidFill>
                  <a:schemeClr val="bg1"/>
                </a:solidFill>
              </a:rPr>
              <a:t>Class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332748" y="1333649"/>
            <a:ext cx="851835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interface</a:t>
            </a:r>
            <a:r>
              <a:rPr lang="en-US" dirty="0" smtClean="0"/>
              <a:t> </a:t>
            </a:r>
            <a:r>
              <a:rPr lang="en-US" dirty="0" err="1"/>
              <a:t>MathOperation</a:t>
            </a:r>
            <a:r>
              <a:rPr lang="en-US" dirty="0"/>
              <a:t> {</a:t>
            </a:r>
          </a:p>
          <a:p>
            <a:r>
              <a:rPr lang="en-US" dirty="0"/>
              <a:t>   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calculate(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a,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b);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class</a:t>
            </a:r>
            <a:r>
              <a:rPr lang="en-US" dirty="0" smtClean="0"/>
              <a:t> </a:t>
            </a:r>
            <a:r>
              <a:rPr lang="en-US" dirty="0" err="1"/>
              <a:t>AdditionOperation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implements</a:t>
            </a:r>
            <a:r>
              <a:rPr lang="en-US" dirty="0"/>
              <a:t> </a:t>
            </a:r>
            <a:r>
              <a:rPr lang="en-US" dirty="0" err="1"/>
              <a:t>MathOperation</a:t>
            </a:r>
            <a:r>
              <a:rPr lang="en-US" dirty="0"/>
              <a:t> {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public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calculate(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 {</a:t>
            </a:r>
          </a:p>
          <a:p>
            <a:r>
              <a:rPr lang="en-US" dirty="0"/>
              <a:t>       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sum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/>
              <a:t> a + b;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("The sum is: " + sum);</a:t>
            </a:r>
          </a:p>
          <a:p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 sum;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public class </a:t>
            </a:r>
            <a:r>
              <a:rPr lang="en-US" dirty="0"/>
              <a:t>Main 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public static void </a:t>
            </a:r>
            <a:r>
              <a:rPr lang="en-US" dirty="0"/>
              <a:t>main(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MathOperation</a:t>
            </a:r>
            <a:r>
              <a:rPr lang="en-US" dirty="0" smtClean="0"/>
              <a:t> </a:t>
            </a:r>
            <a:r>
              <a:rPr lang="en-US" dirty="0"/>
              <a:t>addition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</a:t>
            </a:r>
            <a:r>
              <a:rPr lang="en-US" dirty="0" err="1"/>
              <a:t>AdditionOperation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 smtClean="0"/>
              <a:t>addition.calculate</a:t>
            </a:r>
            <a:r>
              <a:rPr lang="en-US" dirty="0" smtClean="0"/>
              <a:t>(5</a:t>
            </a:r>
            <a:r>
              <a:rPr lang="en-US" dirty="0"/>
              <a:t>, 10);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745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Anonymous Inner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85497"/>
            <a:ext cx="3132221" cy="1304329"/>
          </a:xfrm>
          <a:solidFill>
            <a:srgbClr val="00B0F0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The </a:t>
            </a:r>
            <a:r>
              <a:rPr lang="en-US" sz="2400" b="1" dirty="0" err="1" smtClean="0"/>
              <a:t>Modren</a:t>
            </a:r>
            <a:r>
              <a:rPr lang="en-US" sz="2400" b="1" dirty="0" smtClean="0"/>
              <a:t> </a:t>
            </a:r>
            <a:r>
              <a:rPr lang="en-US" sz="2400" b="1" dirty="0"/>
              <a:t>Way</a:t>
            </a:r>
            <a:r>
              <a:rPr lang="en-US" sz="2400" b="1" dirty="0" smtClean="0"/>
              <a:t>: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 Anonymous </a:t>
            </a:r>
            <a:r>
              <a:rPr lang="en-US" sz="2400" b="1" dirty="0">
                <a:solidFill>
                  <a:schemeClr val="bg1"/>
                </a:solidFill>
              </a:rPr>
              <a:t>Inner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32221" y="1333649"/>
            <a:ext cx="871888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interface</a:t>
            </a:r>
            <a:r>
              <a:rPr lang="en-US" dirty="0" smtClean="0"/>
              <a:t> </a:t>
            </a:r>
            <a:r>
              <a:rPr lang="en-US" dirty="0" err="1"/>
              <a:t>MathOperation</a:t>
            </a:r>
            <a:r>
              <a:rPr lang="en-US" dirty="0"/>
              <a:t> {</a:t>
            </a:r>
          </a:p>
          <a:p>
            <a:r>
              <a:rPr lang="en-US" dirty="0"/>
              <a:t>   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calculate(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a,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b);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class</a:t>
            </a:r>
            <a:r>
              <a:rPr lang="en-US" dirty="0" smtClean="0"/>
              <a:t> </a:t>
            </a:r>
            <a:r>
              <a:rPr lang="en-US" dirty="0" err="1" smtClean="0"/>
              <a:t>AdditionOperation</a:t>
            </a:r>
            <a:r>
              <a:rPr lang="en-US" dirty="0" smtClean="0"/>
              <a:t>{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public class </a:t>
            </a:r>
            <a:r>
              <a:rPr lang="en-US" dirty="0"/>
              <a:t>Main 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public static void </a:t>
            </a:r>
            <a:r>
              <a:rPr lang="en-US" dirty="0"/>
              <a:t>main(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[] </a:t>
            </a:r>
            <a:r>
              <a:rPr lang="en-US" dirty="0" err="1"/>
              <a:t>args</a:t>
            </a:r>
            <a:r>
              <a:rPr lang="en-US" dirty="0"/>
              <a:t>) </a:t>
            </a:r>
            <a:r>
              <a:rPr lang="en-US" dirty="0" smtClean="0"/>
              <a:t>{</a:t>
            </a:r>
          </a:p>
          <a:p>
            <a:endParaRPr lang="en-US" dirty="0"/>
          </a:p>
          <a:p>
            <a:r>
              <a:rPr lang="en-US" dirty="0"/>
              <a:t>	 </a:t>
            </a:r>
            <a:r>
              <a:rPr lang="en-US" dirty="0" err="1"/>
              <a:t>MathOperation</a:t>
            </a:r>
            <a:r>
              <a:rPr lang="en-US" dirty="0"/>
              <a:t> addition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smtClean="0"/>
              <a:t> </a:t>
            </a:r>
            <a:r>
              <a:rPr lang="en-US" dirty="0"/>
              <a:t>new </a:t>
            </a:r>
            <a:r>
              <a:rPr lang="en-US" dirty="0" err="1"/>
              <a:t>MathOperation</a:t>
            </a:r>
            <a:r>
              <a:rPr lang="en-US" dirty="0"/>
              <a:t>() </a:t>
            </a:r>
            <a:r>
              <a:rPr lang="en-US" dirty="0" smtClean="0"/>
              <a:t>{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	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@Override </a:t>
            </a:r>
          </a:p>
          <a:p>
            <a:r>
              <a:rPr lang="en-US" dirty="0" smtClean="0"/>
              <a:t>	</a:t>
            </a:r>
            <a:r>
              <a:rPr lang="en-US" dirty="0">
                <a:solidFill>
                  <a:srgbClr val="FF0000"/>
                </a:solidFill>
              </a:rPr>
              <a:t>public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calculate(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a,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b) </a:t>
            </a:r>
            <a:r>
              <a:rPr lang="en-US" dirty="0" smtClean="0"/>
              <a:t>{</a:t>
            </a:r>
          </a:p>
          <a:p>
            <a:r>
              <a:rPr lang="en-US" dirty="0"/>
              <a:t>	</a:t>
            </a:r>
            <a:r>
              <a:rPr lang="en-US" dirty="0" smtClean="0"/>
              <a:t>	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sum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/>
              <a:t> a + b;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System.out.println</a:t>
            </a:r>
            <a:r>
              <a:rPr lang="en-US" dirty="0"/>
              <a:t>("The sum is: " + sum); 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 smtClean="0"/>
              <a:t> </a:t>
            </a:r>
            <a:r>
              <a:rPr lang="en-US" dirty="0"/>
              <a:t>sum; </a:t>
            </a:r>
            <a:r>
              <a:rPr lang="en-US" dirty="0" smtClean="0"/>
              <a:t>}	</a:t>
            </a:r>
          </a:p>
          <a:p>
            <a:r>
              <a:rPr lang="en-US" dirty="0" smtClean="0"/>
              <a:t> </a:t>
            </a:r>
            <a:r>
              <a:rPr lang="en-US" dirty="0"/>
              <a:t>}; 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err="1" smtClean="0"/>
              <a:t>addition.calculate</a:t>
            </a:r>
            <a:r>
              <a:rPr lang="en-US" dirty="0" smtClean="0"/>
              <a:t>(5</a:t>
            </a:r>
            <a:r>
              <a:rPr lang="en-US" dirty="0"/>
              <a:t>, 10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</a:t>
            </a:r>
            <a:r>
              <a:rPr lang="en-US" dirty="0"/>
              <a:t>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485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232" y="324498"/>
            <a:ext cx="5281861" cy="812117"/>
          </a:xfrm>
        </p:spPr>
        <p:txBody>
          <a:bodyPr anchor="b">
            <a:normAutofit/>
          </a:bodyPr>
          <a:lstStyle/>
          <a:p>
            <a:r>
              <a:rPr lang="en-US" sz="4000" b="1" dirty="0" smtClean="0"/>
              <a:t>Lambda Expressions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776B-11CA-91EA-685D-58F08F98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40" y="1318094"/>
            <a:ext cx="9270123" cy="4221811"/>
          </a:xfrm>
        </p:spPr>
        <p:txBody>
          <a:bodyPr anchor="t">
            <a:normAutofit/>
          </a:bodyPr>
          <a:lstStyle/>
          <a:p>
            <a:r>
              <a:rPr lang="en-US" sz="2400" i="1" dirty="0"/>
              <a:t>Lambda expression </a:t>
            </a:r>
            <a:r>
              <a:rPr lang="en-US" sz="2400" dirty="0"/>
              <a:t>is a new feature in Java 8.</a:t>
            </a:r>
          </a:p>
          <a:p>
            <a:r>
              <a:rPr lang="en-US" sz="2400" dirty="0"/>
              <a:t>Lambda expressions can be viewed as an</a:t>
            </a:r>
          </a:p>
          <a:p>
            <a:r>
              <a:rPr lang="en-US" sz="2400" dirty="0" smtClean="0"/>
              <a:t>Lambda </a:t>
            </a:r>
            <a:r>
              <a:rPr lang="en-US" sz="2400" dirty="0"/>
              <a:t>expression facilitates </a:t>
            </a:r>
            <a:r>
              <a:rPr lang="en-US" sz="2400" b="1" dirty="0" smtClean="0"/>
              <a:t>functional programming.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Lambda expression is a short block of code that takes in parameters and returns a value.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essentially an </a:t>
            </a:r>
            <a:r>
              <a:rPr lang="en-US" sz="2400" b="1" dirty="0"/>
              <a:t>anonymous function</a:t>
            </a:r>
            <a:r>
              <a:rPr lang="en-US" sz="2400" dirty="0"/>
              <a:t>—a method that doesn't need a name, an access modifier (like public or private), or a return type declaration.</a:t>
            </a:r>
          </a:p>
          <a:p>
            <a:endParaRPr lang="en-US" sz="2400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52951" y="4893283"/>
            <a:ext cx="4424609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</a:rPr>
              <a:t>parameter</a:t>
            </a:r>
            <a:r>
              <a:rPr lang="en-US" sz="2400" dirty="0">
                <a:solidFill>
                  <a:schemeClr val="bg1"/>
                </a:solidFill>
              </a:rPr>
              <a:t> -&gt; </a:t>
            </a:r>
            <a:r>
              <a:rPr lang="en-US" sz="2400" i="1" dirty="0">
                <a:solidFill>
                  <a:schemeClr val="bg1"/>
                </a:solidFill>
              </a:rPr>
              <a:t>expression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17237" y="5440649"/>
            <a:ext cx="7189789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i="1" dirty="0">
                <a:solidFill>
                  <a:schemeClr val="bg1"/>
                </a:solidFill>
              </a:rPr>
              <a:t>parameter1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i="1" dirty="0">
                <a:solidFill>
                  <a:schemeClr val="bg1"/>
                </a:solidFill>
              </a:rPr>
              <a:t>parameter2</a:t>
            </a:r>
            <a:r>
              <a:rPr lang="en-US" sz="2400" dirty="0">
                <a:solidFill>
                  <a:schemeClr val="bg1"/>
                </a:solidFill>
              </a:rPr>
              <a:t>) -&gt; </a:t>
            </a:r>
            <a:r>
              <a:rPr lang="en-US" sz="2400" i="1" dirty="0">
                <a:solidFill>
                  <a:schemeClr val="bg1"/>
                </a:solidFill>
              </a:rPr>
              <a:t>expression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63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232" y="324498"/>
            <a:ext cx="5281861" cy="812117"/>
          </a:xfrm>
        </p:spPr>
        <p:txBody>
          <a:bodyPr anchor="b">
            <a:normAutofit/>
          </a:bodyPr>
          <a:lstStyle/>
          <a:p>
            <a:r>
              <a:rPr lang="en-US" sz="4000" b="1" dirty="0" smtClean="0"/>
              <a:t>Lambda Expressions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776B-11CA-91EA-685D-58F08F98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540" y="1318094"/>
            <a:ext cx="9270123" cy="4221811"/>
          </a:xfrm>
        </p:spPr>
        <p:txBody>
          <a:bodyPr anchor="t">
            <a:normAutofit/>
          </a:bodyPr>
          <a:lstStyle/>
          <a:p>
            <a:r>
              <a:rPr lang="en-US" sz="2400" dirty="0"/>
              <a:t>The Secret Sauce: Functional </a:t>
            </a:r>
            <a:r>
              <a:rPr lang="en-US" sz="2400" dirty="0" smtClean="0"/>
              <a:t>Interfaces</a:t>
            </a:r>
          </a:p>
          <a:p>
            <a:r>
              <a:rPr lang="en-US" sz="2400" dirty="0"/>
              <a:t>You can't just put a lambda expression anywhere. They can </a:t>
            </a:r>
            <a:r>
              <a:rPr lang="en-US" sz="2400" i="1" dirty="0"/>
              <a:t>only</a:t>
            </a:r>
            <a:r>
              <a:rPr lang="en-US" sz="2400" dirty="0"/>
              <a:t> be used in contexts where a </a:t>
            </a:r>
            <a:r>
              <a:rPr lang="en-US" sz="2400" b="1" dirty="0"/>
              <a:t>Functional Interface</a:t>
            </a:r>
            <a:r>
              <a:rPr lang="en-US" sz="2400" dirty="0"/>
              <a:t> is expected.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40048" y="3329527"/>
            <a:ext cx="4424609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</a:rPr>
              <a:t>parameter</a:t>
            </a:r>
            <a:r>
              <a:rPr lang="en-US" sz="2400" dirty="0">
                <a:solidFill>
                  <a:schemeClr val="bg1"/>
                </a:solidFill>
              </a:rPr>
              <a:t> -&gt; </a:t>
            </a:r>
            <a:r>
              <a:rPr lang="en-US" sz="2400" i="1" dirty="0">
                <a:solidFill>
                  <a:schemeClr val="bg1"/>
                </a:solidFill>
              </a:rPr>
              <a:t>expression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4334" y="3876893"/>
            <a:ext cx="7189789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i="1" dirty="0">
                <a:solidFill>
                  <a:schemeClr val="bg1"/>
                </a:solidFill>
              </a:rPr>
              <a:t>parameter1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i="1" dirty="0">
                <a:solidFill>
                  <a:schemeClr val="bg1"/>
                </a:solidFill>
              </a:rPr>
              <a:t>parameter2</a:t>
            </a:r>
            <a:r>
              <a:rPr lang="en-US" sz="2400" dirty="0">
                <a:solidFill>
                  <a:schemeClr val="bg1"/>
                </a:solidFill>
              </a:rPr>
              <a:t>) -&gt; </a:t>
            </a:r>
            <a:r>
              <a:rPr lang="en-US" sz="2400" i="1" dirty="0">
                <a:solidFill>
                  <a:schemeClr val="bg1"/>
                </a:solidFill>
              </a:rPr>
              <a:t>expression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36487" y="5737287"/>
            <a:ext cx="86988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Check the rest of expressions at </a:t>
            </a:r>
            <a:r>
              <a:rPr lang="en-US" i="1" dirty="0" smtClean="0">
                <a:hlinkClick r:id="rId3"/>
              </a:rPr>
              <a:t>https</a:t>
            </a:r>
            <a:r>
              <a:rPr lang="en-US" i="1" dirty="0">
                <a:hlinkClick r:id="rId3"/>
              </a:rPr>
              <a:t>://</a:t>
            </a:r>
            <a:r>
              <a:rPr lang="en-US" i="1" dirty="0" smtClean="0">
                <a:hlinkClick r:id="rId3"/>
              </a:rPr>
              <a:t>www.w3schools.com/java/java_lambda.asp</a:t>
            </a:r>
            <a:endParaRPr lang="en-US" i="1" dirty="0" smtClean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7186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232" y="324498"/>
            <a:ext cx="8758989" cy="812117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Lambda Expressions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2978" y="1358834"/>
            <a:ext cx="6773779" cy="28623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Button 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/>
              <a:t> new Button("Submit");</a:t>
            </a:r>
          </a:p>
          <a:p>
            <a:endParaRPr lang="en-US" dirty="0"/>
          </a:p>
          <a:p>
            <a:r>
              <a:rPr lang="en-US" dirty="0" err="1"/>
              <a:t>btn.setOnAction</a:t>
            </a:r>
            <a:r>
              <a:rPr lang="en-US" dirty="0"/>
              <a:t>(new </a:t>
            </a:r>
            <a:r>
              <a:rPr lang="en-US" dirty="0" err="1"/>
              <a:t>EventHandler</a:t>
            </a:r>
            <a:r>
              <a:rPr lang="en-US" dirty="0"/>
              <a:t>&lt;</a:t>
            </a:r>
            <a:r>
              <a:rPr lang="en-US" dirty="0" err="1"/>
              <a:t>ActionEvent</a:t>
            </a:r>
            <a:r>
              <a:rPr lang="en-US" dirty="0"/>
              <a:t>&gt;() {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void handle(</a:t>
            </a:r>
            <a:r>
              <a:rPr lang="en-US" dirty="0" err="1"/>
              <a:t>ActionEvent</a:t>
            </a:r>
            <a:r>
              <a:rPr lang="en-US" dirty="0"/>
              <a:t> event)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("Button was clicked!");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1147" y="5015801"/>
            <a:ext cx="9857875" cy="92333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dirty="0"/>
              <a:t>Button 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/>
              <a:t> new Button("Submit");</a:t>
            </a:r>
          </a:p>
          <a:p>
            <a:endParaRPr lang="en-US" dirty="0"/>
          </a:p>
          <a:p>
            <a:r>
              <a:rPr lang="en-US" dirty="0" err="1"/>
              <a:t>btn.setOnAction</a:t>
            </a:r>
            <a:r>
              <a:rPr lang="en-US" dirty="0"/>
              <a:t>(event -&gt; </a:t>
            </a:r>
            <a:r>
              <a:rPr lang="en-US" dirty="0" err="1"/>
              <a:t>System.out.println</a:t>
            </a:r>
            <a:r>
              <a:rPr lang="en-US" dirty="0"/>
              <a:t>("Button was clicked!"));</a:t>
            </a:r>
          </a:p>
        </p:txBody>
      </p:sp>
      <p:sp>
        <p:nvSpPr>
          <p:cNvPr id="8" name="Rectangle 7"/>
          <p:cNvSpPr/>
          <p:nvPr/>
        </p:nvSpPr>
        <p:spPr>
          <a:xfrm>
            <a:off x="7305005" y="2182379"/>
            <a:ext cx="1843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"Before" 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336610"/>
            <a:ext cx="1475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"After"</a:t>
            </a:r>
          </a:p>
        </p:txBody>
      </p:sp>
    </p:spTree>
    <p:extLst>
      <p:ext uri="{BB962C8B-B14F-4D97-AF65-F5344CB8AC3E}">
        <p14:creationId xmlns:p14="http://schemas.microsoft.com/office/powerpoint/2010/main" val="100045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232" y="324498"/>
            <a:ext cx="8758989" cy="812117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Lambda Expressions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9041" y="2654242"/>
            <a:ext cx="9857875" cy="1754326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dirty="0"/>
              <a:t>(a, b) -&gt; </a:t>
            </a:r>
            <a:r>
              <a:rPr lang="en-US" dirty="0" smtClean="0"/>
              <a:t>{ 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sum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/>
              <a:t> a + b; </a:t>
            </a:r>
            <a:endParaRPr lang="en-US" dirty="0" smtClean="0"/>
          </a:p>
          <a:p>
            <a:r>
              <a:rPr lang="en-US" dirty="0" smtClean="0"/>
              <a:t>		</a:t>
            </a:r>
            <a:r>
              <a:rPr lang="en-US" dirty="0" err="1" smtClean="0"/>
              <a:t>System.out.println</a:t>
            </a:r>
            <a:r>
              <a:rPr lang="en-US" dirty="0"/>
              <a:t>("The sum is: " + sum);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return </a:t>
            </a:r>
            <a:r>
              <a:rPr lang="en-US" dirty="0"/>
              <a:t>sum; </a:t>
            </a:r>
            <a:endParaRPr lang="en-US" dirty="0" smtClean="0"/>
          </a:p>
          <a:p>
            <a:r>
              <a:rPr lang="en-US" dirty="0" smtClean="0"/>
              <a:t>};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59041" y="1629935"/>
            <a:ext cx="9401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Write a Lambda expression for adding two integers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6869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232" y="324498"/>
            <a:ext cx="8758989" cy="812117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Lambda Expressions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5287" y="1136615"/>
            <a:ext cx="1132212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Programming Exercise: </a:t>
            </a:r>
            <a:endParaRPr lang="en-US" sz="2800" b="1" dirty="0" smtClean="0"/>
          </a:p>
          <a:p>
            <a:endParaRPr lang="en-US" sz="2000" b="1" dirty="0"/>
          </a:p>
          <a:p>
            <a:r>
              <a:rPr lang="en-US" sz="2000" b="1" dirty="0" smtClean="0"/>
              <a:t>Define </a:t>
            </a:r>
            <a:r>
              <a:rPr lang="en-US" sz="2000" b="1" dirty="0"/>
              <a:t>the Interface:</a:t>
            </a:r>
            <a:r>
              <a:rPr lang="en-US" sz="2000" dirty="0"/>
              <a:t> Create an interface named Calculator. Use the appropriate annotation to mark it as a functional interface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Declare the Method:</a:t>
            </a:r>
            <a:r>
              <a:rPr lang="en-US" sz="2000" dirty="0"/>
              <a:t> Inside the interface, define a single abstract method named sum that takes two </a:t>
            </a:r>
            <a:r>
              <a:rPr lang="en-US" sz="2000" dirty="0" err="1"/>
              <a:t>int</a:t>
            </a:r>
            <a:r>
              <a:rPr lang="en-US" sz="2000" dirty="0"/>
              <a:t> parameters and returns an int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Setup the Main Class:</a:t>
            </a:r>
            <a:r>
              <a:rPr lang="en-US" sz="2000" dirty="0"/>
              <a:t> Create a Main class containing a standard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method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Implement with a Lambda:</a:t>
            </a:r>
            <a:r>
              <a:rPr lang="en-US" sz="2000" dirty="0"/>
              <a:t> Inside the main method, declare a variable of type Calculator. Assign it a Lambda expression that correctly implements the sum method by adding the two integer parameters together.</a:t>
            </a:r>
          </a:p>
          <a:p>
            <a:r>
              <a:rPr lang="en-US" sz="2000" b="1" dirty="0"/>
              <a:t>Execute and Print:</a:t>
            </a:r>
            <a:r>
              <a:rPr lang="en-US" sz="2000" dirty="0"/>
              <a:t> Call the sum method using your lambda implementation, passing in the values 15 and 25. Store the result and print it to the console.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014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232" y="324498"/>
            <a:ext cx="8758989" cy="812117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Lambda Expressions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8954" y="2056686"/>
            <a:ext cx="1186304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interface</a:t>
            </a:r>
            <a:r>
              <a:rPr lang="en-US" dirty="0" smtClean="0"/>
              <a:t> </a:t>
            </a:r>
            <a:r>
              <a:rPr lang="en-US" dirty="0"/>
              <a:t>Calculator {</a:t>
            </a:r>
          </a:p>
          <a:p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sum(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a,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b);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public class </a:t>
            </a:r>
            <a:r>
              <a:rPr lang="en-US" dirty="0" err="1" smtClean="0"/>
              <a:t>CalcMain</a:t>
            </a: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public static void </a:t>
            </a:r>
            <a:r>
              <a:rPr lang="en-US" dirty="0"/>
              <a:t>main(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</a:t>
            </a:r>
            <a:r>
              <a:rPr lang="en-US" dirty="0" smtClean="0"/>
              <a:t>Use </a:t>
            </a:r>
            <a:r>
              <a:rPr lang="en-US" dirty="0"/>
              <a:t>a Lambda expression to implement the interface</a:t>
            </a:r>
          </a:p>
          <a:p>
            <a:r>
              <a:rPr lang="en-US" dirty="0"/>
              <a:t>        // Java knows 'a' and 'b' are integers because of the interface definition</a:t>
            </a:r>
          </a:p>
          <a:p>
            <a:r>
              <a:rPr lang="en-US" dirty="0"/>
              <a:t>        Calculator addition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/>
              <a:t> (a, b) -&gt; a + b;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// 3. Call the method and store/print the result</a:t>
            </a:r>
          </a:p>
          <a:p>
            <a:r>
              <a:rPr lang="en-US" dirty="0"/>
              <a:t>       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result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/>
              <a:t> </a:t>
            </a:r>
            <a:r>
              <a:rPr lang="en-US" dirty="0" err="1"/>
              <a:t>addition.sum</a:t>
            </a:r>
            <a:r>
              <a:rPr lang="en-US" dirty="0"/>
              <a:t>(15, 25);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("The result of the sum is: " + result);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1806" y="1225689"/>
            <a:ext cx="9401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Write a Lambda expression for adding two integers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0039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Secret Sauce: Functional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121" y="1690692"/>
            <a:ext cx="1159234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You can't just put a lambda expression anywhere. They can </a:t>
            </a:r>
            <a:r>
              <a:rPr lang="en-US" sz="2800" i="1" dirty="0"/>
              <a:t>only</a:t>
            </a:r>
            <a:r>
              <a:rPr lang="en-US" sz="2800" dirty="0"/>
              <a:t> be used in contexts where a </a:t>
            </a:r>
            <a:r>
              <a:rPr lang="en-US" sz="2800" b="1" dirty="0"/>
              <a:t>Functional Interface</a:t>
            </a:r>
            <a:r>
              <a:rPr lang="en-US" sz="2800" dirty="0"/>
              <a:t> is expected.</a:t>
            </a:r>
          </a:p>
          <a:p>
            <a:r>
              <a:rPr lang="en-US" sz="2800" dirty="0"/>
              <a:t>A Functional Interface is simply any interface in Java that contains </a:t>
            </a:r>
            <a:r>
              <a:rPr lang="en-US" sz="2800" b="1" dirty="0"/>
              <a:t>exactly one abstract method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dirty="0" err="1" smtClean="0"/>
              <a:t>EventHandler</a:t>
            </a:r>
            <a:r>
              <a:rPr lang="en-US" sz="2800" dirty="0" smtClean="0"/>
              <a:t> &lt;</a:t>
            </a:r>
            <a:r>
              <a:rPr lang="en-US" sz="2800" dirty="0"/>
              <a:t>T&gt; is a functional interface because it only has handle().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dirty="0"/>
              <a:t>Runnable</a:t>
            </a:r>
            <a:r>
              <a:rPr lang="en-US" sz="2800" dirty="0"/>
              <a:t> is a functional interface because it only has run().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b="1" dirty="0" err="1"/>
              <a:t>ActionListener</a:t>
            </a:r>
            <a:r>
              <a:rPr lang="en-US" sz="2800" dirty="0"/>
              <a:t> is a functional interface because it only has </a:t>
            </a:r>
            <a:r>
              <a:rPr lang="en-US" sz="2800" dirty="0" err="1"/>
              <a:t>actionPerformed</a:t>
            </a:r>
            <a:r>
              <a:rPr lang="en-US" sz="2800" dirty="0"/>
              <a:t>().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8498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b="1" dirty="0"/>
              <a:t>JavaFX - Event </a:t>
            </a:r>
            <a:r>
              <a:rPr lang="en-US" b="1" dirty="0" smtClean="0"/>
              <a:t>Handling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776B-11CA-91EA-685D-58F08F982F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1" y="796896"/>
            <a:ext cx="5281861" cy="812117"/>
          </a:xfrm>
        </p:spPr>
        <p:txBody>
          <a:bodyPr anchor="b">
            <a:normAutofit/>
          </a:bodyPr>
          <a:lstStyle/>
          <a:p>
            <a:r>
              <a:rPr lang="en-US" b="1" dirty="0"/>
              <a:t>JavaFX - Event </a:t>
            </a:r>
            <a:r>
              <a:rPr lang="en-US" b="1" dirty="0" smtClean="0"/>
              <a:t>Handling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776B-11CA-91EA-685D-58F08F98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875" y="1839310"/>
            <a:ext cx="9270123" cy="4221811"/>
          </a:xfrm>
        </p:spPr>
        <p:txBody>
          <a:bodyPr anchor="t">
            <a:normAutofit/>
          </a:bodyPr>
          <a:lstStyle/>
          <a:p>
            <a:r>
              <a:rPr lang="en-US" sz="2800" dirty="0"/>
              <a:t>An </a:t>
            </a:r>
            <a:r>
              <a:rPr lang="en-US" sz="2800" b="1" dirty="0"/>
              <a:t>event</a:t>
            </a:r>
            <a:r>
              <a:rPr lang="en-US" sz="2800" dirty="0"/>
              <a:t> occurs whenever a </a:t>
            </a:r>
            <a:r>
              <a:rPr lang="en-US" sz="2800" b="1" dirty="0"/>
              <a:t>user interacts with application components (nodes</a:t>
            </a:r>
            <a:r>
              <a:rPr lang="en-US" sz="2800" b="1" dirty="0" smtClean="0"/>
              <a:t>)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Examples of Events:</a:t>
            </a:r>
            <a:endParaRPr lang="en-US" sz="2800" dirty="0"/>
          </a:p>
          <a:p>
            <a:pPr lvl="1"/>
            <a:r>
              <a:rPr lang="en-US" sz="2400" dirty="0"/>
              <a:t>Clicking a button</a:t>
            </a:r>
          </a:p>
          <a:p>
            <a:pPr lvl="1"/>
            <a:r>
              <a:rPr lang="en-US" sz="2400" dirty="0"/>
              <a:t>Moving the mouse</a:t>
            </a:r>
          </a:p>
          <a:p>
            <a:pPr lvl="1"/>
            <a:r>
              <a:rPr lang="en-US" sz="2400" dirty="0"/>
              <a:t>Typing using the keyboard</a:t>
            </a:r>
          </a:p>
          <a:p>
            <a:pPr lvl="1"/>
            <a:r>
              <a:rPr lang="en-US" sz="2400" dirty="0"/>
              <a:t>Selecting an item from a list</a:t>
            </a:r>
          </a:p>
          <a:p>
            <a:pPr lvl="1"/>
            <a:r>
              <a:rPr lang="en-US" sz="2400" dirty="0"/>
              <a:t>Scrolling a page</a:t>
            </a:r>
          </a:p>
          <a:p>
            <a:endParaRPr lang="en-US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1815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1" y="796896"/>
            <a:ext cx="5281861" cy="812117"/>
          </a:xfrm>
        </p:spPr>
        <p:txBody>
          <a:bodyPr anchor="b">
            <a:normAutofit/>
          </a:bodyPr>
          <a:lstStyle/>
          <a:p>
            <a:r>
              <a:rPr lang="en-US" b="1" dirty="0"/>
              <a:t>Main Types of </a:t>
            </a:r>
            <a:r>
              <a:rPr lang="en-US" b="1" dirty="0" smtClean="0"/>
              <a:t>Events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776B-11CA-91EA-685D-58F08F98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13" y="1773324"/>
            <a:ext cx="5941387" cy="4221811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b="1" dirty="0"/>
              <a:t>1. Foreground Events</a:t>
            </a:r>
            <a:endParaRPr lang="en-US" sz="2400" dirty="0"/>
          </a:p>
          <a:p>
            <a:r>
              <a:rPr lang="en-US" sz="2400" dirty="0"/>
              <a:t>Require </a:t>
            </a:r>
            <a:r>
              <a:rPr lang="en-US" sz="2400" b="1" dirty="0"/>
              <a:t>direct user interaction</a:t>
            </a:r>
            <a:r>
              <a:rPr lang="en-US" sz="2400" dirty="0"/>
              <a:t>.</a:t>
            </a:r>
          </a:p>
          <a:p>
            <a:r>
              <a:rPr lang="en-US" sz="2400" dirty="0"/>
              <a:t>Generated when users interact with GUI elements.</a:t>
            </a:r>
          </a:p>
          <a:p>
            <a:r>
              <a:rPr lang="en-US" sz="2400" b="1" dirty="0"/>
              <a:t>Examples:</a:t>
            </a:r>
          </a:p>
          <a:p>
            <a:pPr lvl="1"/>
            <a:r>
              <a:rPr lang="en-US" sz="2400" dirty="0"/>
              <a:t>Button click</a:t>
            </a:r>
          </a:p>
          <a:p>
            <a:pPr lvl="1"/>
            <a:r>
              <a:rPr lang="en-US" sz="2400" dirty="0"/>
              <a:t>Mouse movement</a:t>
            </a:r>
          </a:p>
          <a:p>
            <a:pPr lvl="1"/>
            <a:r>
              <a:rPr lang="en-US" sz="2400" dirty="0"/>
              <a:t>Keyboard input</a:t>
            </a:r>
          </a:p>
          <a:p>
            <a:pPr lvl="1"/>
            <a:r>
              <a:rPr lang="en-US" sz="2400" dirty="0"/>
              <a:t>Selecting items from lists</a:t>
            </a:r>
          </a:p>
          <a:p>
            <a:pPr lvl="1"/>
            <a:r>
              <a:rPr lang="en-US" sz="2400" dirty="0"/>
              <a:t>Scrolling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0" y="1674177"/>
            <a:ext cx="6096000" cy="38472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2.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require user interaction.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Triggered by the system or application processes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interruptions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or software failures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expiration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of an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8674" y="5872569"/>
            <a:ext cx="105133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class named 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Event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of the package </a:t>
            </a:r>
            <a:r>
              <a:rPr lang="en-US" b="1" dirty="0" err="1">
                <a:solidFill>
                  <a:srgbClr val="000000"/>
                </a:solidFill>
                <a:latin typeface="Verdana" panose="020B0604030504040204" pitchFamily="34" charset="0"/>
              </a:rPr>
              <a:t>javafx.event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is the base class for an event.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88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2" y="796896"/>
            <a:ext cx="6448924" cy="812117"/>
          </a:xfrm>
        </p:spPr>
        <p:txBody>
          <a:bodyPr anchor="b">
            <a:normAutofit/>
          </a:bodyPr>
          <a:lstStyle/>
          <a:p>
            <a:r>
              <a:rPr lang="en-US" sz="3600" b="1" dirty="0"/>
              <a:t>Event Handling in JavaFX</a:t>
            </a: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Event handling is the </a:t>
            </a:r>
            <a:r>
              <a:rPr lang="en-US" sz="2800" b="1" dirty="0"/>
              <a:t>mechanism that controls events and determines what action should occur when an event happens</a:t>
            </a:r>
            <a:r>
              <a:rPr lang="en-US" sz="2800" dirty="0"/>
              <a:t>.</a:t>
            </a:r>
          </a:p>
          <a:p>
            <a:r>
              <a:rPr lang="en-US" sz="2800" b="1" dirty="0"/>
              <a:t>Event Handler:</a:t>
            </a:r>
            <a:endParaRPr lang="en-US" sz="2800" dirty="0"/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code that executes when an event occurs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It defines the response of the application to user actions.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42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2" y="796896"/>
            <a:ext cx="7146756" cy="812117"/>
          </a:xfrm>
        </p:spPr>
        <p:txBody>
          <a:bodyPr anchor="b">
            <a:normAutofit fontScale="90000"/>
          </a:bodyPr>
          <a:lstStyle/>
          <a:p>
            <a:r>
              <a:rPr lang="en-US" sz="3600" b="1" dirty="0"/>
              <a:t>Key Components of a JavaFX </a:t>
            </a:r>
            <a:r>
              <a:rPr lang="en-US" sz="3600" b="1" dirty="0" smtClean="0"/>
              <a:t>Event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776B-11CA-91EA-685D-58F08F98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876" y="1694931"/>
            <a:ext cx="9270123" cy="4221811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800" b="1" dirty="0" smtClean="0"/>
              <a:t>1</a:t>
            </a:r>
            <a:r>
              <a:rPr lang="en-US" sz="2800" b="1" dirty="0"/>
              <a:t>. Target</a:t>
            </a:r>
            <a:endParaRPr lang="en-US" sz="2800" dirty="0"/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node where the event occurs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Examples: </a:t>
            </a:r>
            <a:r>
              <a:rPr lang="en-US" sz="2400" b="1" dirty="0"/>
              <a:t>Window, Scene, or Node (such as Button, </a:t>
            </a:r>
            <a:r>
              <a:rPr lang="en-US" sz="2400" b="1" dirty="0" err="1"/>
              <a:t>TextField</a:t>
            </a:r>
            <a:r>
              <a:rPr lang="en-US" sz="2400" b="1" dirty="0"/>
              <a:t>, etc.)</a:t>
            </a:r>
            <a:endParaRPr lang="en-US" sz="2400" dirty="0"/>
          </a:p>
          <a:p>
            <a:pPr marL="0" indent="0">
              <a:buNone/>
            </a:pPr>
            <a:r>
              <a:rPr lang="en-US" sz="2800" b="1" dirty="0"/>
              <a:t>2. Source</a:t>
            </a:r>
            <a:endParaRPr lang="en-US" sz="2800" dirty="0"/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object that generates the event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Example: </a:t>
            </a:r>
            <a:r>
              <a:rPr lang="en-US" sz="2400" b="1" dirty="0"/>
              <a:t>Mouse or Keyboard</a:t>
            </a:r>
            <a:r>
              <a:rPr lang="en-US" sz="2400" dirty="0"/>
              <a:t> generating the event.</a:t>
            </a:r>
          </a:p>
          <a:p>
            <a:pPr marL="0" indent="0">
              <a:buNone/>
            </a:pPr>
            <a:r>
              <a:rPr lang="en-US" sz="2800" b="1" dirty="0"/>
              <a:t>3. Type</a:t>
            </a:r>
            <a:endParaRPr lang="en-US" sz="2800" dirty="0"/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specific category of the event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Example for mouse events:</a:t>
            </a:r>
          </a:p>
          <a:p>
            <a:pPr lvl="2"/>
            <a:r>
              <a:rPr lang="en-US" sz="1800" b="1" dirty="0"/>
              <a:t>Mouse Pressed</a:t>
            </a:r>
            <a:endParaRPr lang="en-US" sz="1800" dirty="0"/>
          </a:p>
          <a:p>
            <a:pPr lvl="2"/>
            <a:r>
              <a:rPr lang="en-US" sz="1800" b="1" dirty="0"/>
              <a:t>Mouse Released</a:t>
            </a:r>
            <a:endParaRPr lang="en-US" sz="1800" dirty="0"/>
          </a:p>
          <a:p>
            <a:pPr lvl="2"/>
            <a:r>
              <a:rPr lang="en-US" sz="1800" b="1" dirty="0"/>
              <a:t>Mouse Clicked</a:t>
            </a:r>
            <a:endParaRPr lang="en-US" sz="1800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4305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61474" y="141204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public class </a:t>
            </a:r>
            <a:r>
              <a:rPr lang="en-US" sz="1800" dirty="0" err="1">
                <a:solidFill>
                  <a:srgbClr val="3D7FAF"/>
                </a:solidFill>
              </a:rPr>
              <a:t>TargetExample</a:t>
            </a:r>
            <a:r>
              <a:rPr lang="en-US" sz="1800" dirty="0">
                <a:solidFill>
                  <a:srgbClr val="3D7FAF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extends</a:t>
            </a:r>
            <a:r>
              <a:rPr lang="en-US" sz="1800" dirty="0">
                <a:solidFill>
                  <a:srgbClr val="3D7FAF"/>
                </a:solidFill>
              </a:rPr>
              <a:t> Application {</a:t>
            </a:r>
          </a:p>
          <a:p>
            <a:pPr marL="0" indent="0">
              <a:buNone/>
            </a:pPr>
            <a:endParaRPr lang="en-US" sz="1800" dirty="0">
              <a:solidFill>
                <a:srgbClr val="3D7FAF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@Override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</a:t>
            </a:r>
            <a:r>
              <a:rPr lang="en-US" sz="1800" dirty="0">
                <a:solidFill>
                  <a:srgbClr val="FF0000"/>
                </a:solidFill>
              </a:rPr>
              <a:t>public void</a:t>
            </a:r>
            <a:r>
              <a:rPr lang="en-US" sz="1800" dirty="0">
                <a:solidFill>
                  <a:srgbClr val="3D7FAF"/>
                </a:solidFill>
              </a:rPr>
              <a:t> start(Stage stage) {</a:t>
            </a:r>
          </a:p>
          <a:p>
            <a:pPr marL="0" indent="0">
              <a:buNone/>
            </a:pPr>
            <a:endParaRPr lang="en-US" sz="1800" dirty="0">
              <a:solidFill>
                <a:srgbClr val="3D7FAF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    Button </a:t>
            </a:r>
            <a:r>
              <a:rPr lang="en-US" sz="1800" dirty="0" err="1">
                <a:solidFill>
                  <a:srgbClr val="3D7FAF"/>
                </a:solidFill>
              </a:rPr>
              <a:t>btn</a:t>
            </a:r>
            <a:r>
              <a:rPr lang="en-US" sz="1800" dirty="0">
                <a:solidFill>
                  <a:srgbClr val="3D7FAF"/>
                </a:solidFill>
              </a:rPr>
              <a:t> = </a:t>
            </a:r>
            <a:r>
              <a:rPr lang="en-US" sz="1800" dirty="0">
                <a:solidFill>
                  <a:srgbClr val="FF0000"/>
                </a:solidFill>
              </a:rPr>
              <a:t>new</a:t>
            </a:r>
            <a:r>
              <a:rPr lang="en-US" sz="1800" dirty="0">
                <a:solidFill>
                  <a:srgbClr val="3D7FAF"/>
                </a:solidFill>
              </a:rPr>
              <a:t> Button("Click Me");</a:t>
            </a:r>
          </a:p>
          <a:p>
            <a:pPr marL="0" indent="0">
              <a:buNone/>
            </a:pPr>
            <a:endParaRPr lang="en-US" sz="1800" dirty="0">
              <a:solidFill>
                <a:srgbClr val="3D7FAF"/>
              </a:solidFill>
            </a:endParaRPr>
          </a:p>
          <a:p>
            <a:pPr marL="342884" lvl="1" indent="0">
              <a:buNone/>
            </a:pPr>
            <a:r>
              <a:rPr lang="en-US" dirty="0" err="1">
                <a:solidFill>
                  <a:srgbClr val="3D7FAF"/>
                </a:solidFill>
              </a:rPr>
              <a:t>btn.setOnMouseClicked</a:t>
            </a:r>
            <a:r>
              <a:rPr lang="en-US" dirty="0">
                <a:solidFill>
                  <a:srgbClr val="3D7FAF"/>
                </a:solidFill>
              </a:rPr>
              <a:t>(e -&gt; {</a:t>
            </a:r>
            <a:br>
              <a:rPr lang="en-US" dirty="0">
                <a:solidFill>
                  <a:srgbClr val="3D7FAF"/>
                </a:solidFill>
              </a:rPr>
            </a:br>
            <a:r>
              <a:rPr lang="en-US" dirty="0">
                <a:solidFill>
                  <a:srgbClr val="3D7FAF"/>
                </a:solidFill>
              </a:rPr>
              <a:t/>
            </a:r>
            <a:br>
              <a:rPr lang="en-US" dirty="0">
                <a:solidFill>
                  <a:srgbClr val="3D7FAF"/>
                </a:solidFill>
              </a:rPr>
            </a:br>
            <a:r>
              <a:rPr lang="en-US" dirty="0" err="1">
                <a:solidFill>
                  <a:srgbClr val="3D7FAF"/>
                </a:solidFill>
              </a:rPr>
              <a:t>System.out.println</a:t>
            </a:r>
            <a:r>
              <a:rPr lang="en-US" dirty="0">
                <a:solidFill>
                  <a:srgbClr val="3D7FAF"/>
                </a:solidFill>
              </a:rPr>
              <a:t>("Target: " + </a:t>
            </a:r>
            <a:r>
              <a:rPr lang="en-US" dirty="0" err="1">
                <a:solidFill>
                  <a:srgbClr val="3D7FAF"/>
                </a:solidFill>
              </a:rPr>
              <a:t>e.getTarget</a:t>
            </a:r>
            <a:r>
              <a:rPr lang="en-US" dirty="0">
                <a:solidFill>
                  <a:srgbClr val="3D7FAF"/>
                </a:solidFill>
              </a:rPr>
              <a:t>());</a:t>
            </a:r>
            <a:br>
              <a:rPr lang="en-US" dirty="0">
                <a:solidFill>
                  <a:srgbClr val="3D7FAF"/>
                </a:solidFill>
              </a:rPr>
            </a:br>
            <a:r>
              <a:rPr lang="en-US" dirty="0" err="1">
                <a:solidFill>
                  <a:srgbClr val="3D7FAF"/>
                </a:solidFill>
              </a:rPr>
              <a:t>System.out.println</a:t>
            </a:r>
            <a:r>
              <a:rPr lang="en-US" dirty="0">
                <a:solidFill>
                  <a:srgbClr val="3D7FAF"/>
                </a:solidFill>
              </a:rPr>
              <a:t>("Source: " + </a:t>
            </a:r>
            <a:r>
              <a:rPr lang="en-US" dirty="0" err="1">
                <a:solidFill>
                  <a:srgbClr val="3D7FAF"/>
                </a:solidFill>
              </a:rPr>
              <a:t>e.getSource</a:t>
            </a:r>
            <a:r>
              <a:rPr lang="en-US" dirty="0">
                <a:solidFill>
                  <a:srgbClr val="3D7FAF"/>
                </a:solidFill>
              </a:rPr>
              <a:t>());</a:t>
            </a:r>
            <a:br>
              <a:rPr lang="en-US" dirty="0">
                <a:solidFill>
                  <a:srgbClr val="3D7FAF"/>
                </a:solidFill>
              </a:rPr>
            </a:br>
            <a:r>
              <a:rPr lang="en-US" dirty="0" err="1">
                <a:solidFill>
                  <a:srgbClr val="3D7FAF"/>
                </a:solidFill>
              </a:rPr>
              <a:t>System.out.println</a:t>
            </a:r>
            <a:r>
              <a:rPr lang="en-US" dirty="0">
                <a:solidFill>
                  <a:srgbClr val="3D7FAF"/>
                </a:solidFill>
              </a:rPr>
              <a:t>("Event Type: " + </a:t>
            </a:r>
            <a:r>
              <a:rPr lang="en-US" dirty="0" err="1">
                <a:solidFill>
                  <a:srgbClr val="3D7FAF"/>
                </a:solidFill>
              </a:rPr>
              <a:t>e.getEventType</a:t>
            </a:r>
            <a:r>
              <a:rPr lang="en-US" dirty="0">
                <a:solidFill>
                  <a:srgbClr val="3D7FAF"/>
                </a:solidFill>
              </a:rPr>
              <a:t>());</a:t>
            </a:r>
            <a:br>
              <a:rPr lang="en-US" dirty="0">
                <a:solidFill>
                  <a:srgbClr val="3D7FAF"/>
                </a:solidFill>
              </a:rPr>
            </a:br>
            <a:r>
              <a:rPr lang="en-US" dirty="0">
                <a:solidFill>
                  <a:srgbClr val="3D7FAF"/>
                </a:solidFill>
              </a:rPr>
              <a:t/>
            </a:r>
            <a:br>
              <a:rPr lang="en-US" dirty="0">
                <a:solidFill>
                  <a:srgbClr val="3D7FAF"/>
                </a:solidFill>
              </a:rPr>
            </a:br>
            <a:r>
              <a:rPr lang="en-US" dirty="0">
                <a:solidFill>
                  <a:srgbClr val="3D7FAF"/>
                </a:solidFill>
              </a:rPr>
              <a:t>});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    Scene </a:t>
            </a:r>
            <a:r>
              <a:rPr lang="en-US" sz="1800" dirty="0" err="1">
                <a:solidFill>
                  <a:srgbClr val="3D7FAF"/>
                </a:solidFill>
              </a:rPr>
              <a:t>scene</a:t>
            </a:r>
            <a:r>
              <a:rPr lang="en-US" sz="1800" dirty="0">
                <a:solidFill>
                  <a:srgbClr val="3D7FAF"/>
                </a:solidFill>
              </a:rPr>
              <a:t> = </a:t>
            </a:r>
            <a:r>
              <a:rPr lang="en-US" sz="1800" dirty="0">
                <a:solidFill>
                  <a:srgbClr val="FF0000"/>
                </a:solidFill>
              </a:rPr>
              <a:t>new</a:t>
            </a:r>
            <a:r>
              <a:rPr lang="en-US" sz="1800" dirty="0">
                <a:solidFill>
                  <a:srgbClr val="3D7FAF"/>
                </a:solidFill>
              </a:rPr>
              <a:t> Scene(</a:t>
            </a:r>
            <a:r>
              <a:rPr lang="en-US" sz="1800" dirty="0" err="1">
                <a:solidFill>
                  <a:srgbClr val="3D7FAF"/>
                </a:solidFill>
              </a:rPr>
              <a:t>btn</a:t>
            </a:r>
            <a:r>
              <a:rPr lang="en-US" sz="1800" dirty="0">
                <a:solidFill>
                  <a:srgbClr val="3D7FAF"/>
                </a:solidFill>
              </a:rPr>
              <a:t>, 300, 200);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    </a:t>
            </a:r>
            <a:r>
              <a:rPr lang="en-US" sz="1800" dirty="0" err="1">
                <a:solidFill>
                  <a:srgbClr val="3D7FAF"/>
                </a:solidFill>
              </a:rPr>
              <a:t>stage.setScene</a:t>
            </a:r>
            <a:r>
              <a:rPr lang="en-US" sz="1800" dirty="0">
                <a:solidFill>
                  <a:srgbClr val="3D7FAF"/>
                </a:solidFill>
              </a:rPr>
              <a:t>(scene);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    </a:t>
            </a:r>
            <a:r>
              <a:rPr lang="en-US" sz="1800" dirty="0" err="1">
                <a:solidFill>
                  <a:srgbClr val="3D7FAF"/>
                </a:solidFill>
              </a:rPr>
              <a:t>stage.setTitle</a:t>
            </a:r>
            <a:r>
              <a:rPr lang="en-US" sz="1800" dirty="0">
                <a:solidFill>
                  <a:srgbClr val="3D7FAF"/>
                </a:solidFill>
              </a:rPr>
              <a:t>("Target Example");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    </a:t>
            </a:r>
            <a:r>
              <a:rPr lang="en-US" sz="1800" dirty="0" err="1">
                <a:solidFill>
                  <a:srgbClr val="3D7FAF"/>
                </a:solidFill>
              </a:rPr>
              <a:t>stage.show</a:t>
            </a:r>
            <a:r>
              <a:rPr lang="en-US" sz="1800" dirty="0">
                <a:solidFill>
                  <a:srgbClr val="3D7FAF"/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    public static void </a:t>
            </a:r>
            <a:r>
              <a:rPr lang="en-US" sz="1800" dirty="0">
                <a:solidFill>
                  <a:srgbClr val="3D7FAF"/>
                </a:solidFill>
              </a:rPr>
              <a:t>main(String[] </a:t>
            </a:r>
            <a:r>
              <a:rPr lang="en-US" sz="1800" dirty="0" err="1">
                <a:solidFill>
                  <a:srgbClr val="3D7FAF"/>
                </a:solidFill>
              </a:rPr>
              <a:t>args</a:t>
            </a:r>
            <a:r>
              <a:rPr lang="en-US" sz="1800" dirty="0">
                <a:solidFill>
                  <a:srgbClr val="3D7FAF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D7FAF"/>
                </a:solidFill>
              </a:rPr>
              <a:t>        launch</a:t>
            </a:r>
            <a:r>
              <a:rPr lang="en-US" sz="1800" dirty="0" smtClean="0">
                <a:solidFill>
                  <a:srgbClr val="3D7FAF"/>
                </a:solidFill>
              </a:rPr>
              <a:t>();     } }</a:t>
            </a:r>
            <a:endParaRPr lang="en-US" sz="1800" dirty="0">
              <a:solidFill>
                <a:srgbClr val="3D7FA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3D7FA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77726" y="1303448"/>
            <a:ext cx="1112419" cy="4001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Target</a:t>
            </a:r>
            <a:endParaRPr lang="en-US" sz="2000" dirty="0"/>
          </a:p>
        </p:txBody>
      </p:sp>
      <p:cxnSp>
        <p:nvCxnSpPr>
          <p:cNvPr id="12" name="Curved Connector 11"/>
          <p:cNvCxnSpPr>
            <a:stCxn id="11" idx="1"/>
          </p:cNvCxnSpPr>
          <p:nvPr/>
        </p:nvCxnSpPr>
        <p:spPr>
          <a:xfrm rot="10800000" flipV="1">
            <a:off x="1940468" y="1503502"/>
            <a:ext cx="4337258" cy="411273"/>
          </a:xfrm>
          <a:prstGeom prst="curvedConnector3">
            <a:avLst>
              <a:gd name="adj1" fmla="val 993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30780" y="2835274"/>
            <a:ext cx="1929064" cy="4001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Source</a:t>
            </a:r>
            <a:endParaRPr lang="en-US" sz="2000" dirty="0"/>
          </a:p>
        </p:txBody>
      </p:sp>
      <p:cxnSp>
        <p:nvCxnSpPr>
          <p:cNvPr id="14" name="Curved Connector 13"/>
          <p:cNvCxnSpPr>
            <a:stCxn id="13" idx="1"/>
          </p:cNvCxnSpPr>
          <p:nvPr/>
        </p:nvCxnSpPr>
        <p:spPr>
          <a:xfrm rot="10800000">
            <a:off x="1118938" y="2835275"/>
            <a:ext cx="4511843" cy="200055"/>
          </a:xfrm>
          <a:prstGeom prst="curvedConnector3">
            <a:avLst>
              <a:gd name="adj1" fmla="val 1001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380621" y="1903611"/>
            <a:ext cx="1929064" cy="70788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smtClean="0"/>
              <a:t>Type: Mouse Clicked</a:t>
            </a:r>
            <a:endParaRPr lang="en-US" sz="2000" dirty="0"/>
          </a:p>
        </p:txBody>
      </p:sp>
      <p:cxnSp>
        <p:nvCxnSpPr>
          <p:cNvPr id="37" name="Curved Connector 36"/>
          <p:cNvCxnSpPr>
            <a:stCxn id="36" idx="1"/>
          </p:cNvCxnSpPr>
          <p:nvPr/>
        </p:nvCxnSpPr>
        <p:spPr>
          <a:xfrm rot="10800000" flipV="1">
            <a:off x="2731173" y="2257554"/>
            <a:ext cx="6649449" cy="3665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332621" y="5408562"/>
            <a:ext cx="54583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Outputs:</a:t>
            </a:r>
          </a:p>
          <a:p>
            <a:r>
              <a:rPr lang="en-US" dirty="0" smtClean="0"/>
              <a:t>Target</a:t>
            </a:r>
            <a:r>
              <a:rPr lang="en-US" dirty="0"/>
              <a:t>: Button</a:t>
            </a:r>
          </a:p>
          <a:p>
            <a:r>
              <a:rPr lang="en-US" dirty="0"/>
              <a:t>Source: Button</a:t>
            </a:r>
          </a:p>
          <a:p>
            <a:r>
              <a:rPr lang="en-US" dirty="0"/>
              <a:t>Event Type: MOUSE_CLICKED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312" y="0"/>
            <a:ext cx="5484393" cy="651332"/>
          </a:xfrm>
        </p:spPr>
        <p:txBody>
          <a:bodyPr anchor="b">
            <a:normAutofit/>
          </a:bodyPr>
          <a:lstStyle/>
          <a:p>
            <a:r>
              <a:rPr lang="en-US" sz="3200" dirty="0"/>
              <a:t>Example: Button as the Target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541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4" y="1982227"/>
            <a:ext cx="2753136" cy="812117"/>
          </a:xfrm>
        </p:spPr>
        <p:txBody>
          <a:bodyPr anchor="b">
            <a:normAutofit fontScale="90000"/>
          </a:bodyPr>
          <a:lstStyle/>
          <a:p>
            <a:r>
              <a:rPr lang="en-US" sz="3600" b="1" dirty="0" smtClean="0"/>
              <a:t>Examples of JavaFX </a:t>
            </a:r>
            <a:r>
              <a:rPr lang="en-US" sz="3600" b="1" dirty="0" err="1" smtClean="0"/>
              <a:t>EventHandler</a:t>
            </a:r>
            <a:endParaRPr lang="en-US" sz="36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902278"/>
              </p:ext>
            </p:extLst>
          </p:nvPr>
        </p:nvGraphicFramePr>
        <p:xfrm>
          <a:off x="3472070" y="0"/>
          <a:ext cx="8719930" cy="6865216"/>
        </p:xfrm>
        <a:graphic>
          <a:graphicData uri="http://schemas.openxmlformats.org/drawingml/2006/table">
            <a:tbl>
              <a:tblPr/>
              <a:tblGrid>
                <a:gridCol w="3458817">
                  <a:extLst>
                    <a:ext uri="{9D8B030D-6E8A-4147-A177-3AD203B41FA5}">
                      <a16:colId xmlns:a16="http://schemas.microsoft.com/office/drawing/2014/main" val="962434397"/>
                    </a:ext>
                  </a:extLst>
                </a:gridCol>
                <a:gridCol w="2199861">
                  <a:extLst>
                    <a:ext uri="{9D8B030D-6E8A-4147-A177-3AD203B41FA5}">
                      <a16:colId xmlns:a16="http://schemas.microsoft.com/office/drawing/2014/main" val="915411563"/>
                    </a:ext>
                  </a:extLst>
                </a:gridCol>
                <a:gridCol w="3061252">
                  <a:extLst>
                    <a:ext uri="{9D8B030D-6E8A-4147-A177-3AD203B41FA5}">
                      <a16:colId xmlns:a16="http://schemas.microsoft.com/office/drawing/2014/main" val="2434879379"/>
                    </a:ext>
                  </a:extLst>
                </a:gridCol>
              </a:tblGrid>
              <a:tr h="158561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User Action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Event Type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EventHandler Properties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13757"/>
                  </a:ext>
                </a:extLst>
              </a:tr>
              <a:tr h="2857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Pressing, releasing, or typing a key on keyboard.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KeyEvent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onKeypressed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onKeyReleased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onKeyTyped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79542"/>
                  </a:ext>
                </a:extLst>
              </a:tr>
              <a:tr h="66727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Moving, Clicking, or dragging the mouse.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MouseEvent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onMouseClicked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onMouseMoved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onMousePressed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onMouseReleased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onMouseEntered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onMouseExited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193474"/>
                  </a:ext>
                </a:extLst>
              </a:tr>
              <a:tr h="794455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Pressing, Dragging, and Releasing of the mouse button.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MouseDragEvent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onMouseDragged</a:t>
                      </a:r>
                    </a:p>
                    <a:p>
                      <a:pPr algn="l"/>
                      <a:r>
                        <a:rPr lang="en-US" sz="1400">
                          <a:effectLst/>
                        </a:rPr>
                        <a:t>onMouseDragEntered</a:t>
                      </a:r>
                    </a:p>
                    <a:p>
                      <a:pPr algn="l"/>
                      <a:r>
                        <a:rPr lang="en-US" sz="1400">
                          <a:effectLst/>
                        </a:rPr>
                        <a:t>onMouseDragExited</a:t>
                      </a:r>
                    </a:p>
                    <a:p>
                      <a:pPr algn="l"/>
                      <a:r>
                        <a:rPr lang="en-US" sz="1400">
                          <a:effectLst/>
                        </a:rPr>
                        <a:t>onMouseDragged</a:t>
                      </a:r>
                    </a:p>
                    <a:p>
                      <a:pPr algn="l"/>
                      <a:r>
                        <a:rPr lang="en-US" sz="1400">
                          <a:effectLst/>
                        </a:rPr>
                        <a:t>onMouseDragOver</a:t>
                      </a:r>
                    </a:p>
                    <a:p>
                      <a:pPr algn="l"/>
                      <a:r>
                        <a:rPr lang="en-US" sz="1400">
                          <a:effectLst/>
                        </a:rPr>
                        <a:t>onMouseDragReleased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62368"/>
                  </a:ext>
                </a:extLst>
              </a:tr>
              <a:tr h="34932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Generating, Changing, Removing or Committing input from an alternate method.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InputMethodEvent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onInputMethodTextChanged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923324"/>
                  </a:ext>
                </a:extLst>
              </a:tr>
              <a:tr h="47650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Performing Drag and Drop actions supported by the platform.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DragEvent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onDragDetected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onDragDone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onDragDropped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onDragEntered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onDragExited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onDragOver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772645"/>
                  </a:ext>
                </a:extLst>
              </a:tr>
              <a:tr h="34932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Scrolling an object.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ScrollEvent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onScroll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onScrollStarted</a:t>
                      </a:r>
                      <a:endParaRPr lang="en-US" sz="1400" dirty="0">
                        <a:effectLst/>
                      </a:endParaRPr>
                    </a:p>
                    <a:p>
                      <a:pPr algn="l"/>
                      <a:r>
                        <a:rPr lang="en-US" sz="1400" dirty="0" err="1">
                          <a:effectLst/>
                        </a:rPr>
                        <a:t>onScrollFinished</a:t>
                      </a:r>
                      <a:endParaRPr lang="en-US" sz="1400" dirty="0">
                        <a:effectLst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865502"/>
                  </a:ext>
                </a:extLst>
              </a:tr>
              <a:tr h="285740">
                <a:tc>
                  <a:txBody>
                    <a:bodyPr/>
                    <a:lstStyle/>
                    <a:p>
                      <a:pPr marL="0" algn="l" defTabSz="685766" rtl="0" eaLnBrk="1" latinLnBrk="0" hangingPunct="1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Zooming on an object.</a:t>
                      </a: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66" rtl="0" eaLnBrk="1" latinLnBrk="0" hangingPunct="1"/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ZoomEvent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66" rtl="0" eaLnBrk="1" latinLnBrk="0" hangingPunct="1"/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onZoom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66" rtl="0" eaLnBrk="1" latinLnBrk="0" hangingPunct="1"/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onZoomStarted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766" rtl="0" eaLnBrk="1" latinLnBrk="0" hangingPunct="1"/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onZoomFinished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691" marR="15691" marT="15691" marB="1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29538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5043" y="5459896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</a:t>
            </a:r>
          </a:p>
          <a:p>
            <a:r>
              <a:rPr lang="en-US" dirty="0" smtClean="0">
                <a:hlinkClick r:id="rId3"/>
              </a:rPr>
              <a:t>TutorialsPoints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3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498E6-8551-74F2-9C7D-7E7BBCD2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1" y="796896"/>
            <a:ext cx="6665493" cy="812117"/>
          </a:xfrm>
        </p:spPr>
        <p:txBody>
          <a:bodyPr anchor="b">
            <a:normAutofit/>
          </a:bodyPr>
          <a:lstStyle/>
          <a:p>
            <a:r>
              <a:rPr lang="en-US" sz="3600" b="1" dirty="0" smtClean="0"/>
              <a:t>Example</a:t>
            </a:r>
            <a:endParaRPr lang="en-US" sz="3600" b="1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5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1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4314" y="1868070"/>
            <a:ext cx="11569147" cy="353943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CCCCC"/>
                </a:solidFill>
                <a:latin typeface="Courier New" panose="02070309020205020404" pitchFamily="49" charset="0"/>
              </a:rPr>
              <a:t>playButton.</a:t>
            </a:r>
            <a:r>
              <a:rPr lang="en-US" sz="2400" dirty="0" err="1">
                <a:solidFill>
                  <a:srgbClr val="F08D49"/>
                </a:solidFill>
                <a:latin typeface="Courier New" panose="02070309020205020404" pitchFamily="49" charset="0"/>
              </a:rPr>
              <a:t>setOnMouseClicked</a:t>
            </a:r>
            <a:r>
              <a:rPr lang="en-US" sz="2000" dirty="0">
                <a:solidFill>
                  <a:srgbClr val="CCCCCC"/>
                </a:solidFill>
                <a:latin typeface="Courier New" panose="02070309020205020404" pitchFamily="49" charset="0"/>
              </a:rPr>
              <a:t>((</a:t>
            </a:r>
            <a:r>
              <a:rPr lang="en-US" sz="2400" dirty="0">
                <a:solidFill>
                  <a:srgbClr val="CC99CD"/>
                </a:solidFill>
                <a:latin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CCCCCC"/>
                </a:solidFill>
                <a:latin typeface="Courier New" panose="02070309020205020404" pitchFamily="49" charset="0"/>
              </a:rPr>
              <a:t>EventHandler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&lt;</a:t>
            </a:r>
            <a:r>
              <a:rPr lang="en-US" sz="2400" dirty="0" err="1">
                <a:solidFill>
                  <a:srgbClr val="CCCCCC"/>
                </a:solidFill>
                <a:latin typeface="Courier New" panose="02070309020205020404" pitchFamily="49" charset="0"/>
              </a:rPr>
              <a:t>MouseEvent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&gt;() </a:t>
            </a:r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{ </a:t>
            </a:r>
            <a:endParaRPr lang="en-US" sz="2800" dirty="0" smtClean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	</a:t>
            </a:r>
            <a:endParaRPr lang="en-US" sz="2800" dirty="0" smtClean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	</a:t>
            </a:r>
            <a:r>
              <a:rPr lang="en-US" sz="2800" dirty="0" smtClean="0">
                <a:solidFill>
                  <a:srgbClr val="CC99CD"/>
                </a:solidFill>
                <a:latin typeface="Courier New" panose="02070309020205020404" pitchFamily="49" charset="0"/>
              </a:rPr>
              <a:t>public</a:t>
            </a:r>
            <a:r>
              <a:rPr lang="en-US" sz="2800" dirty="0" smtClean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CC99CD"/>
                </a:solidFill>
                <a:latin typeface="Courier New" panose="02070309020205020404" pitchFamily="49" charset="0"/>
              </a:rPr>
              <a:t>void</a:t>
            </a:r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08D49"/>
                </a:solidFill>
                <a:latin typeface="Courier New" panose="02070309020205020404" pitchFamily="49" charset="0"/>
              </a:rPr>
              <a:t>handle</a:t>
            </a:r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CCCCCC"/>
                </a:solidFill>
                <a:latin typeface="Courier New" panose="02070309020205020404" pitchFamily="49" charset="0"/>
              </a:rPr>
              <a:t>MouseEvent</a:t>
            </a:r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 event) { </a:t>
            </a:r>
            <a:r>
              <a:rPr lang="en-US" sz="2800" dirty="0" smtClean="0">
                <a:solidFill>
                  <a:srgbClr val="CCCCCC"/>
                </a:solidFill>
                <a:latin typeface="Courier New" panose="02070309020205020404" pitchFamily="49" charset="0"/>
              </a:rPr>
              <a:t>		</a:t>
            </a:r>
          </a:p>
          <a:p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	</a:t>
            </a:r>
            <a:r>
              <a:rPr lang="en-US" sz="2800" dirty="0" err="1" smtClean="0">
                <a:solidFill>
                  <a:srgbClr val="CCCCCC"/>
                </a:solidFill>
                <a:latin typeface="Courier New" panose="02070309020205020404" pitchFamily="49" charset="0"/>
              </a:rPr>
              <a:t>System.out.</a:t>
            </a:r>
            <a:r>
              <a:rPr lang="en-US" sz="2800" dirty="0" err="1" smtClean="0">
                <a:solidFill>
                  <a:srgbClr val="F08D49"/>
                </a:solidFill>
                <a:latin typeface="Courier New" panose="02070309020205020404" pitchFamily="49" charset="0"/>
              </a:rPr>
              <a:t>println</a:t>
            </a:r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7EC699"/>
                </a:solidFill>
                <a:latin typeface="Courier New" panose="02070309020205020404" pitchFamily="49" charset="0"/>
              </a:rPr>
              <a:t>"Hello World"</a:t>
            </a:r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); </a:t>
            </a:r>
            <a:r>
              <a:rPr lang="en-US" sz="2800" dirty="0" smtClean="0">
                <a:solidFill>
                  <a:srgbClr val="CCCCCC"/>
                </a:solidFill>
                <a:latin typeface="Courier New" panose="02070309020205020404" pitchFamily="49" charset="0"/>
              </a:rPr>
              <a:t>		</a:t>
            </a:r>
            <a:r>
              <a:rPr lang="en-US" sz="2800" dirty="0" err="1" smtClean="0">
                <a:solidFill>
                  <a:srgbClr val="CCCCCC"/>
                </a:solidFill>
                <a:latin typeface="Courier New" panose="02070309020205020404" pitchFamily="49" charset="0"/>
              </a:rPr>
              <a:t>pathTransition.</a:t>
            </a:r>
            <a:r>
              <a:rPr lang="en-US" sz="2800" dirty="0" err="1" smtClean="0">
                <a:solidFill>
                  <a:srgbClr val="F08D49"/>
                </a:solidFill>
                <a:latin typeface="Courier New" panose="02070309020205020404" pitchFamily="49" charset="0"/>
              </a:rPr>
              <a:t>play</a:t>
            </a:r>
            <a:r>
              <a:rPr lang="en-US" sz="2800" dirty="0">
                <a:solidFill>
                  <a:srgbClr val="CCCCCC"/>
                </a:solidFill>
                <a:latin typeface="Courier New" panose="02070309020205020404" pitchFamily="49" charset="0"/>
              </a:rPr>
              <a:t>(); </a:t>
            </a:r>
            <a:endParaRPr lang="en-US" sz="2800" dirty="0" smtClean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r>
              <a:rPr lang="en-US" sz="2800" dirty="0" smtClean="0">
                <a:solidFill>
                  <a:srgbClr val="CCCCCC"/>
                </a:solidFill>
                <a:latin typeface="Courier New" panose="02070309020205020404" pitchFamily="49" charset="0"/>
              </a:rPr>
              <a:t>} </a:t>
            </a:r>
          </a:p>
          <a:p>
            <a:endParaRPr lang="en-US" sz="2800" dirty="0">
              <a:solidFill>
                <a:srgbClr val="CCCCCC"/>
              </a:solidFill>
              <a:latin typeface="Courier New" panose="02070309020205020404" pitchFamily="49" charset="0"/>
            </a:endParaRPr>
          </a:p>
          <a:p>
            <a:r>
              <a:rPr lang="en-US" sz="2800" dirty="0" smtClean="0">
                <a:solidFill>
                  <a:srgbClr val="CCCCCC"/>
                </a:solidFill>
                <a:latin typeface="Courier New" panose="02070309020205020404" pitchFamily="49" charset="0"/>
              </a:rPr>
              <a:t>}));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228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JavaFX - Animations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435" y="1547329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 JavaFX, a node can be animated by changing its property over time. JavaFX provides a package named </a:t>
            </a:r>
            <a:r>
              <a:rPr lang="en-US" sz="2800" b="1" dirty="0" err="1" smtClean="0"/>
              <a:t>javafx.animation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838200" y="2601461"/>
            <a:ext cx="107044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 </a:t>
            </a:r>
            <a:r>
              <a:rPr lang="en-US" sz="24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Applied animations 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(transitions) such as −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Fade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Fill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Rotate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Scale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Stroke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Translate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Path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Sequential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Pause Transition</a:t>
            </a:r>
            <a:endParaRPr lang="en-US" sz="2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0A944"/>
                </a:solidFill>
                <a:latin typeface="Verdana" panose="020B0604030504040204" pitchFamily="34" charset="0"/>
              </a:rPr>
              <a:t>Parallel Transition</a:t>
            </a:r>
            <a:endParaRPr lang="en-US" sz="2400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72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Rotate Transition in JavaFX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719" y="62913"/>
            <a:ext cx="3839281" cy="21998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65634" y="6211669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</a:t>
            </a:r>
          </a:p>
          <a:p>
            <a:r>
              <a:rPr lang="en-US" dirty="0" smtClean="0">
                <a:hlinkClick r:id="rId4"/>
              </a:rPr>
              <a:t>TutorialsPoints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4556" y="1825625"/>
            <a:ext cx="1212573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RotateTransitionExample</a:t>
            </a:r>
            <a:r>
              <a:rPr lang="en-US" dirty="0"/>
              <a:t> extends Application { </a:t>
            </a:r>
          </a:p>
          <a:p>
            <a:r>
              <a:rPr lang="en-US" dirty="0"/>
              <a:t>   @Override </a:t>
            </a:r>
          </a:p>
          <a:p>
            <a:r>
              <a:rPr lang="en-US" dirty="0"/>
              <a:t>   public void start(Stage stage) {      </a:t>
            </a:r>
          </a:p>
          <a:p>
            <a:r>
              <a:rPr lang="en-US" dirty="0"/>
              <a:t>      //Creating a hexagon </a:t>
            </a:r>
          </a:p>
          <a:p>
            <a:r>
              <a:rPr lang="en-US" dirty="0"/>
              <a:t>      Polygon hexagon = new Polygon();       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//Adding coordinates to the hexagon </a:t>
            </a:r>
          </a:p>
          <a:p>
            <a:r>
              <a:rPr lang="en-US" dirty="0"/>
              <a:t>      </a:t>
            </a:r>
            <a:r>
              <a:rPr lang="en-US" dirty="0" err="1"/>
              <a:t>hexagon.getPoints</a:t>
            </a:r>
            <a:r>
              <a:rPr lang="en-US" dirty="0"/>
              <a:t>().</a:t>
            </a:r>
            <a:r>
              <a:rPr lang="en-US" dirty="0" err="1"/>
              <a:t>addAll</a:t>
            </a:r>
            <a:r>
              <a:rPr lang="en-US" dirty="0"/>
              <a:t>(new Double[]{        </a:t>
            </a:r>
          </a:p>
          <a:p>
            <a:r>
              <a:rPr lang="en-US" dirty="0"/>
              <a:t>         200.0, 50.0, </a:t>
            </a:r>
          </a:p>
          <a:p>
            <a:r>
              <a:rPr lang="en-US" dirty="0"/>
              <a:t>         400.0, 50.0, </a:t>
            </a:r>
          </a:p>
          <a:p>
            <a:r>
              <a:rPr lang="en-US" dirty="0"/>
              <a:t>         450.0, 150.0,          </a:t>
            </a:r>
          </a:p>
          <a:p>
            <a:r>
              <a:rPr lang="en-US" dirty="0"/>
              <a:t>         400.0, 250.0, </a:t>
            </a:r>
          </a:p>
          <a:p>
            <a:r>
              <a:rPr lang="en-US" dirty="0"/>
              <a:t>         200.0, 250.0,                   </a:t>
            </a:r>
          </a:p>
          <a:p>
            <a:r>
              <a:rPr lang="en-US" dirty="0"/>
              <a:t>         150.0, 150.0, </a:t>
            </a:r>
          </a:p>
          <a:p>
            <a:r>
              <a:rPr lang="en-US" dirty="0"/>
              <a:t>      }); </a:t>
            </a:r>
          </a:p>
          <a:p>
            <a:r>
              <a:rPr lang="en-US" dirty="0"/>
              <a:t>      //Setting the fill color for the hexagon </a:t>
            </a:r>
          </a:p>
          <a:p>
            <a:r>
              <a:rPr lang="en-US" dirty="0"/>
              <a:t>      </a:t>
            </a:r>
            <a:r>
              <a:rPr lang="en-US" dirty="0" err="1"/>
              <a:t>hexagon.setFill</a:t>
            </a:r>
            <a:r>
              <a:rPr lang="en-US" dirty="0"/>
              <a:t>(</a:t>
            </a:r>
            <a:r>
              <a:rPr lang="en-US" dirty="0" err="1"/>
              <a:t>Color.BLUE</a:t>
            </a:r>
            <a:r>
              <a:rPr lang="en-US" dirty="0"/>
              <a:t>); </a:t>
            </a:r>
          </a:p>
          <a:p>
            <a:r>
              <a:rPr lang="en-US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46785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Rotate Transition in JavaFX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719" y="62913"/>
            <a:ext cx="3839281" cy="21998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65634" y="6211669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</a:t>
            </a:r>
          </a:p>
          <a:p>
            <a:r>
              <a:rPr lang="en-US" dirty="0" smtClean="0">
                <a:hlinkClick r:id="rId4"/>
              </a:rPr>
              <a:t>TutorialsPoints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4556" y="1825625"/>
            <a:ext cx="12125739" cy="10618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   </a:t>
            </a:r>
            <a:endParaRPr lang="en-US" dirty="0"/>
          </a:p>
          <a:p>
            <a:r>
              <a:rPr lang="en-US" dirty="0"/>
              <a:t>      //Creating a rotate transition    </a:t>
            </a:r>
          </a:p>
          <a:p>
            <a:r>
              <a:rPr lang="en-US" dirty="0"/>
              <a:t>      </a:t>
            </a:r>
            <a:r>
              <a:rPr lang="en-US" dirty="0" err="1"/>
              <a:t>RotateTransition</a:t>
            </a:r>
            <a:r>
              <a:rPr lang="en-US" dirty="0"/>
              <a:t> </a:t>
            </a:r>
            <a:r>
              <a:rPr lang="en-US" dirty="0" err="1"/>
              <a:t>rotateTransition</a:t>
            </a:r>
            <a:r>
              <a:rPr lang="en-US" dirty="0"/>
              <a:t> = new </a:t>
            </a:r>
            <a:r>
              <a:rPr lang="en-US" dirty="0" err="1"/>
              <a:t>RotateTransition</a:t>
            </a:r>
            <a:r>
              <a:rPr lang="en-US" dirty="0"/>
              <a:t>();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duration for the transition </a:t>
            </a:r>
          </a:p>
          <a:p>
            <a:r>
              <a:rPr lang="en-US" dirty="0"/>
              <a:t>      </a:t>
            </a:r>
            <a:r>
              <a:rPr lang="en-US" dirty="0" err="1"/>
              <a:t>rotateTransition.setDuration</a:t>
            </a:r>
            <a:r>
              <a:rPr lang="en-US" dirty="0"/>
              <a:t>(</a:t>
            </a:r>
            <a:r>
              <a:rPr lang="en-US" dirty="0" err="1"/>
              <a:t>Duration.millis</a:t>
            </a:r>
            <a:r>
              <a:rPr lang="en-US" dirty="0"/>
              <a:t>(1000));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node for the transition </a:t>
            </a:r>
          </a:p>
          <a:p>
            <a:r>
              <a:rPr lang="en-US" dirty="0"/>
              <a:t>      </a:t>
            </a:r>
            <a:r>
              <a:rPr lang="en-US" dirty="0" err="1"/>
              <a:t>rotateTransition.setNode</a:t>
            </a:r>
            <a:r>
              <a:rPr lang="en-US" dirty="0"/>
              <a:t>(hexagon);      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angle of the rotation </a:t>
            </a:r>
          </a:p>
          <a:p>
            <a:r>
              <a:rPr lang="en-US" dirty="0"/>
              <a:t>      </a:t>
            </a:r>
            <a:r>
              <a:rPr lang="en-US" dirty="0" err="1"/>
              <a:t>rotateTransition.setByAngle</a:t>
            </a:r>
            <a:r>
              <a:rPr lang="en-US" dirty="0"/>
              <a:t>(360);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cycle count for the transition </a:t>
            </a:r>
          </a:p>
          <a:p>
            <a:r>
              <a:rPr lang="en-US" dirty="0"/>
              <a:t>      </a:t>
            </a:r>
            <a:r>
              <a:rPr lang="en-US" dirty="0" err="1"/>
              <a:t>rotateTransition.setCycleCount</a:t>
            </a:r>
            <a:r>
              <a:rPr lang="en-US" dirty="0"/>
              <a:t>(50);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auto reverse value to false </a:t>
            </a:r>
          </a:p>
          <a:p>
            <a:r>
              <a:rPr lang="en-US" dirty="0"/>
              <a:t>      </a:t>
            </a:r>
            <a:r>
              <a:rPr lang="en-US" dirty="0" err="1"/>
              <a:t>rotateTransition.setAutoReverse</a:t>
            </a:r>
            <a:r>
              <a:rPr lang="en-US" dirty="0"/>
              <a:t>(false);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//Playing the animation </a:t>
            </a:r>
          </a:p>
          <a:p>
            <a:r>
              <a:rPr lang="en-US" dirty="0"/>
              <a:t>      </a:t>
            </a:r>
            <a:r>
              <a:rPr lang="en-US" dirty="0" err="1"/>
              <a:t>rotateTransition.play</a:t>
            </a:r>
            <a:r>
              <a:rPr lang="en-US" dirty="0"/>
              <a:t>();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//Creating a Group object   </a:t>
            </a:r>
          </a:p>
          <a:p>
            <a:r>
              <a:rPr lang="en-US" dirty="0"/>
              <a:t>      Group root = new Group(hexagon);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//Creating a scene object </a:t>
            </a:r>
          </a:p>
          <a:p>
            <a:r>
              <a:rPr lang="en-US" dirty="0"/>
              <a:t>      Scene </a:t>
            </a:r>
            <a:r>
              <a:rPr lang="en-US" dirty="0" err="1"/>
              <a:t>scene</a:t>
            </a:r>
            <a:r>
              <a:rPr lang="en-US" dirty="0"/>
              <a:t> = new Scene(root, 600, 300);  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title to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stage.setTitle</a:t>
            </a:r>
            <a:r>
              <a:rPr lang="en-US" dirty="0"/>
              <a:t>("Rotate transition example ");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//Adding scene to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stage.setScene</a:t>
            </a:r>
            <a:r>
              <a:rPr lang="en-US" dirty="0"/>
              <a:t>(scene);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//Displaying the contents of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stage.show</a:t>
            </a:r>
            <a:r>
              <a:rPr lang="en-US" dirty="0"/>
              <a:t>(); </a:t>
            </a:r>
          </a:p>
          <a:p>
            <a:r>
              <a:rPr lang="en-US" dirty="0"/>
              <a:t>   } </a:t>
            </a:r>
          </a:p>
        </p:txBody>
      </p:sp>
    </p:spTree>
    <p:extLst>
      <p:ext uri="{BB962C8B-B14F-4D97-AF65-F5344CB8AC3E}">
        <p14:creationId xmlns:p14="http://schemas.microsoft.com/office/powerpoint/2010/main" val="190273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Rotate Transition in JavaFX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719" y="62913"/>
            <a:ext cx="3839281" cy="21998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65634" y="6211669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</a:t>
            </a:r>
          </a:p>
          <a:p>
            <a:r>
              <a:rPr lang="en-US" dirty="0" smtClean="0">
                <a:hlinkClick r:id="rId4"/>
              </a:rPr>
              <a:t>TutorialsPoints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4556" y="1825625"/>
            <a:ext cx="1212573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//</a:t>
            </a:r>
            <a:r>
              <a:rPr lang="en-US" dirty="0"/>
              <a:t>Playing the animation </a:t>
            </a:r>
          </a:p>
          <a:p>
            <a:r>
              <a:rPr lang="en-US" dirty="0"/>
              <a:t>      </a:t>
            </a:r>
            <a:r>
              <a:rPr lang="en-US" dirty="0" err="1"/>
              <a:t>rotateTransition.play</a:t>
            </a:r>
            <a:r>
              <a:rPr lang="en-US" dirty="0"/>
              <a:t>();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//Creating a Group object   </a:t>
            </a:r>
          </a:p>
          <a:p>
            <a:r>
              <a:rPr lang="en-US" dirty="0"/>
              <a:t>      Group root = new Group(hexagon);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//Creating a scene object </a:t>
            </a:r>
          </a:p>
          <a:p>
            <a:r>
              <a:rPr lang="en-US" dirty="0"/>
              <a:t>      Scene </a:t>
            </a:r>
            <a:r>
              <a:rPr lang="en-US" dirty="0" err="1"/>
              <a:t>scene</a:t>
            </a:r>
            <a:r>
              <a:rPr lang="en-US" dirty="0"/>
              <a:t> = new Scene(root, 600, 300);  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title to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stage.setTitle</a:t>
            </a:r>
            <a:r>
              <a:rPr lang="en-US" dirty="0"/>
              <a:t>("Rotate transition example ");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//Adding scene to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stage.setScene</a:t>
            </a:r>
            <a:r>
              <a:rPr lang="en-US" dirty="0"/>
              <a:t>(scene);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//Displaying the contents of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stage.show</a:t>
            </a:r>
            <a:r>
              <a:rPr lang="en-US" dirty="0"/>
              <a:t>(); </a:t>
            </a:r>
          </a:p>
          <a:p>
            <a:r>
              <a:rPr lang="en-US" dirty="0"/>
              <a:t>   } </a:t>
            </a:r>
          </a:p>
        </p:txBody>
      </p:sp>
    </p:spTree>
    <p:extLst>
      <p:ext uri="{BB962C8B-B14F-4D97-AF65-F5344CB8AC3E}">
        <p14:creationId xmlns:p14="http://schemas.microsoft.com/office/powerpoint/2010/main" val="147768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JavaFX - Fade </a:t>
            </a:r>
            <a:r>
              <a:rPr lang="en-US" b="1" dirty="0" smtClean="0"/>
              <a:t>Transition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865" y="-9728"/>
            <a:ext cx="3021135" cy="17004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2" y="1425926"/>
            <a:ext cx="917050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javafx.animation.FadeTransition</a:t>
            </a:r>
            <a:r>
              <a:rPr lang="en-US" dirty="0"/>
              <a:t>; </a:t>
            </a:r>
          </a:p>
          <a:p>
            <a:r>
              <a:rPr lang="en-US" dirty="0"/>
              <a:t>import </a:t>
            </a:r>
            <a:r>
              <a:rPr lang="en-US" dirty="0" err="1"/>
              <a:t>javafx.application.Application</a:t>
            </a:r>
            <a:r>
              <a:rPr lang="en-US" dirty="0"/>
              <a:t>; </a:t>
            </a:r>
          </a:p>
          <a:p>
            <a:r>
              <a:rPr lang="en-US" dirty="0"/>
              <a:t>import </a:t>
            </a:r>
            <a:r>
              <a:rPr lang="en-US" dirty="0" err="1"/>
              <a:t>javafx.scene.Group</a:t>
            </a:r>
            <a:r>
              <a:rPr lang="en-US" dirty="0"/>
              <a:t>; </a:t>
            </a:r>
          </a:p>
          <a:p>
            <a:r>
              <a:rPr lang="en-US" dirty="0"/>
              <a:t>import </a:t>
            </a:r>
            <a:r>
              <a:rPr lang="en-US" dirty="0" err="1"/>
              <a:t>javafx.scene.Scene</a:t>
            </a:r>
            <a:r>
              <a:rPr lang="en-US" dirty="0"/>
              <a:t>; </a:t>
            </a:r>
          </a:p>
          <a:p>
            <a:r>
              <a:rPr lang="en-US" dirty="0"/>
              <a:t>import </a:t>
            </a:r>
            <a:r>
              <a:rPr lang="en-US" dirty="0" err="1"/>
              <a:t>javafx.scene.paint.Color</a:t>
            </a:r>
            <a:r>
              <a:rPr lang="en-US" dirty="0"/>
              <a:t>; </a:t>
            </a:r>
          </a:p>
          <a:p>
            <a:r>
              <a:rPr lang="en-US" dirty="0"/>
              <a:t>import </a:t>
            </a:r>
            <a:r>
              <a:rPr lang="en-US" dirty="0" err="1"/>
              <a:t>javafx.scene.shape.Circle</a:t>
            </a:r>
            <a:r>
              <a:rPr lang="en-US" dirty="0"/>
              <a:t>; </a:t>
            </a:r>
          </a:p>
          <a:p>
            <a:r>
              <a:rPr lang="en-US" dirty="0"/>
              <a:t>import </a:t>
            </a:r>
            <a:r>
              <a:rPr lang="en-US" dirty="0" err="1"/>
              <a:t>javafx.stage.Stage</a:t>
            </a:r>
            <a:r>
              <a:rPr lang="en-US" dirty="0"/>
              <a:t>; </a:t>
            </a:r>
          </a:p>
          <a:p>
            <a:r>
              <a:rPr lang="en-US" dirty="0"/>
              <a:t>import </a:t>
            </a:r>
            <a:r>
              <a:rPr lang="en-US" dirty="0" err="1"/>
              <a:t>javafx.util.Duration</a:t>
            </a:r>
            <a:r>
              <a:rPr lang="en-US" dirty="0"/>
              <a:t>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public class </a:t>
            </a:r>
            <a:r>
              <a:rPr lang="en-US" dirty="0" err="1"/>
              <a:t>FadeTransitionExample</a:t>
            </a:r>
            <a:r>
              <a:rPr lang="en-US" dirty="0"/>
              <a:t> extends Application { </a:t>
            </a:r>
          </a:p>
          <a:p>
            <a:r>
              <a:rPr lang="en-US" dirty="0"/>
              <a:t>   @Override </a:t>
            </a:r>
          </a:p>
          <a:p>
            <a:r>
              <a:rPr lang="en-US" dirty="0"/>
              <a:t>   public void start(Stage stage) {</a:t>
            </a:r>
          </a:p>
          <a:p>
            <a:r>
              <a:rPr lang="en-US" dirty="0"/>
              <a:t>      //Drawing a Circle </a:t>
            </a:r>
          </a:p>
          <a:p>
            <a:r>
              <a:rPr lang="en-US" dirty="0"/>
              <a:t>      Circle </a:t>
            </a:r>
            <a:r>
              <a:rPr lang="en-US" dirty="0" err="1"/>
              <a:t>circle</a:t>
            </a:r>
            <a:r>
              <a:rPr lang="en-US" dirty="0"/>
              <a:t> = new Circle();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position of the circle </a:t>
            </a:r>
          </a:p>
          <a:p>
            <a:r>
              <a:rPr lang="en-US" dirty="0"/>
              <a:t>      </a:t>
            </a:r>
            <a:r>
              <a:rPr lang="en-US" dirty="0" err="1"/>
              <a:t>circle.setCenterX</a:t>
            </a:r>
            <a:r>
              <a:rPr lang="en-US" dirty="0"/>
              <a:t>(300.0f);  </a:t>
            </a:r>
          </a:p>
          <a:p>
            <a:r>
              <a:rPr lang="en-US" dirty="0"/>
              <a:t>      </a:t>
            </a:r>
            <a:r>
              <a:rPr lang="en-US" dirty="0" err="1"/>
              <a:t>circle.setCenterY</a:t>
            </a:r>
            <a:r>
              <a:rPr lang="en-US" dirty="0"/>
              <a:t>(135.0f); </a:t>
            </a:r>
          </a:p>
          <a:p>
            <a:r>
              <a:rPr lang="en-US" dirty="0"/>
              <a:t>      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965634" y="6211669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</a:t>
            </a:r>
          </a:p>
          <a:p>
            <a:r>
              <a:rPr lang="en-US" dirty="0" smtClean="0">
                <a:hlinkClick r:id="rId4"/>
              </a:rPr>
              <a:t>TutorialsPoints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02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JavaFX - Fade </a:t>
            </a:r>
            <a:r>
              <a:rPr lang="en-US" b="1" dirty="0" smtClean="0"/>
              <a:t>Transition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865" y="-9728"/>
            <a:ext cx="3021135" cy="17004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1" y="1425926"/>
            <a:ext cx="1056162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//</a:t>
            </a:r>
            <a:r>
              <a:rPr lang="en-US" dirty="0"/>
              <a:t>Setting the radius of the circle </a:t>
            </a:r>
          </a:p>
          <a:p>
            <a:r>
              <a:rPr lang="en-US" dirty="0"/>
              <a:t>      </a:t>
            </a:r>
            <a:r>
              <a:rPr lang="en-US" dirty="0" err="1"/>
              <a:t>circle.setRadius</a:t>
            </a:r>
            <a:r>
              <a:rPr lang="en-US" dirty="0"/>
              <a:t>(100.0f);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color of the circle </a:t>
            </a:r>
          </a:p>
          <a:p>
            <a:r>
              <a:rPr lang="en-US" dirty="0"/>
              <a:t>      </a:t>
            </a:r>
            <a:r>
              <a:rPr lang="en-US" dirty="0" err="1"/>
              <a:t>circle.setFill</a:t>
            </a:r>
            <a:r>
              <a:rPr lang="en-US" dirty="0"/>
              <a:t>(</a:t>
            </a:r>
            <a:r>
              <a:rPr lang="en-US" dirty="0" err="1"/>
              <a:t>Color.BROWN</a:t>
            </a:r>
            <a:r>
              <a:rPr lang="en-US" dirty="0"/>
              <a:t>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stroke width of the circle </a:t>
            </a:r>
          </a:p>
          <a:p>
            <a:r>
              <a:rPr lang="en-US" dirty="0"/>
              <a:t>      </a:t>
            </a:r>
            <a:r>
              <a:rPr lang="en-US" dirty="0" err="1"/>
              <a:t>circle.setStrokeWidth</a:t>
            </a:r>
            <a:r>
              <a:rPr lang="en-US" dirty="0"/>
              <a:t>(20); </a:t>
            </a:r>
          </a:p>
          <a:p>
            <a:r>
              <a:rPr lang="en-US" dirty="0"/>
              <a:t>       </a:t>
            </a:r>
          </a:p>
          <a:p>
            <a:r>
              <a:rPr lang="en-US" dirty="0"/>
              <a:t>      //Creating the fade Transition </a:t>
            </a:r>
          </a:p>
          <a:p>
            <a:r>
              <a:rPr lang="en-US" dirty="0"/>
              <a:t>      </a:t>
            </a:r>
            <a:r>
              <a:rPr lang="en-US" dirty="0" err="1"/>
              <a:t>FadeTransition</a:t>
            </a:r>
            <a:r>
              <a:rPr lang="en-US" dirty="0"/>
              <a:t> </a:t>
            </a:r>
            <a:r>
              <a:rPr lang="en-US" dirty="0" err="1"/>
              <a:t>fadeTransition</a:t>
            </a:r>
            <a:r>
              <a:rPr lang="en-US" dirty="0"/>
              <a:t> = new </a:t>
            </a:r>
            <a:r>
              <a:rPr lang="en-US" dirty="0" err="1"/>
              <a:t>FadeTransition</a:t>
            </a:r>
            <a:r>
              <a:rPr lang="en-US" dirty="0"/>
              <a:t>(</a:t>
            </a:r>
            <a:r>
              <a:rPr lang="en-US" dirty="0" err="1"/>
              <a:t>Duration.millis</a:t>
            </a:r>
            <a:r>
              <a:rPr lang="en-US" dirty="0"/>
              <a:t>(1000));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node for Transition </a:t>
            </a:r>
          </a:p>
          <a:p>
            <a:r>
              <a:rPr lang="en-US" dirty="0"/>
              <a:t>      </a:t>
            </a:r>
            <a:r>
              <a:rPr lang="en-US" dirty="0" err="1"/>
              <a:t>fadeTransition.setNode</a:t>
            </a:r>
            <a:r>
              <a:rPr lang="en-US" dirty="0"/>
              <a:t>(circle);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property </a:t>
            </a:r>
            <a:r>
              <a:rPr lang="en-US" dirty="0" err="1"/>
              <a:t>fromValue</a:t>
            </a:r>
            <a:r>
              <a:rPr lang="en-US" dirty="0"/>
              <a:t> of the transition (opacity) </a:t>
            </a:r>
          </a:p>
          <a:p>
            <a:r>
              <a:rPr lang="en-US" dirty="0"/>
              <a:t>      </a:t>
            </a:r>
            <a:r>
              <a:rPr lang="en-US" dirty="0" err="1"/>
              <a:t>fadeTransition.setFromValue</a:t>
            </a:r>
            <a:r>
              <a:rPr lang="en-US" dirty="0"/>
              <a:t>(1.0); 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9965634" y="6211669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</a:t>
            </a:r>
          </a:p>
          <a:p>
            <a:r>
              <a:rPr lang="en-US" dirty="0" smtClean="0">
                <a:hlinkClick r:id="rId4"/>
              </a:rPr>
              <a:t>TutorialsPoints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7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JavaFX - Fade </a:t>
            </a:r>
            <a:r>
              <a:rPr lang="en-US" b="1" dirty="0" smtClean="0"/>
              <a:t>Transition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865" y="-9728"/>
            <a:ext cx="3021135" cy="17004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1" y="1425926"/>
            <a:ext cx="10561621" cy="923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</a:t>
            </a:r>
            <a:endParaRPr lang="en-US" dirty="0"/>
          </a:p>
          <a:p>
            <a:r>
              <a:rPr lang="en-US" dirty="0"/>
              <a:t>      //Setting the property </a:t>
            </a:r>
            <a:r>
              <a:rPr lang="en-US" dirty="0" err="1"/>
              <a:t>toValue</a:t>
            </a:r>
            <a:r>
              <a:rPr lang="en-US" dirty="0"/>
              <a:t> of the transition (opacity) </a:t>
            </a:r>
          </a:p>
          <a:p>
            <a:r>
              <a:rPr lang="en-US" dirty="0"/>
              <a:t>      </a:t>
            </a:r>
            <a:r>
              <a:rPr lang="en-US" dirty="0" err="1"/>
              <a:t>fadeTransition.setToValue</a:t>
            </a:r>
            <a:r>
              <a:rPr lang="en-US" dirty="0"/>
              <a:t>(0.3);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the cycle count for the transition </a:t>
            </a:r>
          </a:p>
          <a:p>
            <a:r>
              <a:rPr lang="en-US" dirty="0"/>
              <a:t>      </a:t>
            </a:r>
            <a:r>
              <a:rPr lang="en-US" dirty="0" err="1"/>
              <a:t>fadeTransition.setCycleCount</a:t>
            </a:r>
            <a:r>
              <a:rPr lang="en-US" dirty="0"/>
              <a:t>(50); 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auto reverse value to false </a:t>
            </a:r>
          </a:p>
          <a:p>
            <a:r>
              <a:rPr lang="en-US" dirty="0"/>
              <a:t>      </a:t>
            </a:r>
            <a:r>
              <a:rPr lang="en-US" dirty="0" err="1"/>
              <a:t>fadeTransition.setAutoReverse</a:t>
            </a:r>
            <a:r>
              <a:rPr lang="en-US" dirty="0"/>
              <a:t>(false); 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    //Playing the animation </a:t>
            </a:r>
          </a:p>
          <a:p>
            <a:r>
              <a:rPr lang="en-US" dirty="0"/>
              <a:t>      </a:t>
            </a:r>
            <a:r>
              <a:rPr lang="en-US" dirty="0" err="1"/>
              <a:t>fadeTransition.play</a:t>
            </a:r>
            <a:r>
              <a:rPr lang="en-US" dirty="0"/>
              <a:t>();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//Creating a Group object  </a:t>
            </a:r>
          </a:p>
          <a:p>
            <a:r>
              <a:rPr lang="en-US" dirty="0"/>
              <a:t>      Group root = new Group(circle);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//Creating a scene object </a:t>
            </a:r>
          </a:p>
          <a:p>
            <a:r>
              <a:rPr lang="en-US" dirty="0"/>
              <a:t>      Scene </a:t>
            </a:r>
            <a:r>
              <a:rPr lang="en-US" dirty="0" err="1"/>
              <a:t>scene</a:t>
            </a:r>
            <a:r>
              <a:rPr lang="en-US" dirty="0"/>
              <a:t> = new Scene(root, 600, 300);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      </a:t>
            </a:r>
          </a:p>
          <a:p>
            <a:r>
              <a:rPr lang="en-US" dirty="0"/>
              <a:t>      //Setting title to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stage.setTitle</a:t>
            </a:r>
            <a:r>
              <a:rPr lang="en-US" dirty="0"/>
              <a:t>("Fade transition example");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//Adding scene to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stage.setScene</a:t>
            </a:r>
            <a:r>
              <a:rPr lang="en-US" dirty="0"/>
              <a:t>(scene);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//Displaying the contents of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stage.show</a:t>
            </a:r>
            <a:r>
              <a:rPr lang="en-US" dirty="0"/>
              <a:t>(); </a:t>
            </a:r>
          </a:p>
          <a:p>
            <a:r>
              <a:rPr lang="en-US" dirty="0"/>
              <a:t>   }      </a:t>
            </a:r>
          </a:p>
          <a:p>
            <a:r>
              <a:rPr lang="en-US" dirty="0"/>
              <a:t>   public static void main(String </a:t>
            </a:r>
            <a:r>
              <a:rPr lang="en-US" dirty="0" err="1"/>
              <a:t>args</a:t>
            </a:r>
            <a:r>
              <a:rPr lang="en-US" dirty="0"/>
              <a:t>[]){ </a:t>
            </a:r>
          </a:p>
          <a:p>
            <a:r>
              <a:rPr lang="en-US" dirty="0"/>
              <a:t>      launch(</a:t>
            </a:r>
            <a:r>
              <a:rPr lang="en-US" dirty="0" err="1"/>
              <a:t>args</a:t>
            </a:r>
            <a:r>
              <a:rPr lang="en-US" dirty="0"/>
              <a:t>); </a:t>
            </a:r>
          </a:p>
          <a:p>
            <a:r>
              <a:rPr lang="en-US" dirty="0"/>
              <a:t>   } 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5634" y="6211669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</a:t>
            </a:r>
          </a:p>
          <a:p>
            <a:r>
              <a:rPr lang="en-US" dirty="0" smtClean="0">
                <a:hlinkClick r:id="rId4"/>
              </a:rPr>
              <a:t>TutorialsPoints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67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JavaFX - Fade </a:t>
            </a:r>
            <a:r>
              <a:rPr lang="en-US" b="1" dirty="0" smtClean="0"/>
              <a:t>Transition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0865" y="-9728"/>
            <a:ext cx="3021135" cy="17004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1" y="1425926"/>
            <a:ext cx="1056162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      </a:t>
            </a:r>
            <a:endParaRPr lang="en-US" dirty="0"/>
          </a:p>
          <a:p>
            <a:r>
              <a:rPr lang="en-US" dirty="0"/>
              <a:t>      //Setting title to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stage.setTitle</a:t>
            </a:r>
            <a:r>
              <a:rPr lang="en-US" dirty="0"/>
              <a:t>("Fade transition example");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//Adding scene to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stage.setScene</a:t>
            </a:r>
            <a:r>
              <a:rPr lang="en-US" dirty="0"/>
              <a:t>(scene); </a:t>
            </a:r>
          </a:p>
          <a:p>
            <a:r>
              <a:rPr lang="en-US" dirty="0"/>
              <a:t>         </a:t>
            </a:r>
          </a:p>
          <a:p>
            <a:r>
              <a:rPr lang="en-US" dirty="0"/>
              <a:t>      //Displaying the contents of the stage </a:t>
            </a:r>
          </a:p>
          <a:p>
            <a:r>
              <a:rPr lang="en-US" dirty="0"/>
              <a:t>      </a:t>
            </a:r>
            <a:r>
              <a:rPr lang="en-US" dirty="0" err="1"/>
              <a:t>stage.show</a:t>
            </a:r>
            <a:r>
              <a:rPr lang="en-US" dirty="0"/>
              <a:t>(); </a:t>
            </a:r>
          </a:p>
          <a:p>
            <a:r>
              <a:rPr lang="en-US" dirty="0"/>
              <a:t>   }      </a:t>
            </a:r>
          </a:p>
          <a:p>
            <a:r>
              <a:rPr lang="en-US" dirty="0"/>
              <a:t>   public static void main(String </a:t>
            </a:r>
            <a:r>
              <a:rPr lang="en-US" dirty="0" err="1"/>
              <a:t>args</a:t>
            </a:r>
            <a:r>
              <a:rPr lang="en-US" dirty="0"/>
              <a:t>[]){ </a:t>
            </a:r>
          </a:p>
          <a:p>
            <a:r>
              <a:rPr lang="en-US" dirty="0"/>
              <a:t>      launch(</a:t>
            </a:r>
            <a:r>
              <a:rPr lang="en-US" dirty="0" err="1"/>
              <a:t>args</a:t>
            </a:r>
            <a:r>
              <a:rPr lang="en-US" dirty="0"/>
              <a:t>); </a:t>
            </a:r>
          </a:p>
          <a:p>
            <a:r>
              <a:rPr lang="en-US" dirty="0"/>
              <a:t>   } 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5634" y="6211669"/>
            <a:ext cx="2504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</a:t>
            </a:r>
          </a:p>
          <a:p>
            <a:r>
              <a:rPr lang="en-US" dirty="0" smtClean="0">
                <a:hlinkClick r:id="rId4"/>
              </a:rPr>
              <a:t>TutorialsPoints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95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JavaFX and CSS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 can add our own style sheet to a scene in JavaFX using the </a:t>
            </a:r>
            <a:r>
              <a:rPr lang="en-US" sz="2800" b="1" dirty="0" err="1"/>
              <a:t>getStylesheets</a:t>
            </a:r>
            <a:r>
              <a:rPr lang="en-US" sz="2800" b="1" dirty="0"/>
              <a:t>()</a:t>
            </a:r>
            <a:r>
              <a:rPr lang="en-US" sz="2800" dirty="0"/>
              <a:t> method as shown below </a:t>
            </a:r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dirty="0"/>
              <a:t>we can also add in-line styles using the </a:t>
            </a:r>
            <a:r>
              <a:rPr lang="en-US" sz="2800" b="1" dirty="0" err="1"/>
              <a:t>setStyle</a:t>
            </a:r>
            <a:r>
              <a:rPr lang="en-US" sz="2800" b="1" dirty="0"/>
              <a:t>()</a:t>
            </a:r>
            <a:r>
              <a:rPr lang="en-US" sz="2800" dirty="0"/>
              <a:t> </a:t>
            </a:r>
            <a:r>
              <a:rPr lang="en-US" sz="2800" dirty="0" smtClean="0"/>
              <a:t>method</a:t>
            </a:r>
            <a:r>
              <a:rPr lang="en-US" sz="2800" dirty="0"/>
              <a:t>.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940904" y="2987863"/>
            <a:ext cx="9727096" cy="83099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Scene </a:t>
            </a:r>
            <a:r>
              <a:rPr lang="en-US" sz="2400" dirty="0" err="1">
                <a:solidFill>
                  <a:srgbClr val="CCCCCC"/>
                </a:solidFill>
                <a:latin typeface="Courier New" panose="02070309020205020404" pitchFamily="49" charset="0"/>
              </a:rPr>
              <a:t>scene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67CDCC"/>
                </a:solidFill>
                <a:latin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CC99CD"/>
                </a:solidFill>
                <a:latin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 Scene(</a:t>
            </a:r>
            <a:r>
              <a:rPr lang="en-US" sz="2400" dirty="0">
                <a:solidFill>
                  <a:srgbClr val="CC99CD"/>
                </a:solidFill>
                <a:latin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 Group(), </a:t>
            </a:r>
            <a:r>
              <a:rPr lang="en-US" sz="2400" dirty="0">
                <a:solidFill>
                  <a:srgbClr val="F08D49"/>
                </a:solidFill>
                <a:latin typeface="Courier New" panose="02070309020205020404" pitchFamily="49" charset="0"/>
              </a:rPr>
              <a:t>500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F08D49"/>
                </a:solidFill>
                <a:latin typeface="Courier New" panose="02070309020205020404" pitchFamily="49" charset="0"/>
              </a:rPr>
              <a:t>400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); </a:t>
            </a:r>
            <a:r>
              <a:rPr lang="en-US" sz="2400" dirty="0" err="1">
                <a:solidFill>
                  <a:srgbClr val="CCCCCC"/>
                </a:solidFill>
                <a:latin typeface="Courier New" panose="02070309020205020404" pitchFamily="49" charset="0"/>
              </a:rPr>
              <a:t>scene.</a:t>
            </a:r>
            <a:r>
              <a:rPr lang="en-US" sz="2400" dirty="0" err="1">
                <a:solidFill>
                  <a:srgbClr val="F08D49"/>
                </a:solidFill>
                <a:latin typeface="Courier New" panose="02070309020205020404" pitchFamily="49" charset="0"/>
              </a:rPr>
              <a:t>getStylesheets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().</a:t>
            </a:r>
            <a:r>
              <a:rPr lang="en-US" sz="2400" dirty="0">
                <a:solidFill>
                  <a:srgbClr val="F08D49"/>
                </a:solidFill>
                <a:latin typeface="Courier New" panose="02070309020205020404" pitchFamily="49" charset="0"/>
              </a:rPr>
              <a:t>add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7EC699"/>
                </a:solidFill>
                <a:latin typeface="Courier New" panose="02070309020205020404" pitchFamily="49" charset="0"/>
              </a:rPr>
              <a:t>"path/stylesheet.css"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);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83704" y="5151825"/>
            <a:ext cx="10641496" cy="83099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text1.</a:t>
            </a:r>
            <a:r>
              <a:rPr lang="en-US" sz="2400" dirty="0">
                <a:solidFill>
                  <a:srgbClr val="F08D49"/>
                </a:solidFill>
                <a:latin typeface="Courier New" panose="02070309020205020404" pitchFamily="49" charset="0"/>
              </a:rPr>
              <a:t>setStyle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7EC699"/>
                </a:solidFill>
                <a:latin typeface="Courier New" panose="02070309020205020404" pitchFamily="49" charset="0"/>
              </a:rPr>
              <a:t>"-</a:t>
            </a:r>
            <a:r>
              <a:rPr lang="en-US" sz="2400" dirty="0" err="1">
                <a:solidFill>
                  <a:srgbClr val="7EC699"/>
                </a:solidFill>
                <a:latin typeface="Courier New" panose="02070309020205020404" pitchFamily="49" charset="0"/>
              </a:rPr>
              <a:t>fx</a:t>
            </a:r>
            <a:r>
              <a:rPr lang="en-US" sz="2400" dirty="0">
                <a:solidFill>
                  <a:srgbClr val="7EC699"/>
                </a:solidFill>
                <a:latin typeface="Courier New" panose="02070309020205020404" pitchFamily="49" charset="0"/>
              </a:rPr>
              <a:t>-font: normal bold 20px 'serif' "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); text2.</a:t>
            </a:r>
            <a:r>
              <a:rPr lang="en-US" sz="2400" dirty="0">
                <a:solidFill>
                  <a:srgbClr val="F08D49"/>
                </a:solidFill>
                <a:latin typeface="Courier New" panose="02070309020205020404" pitchFamily="49" charset="0"/>
              </a:rPr>
              <a:t>setStyle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7EC699"/>
                </a:solidFill>
                <a:latin typeface="Courier New" panose="02070309020205020404" pitchFamily="49" charset="0"/>
              </a:rPr>
              <a:t>"-</a:t>
            </a:r>
            <a:r>
              <a:rPr lang="en-US" sz="2400" dirty="0" err="1">
                <a:solidFill>
                  <a:srgbClr val="7EC699"/>
                </a:solidFill>
                <a:latin typeface="Courier New" panose="02070309020205020404" pitchFamily="49" charset="0"/>
              </a:rPr>
              <a:t>fx</a:t>
            </a:r>
            <a:r>
              <a:rPr lang="en-US" sz="2400" dirty="0">
                <a:solidFill>
                  <a:srgbClr val="7EC699"/>
                </a:solidFill>
                <a:latin typeface="Courier New" panose="02070309020205020404" pitchFamily="49" charset="0"/>
              </a:rPr>
              <a:t>-font: normal bold 20px 'serif' "</a:t>
            </a:r>
            <a:r>
              <a:rPr lang="en-US" sz="2400" dirty="0">
                <a:solidFill>
                  <a:srgbClr val="CCCCCC"/>
                </a:solidFill>
                <a:latin typeface="Courier New" panose="02070309020205020404" pitchFamily="49" charset="0"/>
              </a:rPr>
              <a:t>);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125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4" y="3588086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47D8F-22EE-D1FD-5B3E-8BA55D047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586857"/>
            <a:ext cx="3353763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  <a:endParaRPr lang="en-US" sz="4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B042E-2E10-238C-2ABC-8248F2ECB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3276" y="515518"/>
            <a:ext cx="7557826" cy="1255846"/>
          </a:xfrm>
        </p:spPr>
        <p:txBody>
          <a:bodyPr anchor="ctr">
            <a:noAutofit/>
          </a:bodyPr>
          <a:lstStyle/>
          <a:p>
            <a:pPr>
              <a:lnSpc>
                <a:spcPct val="17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fully functional window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below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password and user name are stored in text file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705" y="2941967"/>
            <a:ext cx="4228968" cy="355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B0B23-63E0-9A4E-E663-0F72598E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1122363"/>
            <a:ext cx="4181105" cy="32041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758" y="0"/>
            <a:ext cx="5045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1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1824</TotalTime>
  <Words>4887</Words>
  <Application>Microsoft Office PowerPoint</Application>
  <PresentationFormat>Widescreen</PresentationFormat>
  <Paragraphs>981</Paragraphs>
  <Slides>36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Calibri Light</vt:lpstr>
      <vt:lpstr>Courier New</vt:lpstr>
      <vt:lpstr>inherit</vt:lpstr>
      <vt:lpstr>Monotype Corsiva</vt:lpstr>
      <vt:lpstr>Times New Roman</vt:lpstr>
      <vt:lpstr>Verdana</vt:lpstr>
      <vt:lpstr>Wingdings</vt:lpstr>
      <vt:lpstr>1_Office Theme</vt:lpstr>
      <vt:lpstr>2_Office Theme</vt:lpstr>
      <vt:lpstr>3_Office Theme</vt:lpstr>
      <vt:lpstr>4_Office Theme</vt:lpstr>
      <vt:lpstr>PowerPoint Presentation</vt:lpstr>
      <vt:lpstr>Advanced Programming Applications </vt:lpstr>
      <vt:lpstr>Lecture Outline</vt:lpstr>
      <vt:lpstr>Inner Classes</vt:lpstr>
      <vt:lpstr>PowerPoint Presentation</vt:lpstr>
      <vt:lpstr>PowerPoint Presentation</vt:lpstr>
      <vt:lpstr>Inner Classes</vt:lpstr>
      <vt:lpstr>Anonymous Inner Classes</vt:lpstr>
      <vt:lpstr>Anonymous Inner Classes</vt:lpstr>
      <vt:lpstr>Anonymous Inner Classes</vt:lpstr>
      <vt:lpstr>Lambda Expressions</vt:lpstr>
      <vt:lpstr>Lambda Expressions</vt:lpstr>
      <vt:lpstr>Lambda Expressions</vt:lpstr>
      <vt:lpstr>Lambda Expressions</vt:lpstr>
      <vt:lpstr>Lambda Expressions</vt:lpstr>
      <vt:lpstr>Lambda Expressions</vt:lpstr>
      <vt:lpstr>The Secret Sauce: Functional Interfaces</vt:lpstr>
      <vt:lpstr>JavaFX - Event Handling</vt:lpstr>
      <vt:lpstr>JavaFX - Event Handling</vt:lpstr>
      <vt:lpstr>Main Types of Events</vt:lpstr>
      <vt:lpstr>Event Handling in JavaFX</vt:lpstr>
      <vt:lpstr>Key Components of a JavaFX Event</vt:lpstr>
      <vt:lpstr>Example: Button as the Target</vt:lpstr>
      <vt:lpstr>Examples of JavaFX EventHandler</vt:lpstr>
      <vt:lpstr>Example</vt:lpstr>
      <vt:lpstr>JavaFX - Animations</vt:lpstr>
      <vt:lpstr>Rotate Transition in JavaFX</vt:lpstr>
      <vt:lpstr>Rotate Transition in JavaFX</vt:lpstr>
      <vt:lpstr>Rotate Transition in JavaFX</vt:lpstr>
      <vt:lpstr>JavaFX - Fade Transition</vt:lpstr>
      <vt:lpstr>JavaFX - Fade Transition</vt:lpstr>
      <vt:lpstr>JavaFX - Fade Transition</vt:lpstr>
      <vt:lpstr>JavaFX - Fade Transition</vt:lpstr>
      <vt:lpstr>JavaFX and CSS</vt:lpstr>
      <vt:lpstr>Assignment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CCS1101 Introduction to Computing</dc:title>
  <dc:creator>Salma  Radwan Hassan Abdelhamid</dc:creator>
  <cp:lastModifiedBy>GoogleEltaweel</cp:lastModifiedBy>
  <cp:revision>330</cp:revision>
  <dcterms:created xsi:type="dcterms:W3CDTF">2025-12-13T09:36:13Z</dcterms:created>
  <dcterms:modified xsi:type="dcterms:W3CDTF">2026-03-07T19:10:16Z</dcterms:modified>
</cp:coreProperties>
</file>