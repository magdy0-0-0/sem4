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7" r:id="rId4"/>
  </p:sldMasterIdLst>
  <p:notesMasterIdLst>
    <p:notesMasterId r:id="rId37"/>
  </p:notesMasterIdLst>
  <p:sldIdLst>
    <p:sldId id="421" r:id="rId5"/>
    <p:sldId id="451" r:id="rId6"/>
    <p:sldId id="466" r:id="rId7"/>
    <p:sldId id="455" r:id="rId8"/>
    <p:sldId id="497" r:id="rId9"/>
    <p:sldId id="493" r:id="rId10"/>
    <p:sldId id="494" r:id="rId11"/>
    <p:sldId id="510" r:id="rId12"/>
    <p:sldId id="495" r:id="rId13"/>
    <p:sldId id="498" r:id="rId14"/>
    <p:sldId id="512" r:id="rId15"/>
    <p:sldId id="513" r:id="rId16"/>
    <p:sldId id="496" r:id="rId17"/>
    <p:sldId id="511" r:id="rId18"/>
    <p:sldId id="514" r:id="rId19"/>
    <p:sldId id="515" r:id="rId20"/>
    <p:sldId id="519" r:id="rId21"/>
    <p:sldId id="485" r:id="rId22"/>
    <p:sldId id="499" r:id="rId23"/>
    <p:sldId id="500" r:id="rId24"/>
    <p:sldId id="492" r:id="rId25"/>
    <p:sldId id="501" r:id="rId26"/>
    <p:sldId id="502" r:id="rId27"/>
    <p:sldId id="503" r:id="rId28"/>
    <p:sldId id="504" r:id="rId29"/>
    <p:sldId id="518" r:id="rId30"/>
    <p:sldId id="516" r:id="rId31"/>
    <p:sldId id="505" r:id="rId32"/>
    <p:sldId id="506" r:id="rId33"/>
    <p:sldId id="517" r:id="rId34"/>
    <p:sldId id="438" r:id="rId35"/>
    <p:sldId id="43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2F7"/>
    <a:srgbClr val="EEF2F5"/>
    <a:srgbClr val="EDF3F5"/>
    <a:srgbClr val="3D7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30" autoAdjust="0"/>
  </p:normalViewPr>
  <p:slideViewPr>
    <p:cSldViewPr snapToGrid="0">
      <p:cViewPr varScale="1">
        <p:scale>
          <a:sx n="53" d="100"/>
          <a:sy n="53" d="100"/>
        </p:scale>
        <p:origin x="10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81141-7A5D-4940-AD23-CCD8E2E28C9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C5383-A0D3-422C-AD55-83366BE25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2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Application → base class</a:t>
            </a:r>
          </a:p>
          <a:p>
            <a:r>
              <a:rPr lang="en-US" dirty="0" smtClean="0"/>
              <a:t>start() → entry point</a:t>
            </a:r>
          </a:p>
          <a:p>
            <a:r>
              <a:rPr lang="en-US" dirty="0" smtClean="0"/>
              <a:t>Stage → window</a:t>
            </a:r>
          </a:p>
          <a:p>
            <a:r>
              <a:rPr lang="en-US" dirty="0" smtClean="0"/>
              <a:t>launch() → starts JavaFX runtime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1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primary stage is created by the platform itself. The created stage object is passed as an argument to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of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JavaFX Application class has three life cycle methods, which are −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 The entry point method where the JavaFX graphics code is to be written.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 An empty method which can be overridden, here you can write the logic to stop the application.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 An empty method which can be overridden, but you cannot create stage or scene in this method.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create a JavaFX application, you need to instantiate the Application class and implement its abstract method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this method, we will write the code for the JavaFX Application.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Class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of the package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javafx.application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entry point of the application in JavaFX. To create a JavaFX application, you need to inherit this class and implement its abstract method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this method, you need to write the entire code for the JavaFX graphics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method, you have to launch the application using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launch()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method. This method internally calls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of the Application class as shown in the following program.</a:t>
            </a:r>
          </a:p>
          <a:p>
            <a:endParaRPr lang="en-US" dirty="0" smtClean="0"/>
          </a:p>
          <a:p>
            <a:r>
              <a:rPr lang="en-US" dirty="0" smtClean="0"/>
              <a:t>Application → base class</a:t>
            </a:r>
          </a:p>
          <a:p>
            <a:r>
              <a:rPr lang="en-US" dirty="0" smtClean="0"/>
              <a:t>start() → entry point</a:t>
            </a:r>
          </a:p>
          <a:p>
            <a:r>
              <a:rPr lang="en-US" dirty="0" smtClean="0"/>
              <a:t>Stage → window</a:t>
            </a:r>
          </a:p>
          <a:p>
            <a:r>
              <a:rPr lang="en-US" dirty="0" smtClean="0"/>
              <a:t>launch() → starts JavaFX runtime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46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getChildren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of the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gives you an object of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ObservableList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which holds the nodes.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54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2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00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67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39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69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8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0000"/>
                </a:solidFill>
              </a:rPr>
              <a:t>new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200" dirty="0" smtClean="0"/>
              <a:t>(root, 400, 400, true);</a:t>
            </a:r>
          </a:p>
          <a:p>
            <a:r>
              <a:rPr lang="en-US" dirty="0" smtClean="0"/>
              <a:t>true = "Enable 3D rendering support (depth handling)"</a:t>
            </a:r>
            <a:br>
              <a:rPr lang="en-US" dirty="0" smtClean="0"/>
            </a:br>
            <a:r>
              <a:rPr lang="en-US" dirty="0" smtClean="0"/>
              <a:t>false (or omitting it) = Normal 2D scene.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2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PhongMaterial</a:t>
            </a:r>
            <a:r>
              <a:rPr lang="en-US" dirty="0" smtClean="0"/>
              <a:t>() is a JavaFX class used to define the </a:t>
            </a:r>
            <a:r>
              <a:rPr lang="en-US" b="1" dirty="0" smtClean="0"/>
              <a:t>surface appearance of 3D shapes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applies lighting effects (shading, reflection, color) based on the </a:t>
            </a:r>
            <a:r>
              <a:rPr lang="en-US" b="1" dirty="0" err="1" smtClean="0"/>
              <a:t>Phong</a:t>
            </a:r>
            <a:r>
              <a:rPr lang="en-US" b="1" dirty="0" smtClean="0"/>
              <a:t> lighting model</a:t>
            </a:r>
            <a:r>
              <a:rPr lang="en-US" dirty="0" smtClean="0"/>
              <a:t>, which makes 3D objects look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53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3D shapes (Box &amp; Cylinder):</a:t>
            </a:r>
          </a:p>
          <a:p>
            <a:r>
              <a:rPr lang="en-US" dirty="0" smtClean="0"/>
              <a:t>✔ Scene must use true for depth buffer</a:t>
            </a:r>
            <a:br>
              <a:rPr lang="en-US" dirty="0" smtClean="0"/>
            </a:br>
            <a:r>
              <a:rPr lang="en-US" dirty="0" smtClean="0"/>
              <a:t>✔ You must set a </a:t>
            </a:r>
            <a:r>
              <a:rPr lang="en-US" dirty="0" err="1" smtClean="0"/>
              <a:t>PerspectiveCamera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>✔ Sometimes you may rotate the shape to see depth better</a:t>
            </a:r>
          </a:p>
          <a:p>
            <a:r>
              <a:rPr lang="en-US" dirty="0" smtClean="0"/>
              <a:t>Example rotation (optional):</a:t>
            </a:r>
          </a:p>
          <a:p>
            <a:pPr rtl="0"/>
            <a:r>
              <a:rPr lang="en-US" dirty="0" err="1" smtClean="0"/>
              <a:t>box.setRotate</a:t>
            </a:r>
            <a:r>
              <a:rPr lang="en-US" dirty="0" smtClean="0"/>
              <a:t>(30);</a:t>
            </a:r>
          </a:p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56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6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F689-E2DA-47E3-8165-D59E34087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72B40-AF4A-4C92-BF79-F487D7CF4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E9AC-B256-4501-9722-CAF8D4AF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185" y="6381177"/>
            <a:ext cx="22790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CC0FD-85F3-4B92-A4D8-6584C249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9" y="6381176"/>
            <a:ext cx="2743200" cy="365125"/>
          </a:xfrm>
        </p:spPr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6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B523-43D5-4A18-87CD-AA0EF7E6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0691-2C3F-43C2-A375-FA5D4EC3C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A78E-405F-40D7-9ACE-EB1542EF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BEC3-2A03-4CEC-90BA-18E827713447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FF18-6B72-447D-B5A2-D6A0851A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570E1-3A11-4B53-A5EC-DE41F5A3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7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3660-4B2E-4419-8525-09A6EB5A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9685B-DE26-4118-A5E9-E1E4FC71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3FA-C04B-40F5-B425-D3DF18EF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EB7A-6AB3-4FCA-932F-8B3CEEDC632D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3653-20A2-484C-8343-EA6A418C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37E7-C8A3-4F0D-B982-B67CE585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7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3200-71C5-4283-9FD7-31CD75A3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58FB2-6546-4AD7-B0EA-8C542C9EB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780C-6E6D-4C08-93BC-6529F262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75451-BCCA-43CC-B971-A07EF4A1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817-A3F1-437B-A90F-12EF341B9C1F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7C01B-EA68-486B-BC55-52534DA8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9BA9B-9197-4642-8145-0B85DF80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5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972E-8021-4285-ADC3-8F02EE13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0A3D4-5F17-4B76-9A32-1B45E5381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438F5-CCC3-45BB-8A0B-56CD246A1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59D56-E31B-4ED8-9DD9-552EF3BC7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F03D3-3D33-4D4B-B03B-344531C98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0CD2F-5114-4AA7-B159-71377410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24EF-5D8D-4C93-87C5-67118B55AE75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C2410-1893-44AD-9E5C-4F64C1D1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2D40E-B638-476D-BA44-3E3667B9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5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82BF-6436-48DC-9D95-CF901975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631D1-CCC8-4B58-A4EE-3EFEE625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03FDA-D88F-44B4-A0F3-D82D5108B01B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3804F-00CA-4D81-B4E5-980FD399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BAE62-CA36-4548-859D-78A46E3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3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090E9-A667-48B1-A9A9-838A5E8B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BDC5-E684-499B-8AFB-CAE8856DA100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CA9A4-0DC9-4EBC-A922-BC7B23FD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03EA9-363F-4BB2-85AA-3D3EE9D5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1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EA95-1CE5-4A07-97C5-4DBFA70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7C88-0037-425C-A4A3-E21DC011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2056C-76E4-4B02-8B61-A2E873452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00512-B6F3-44B2-B2F4-0BC7822A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7B2A-326A-4D08-ABC2-1FA90346E7E0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20F7-8527-4AD5-AB21-A57DF6E8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B75BD-E13A-45A6-921D-C30A062C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00CF-71F5-431F-AC5F-625F91A5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64A5-9E92-4BAE-ACA4-CB4DD1E40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6D9EE-3D67-40F4-A332-4DA720A9C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9AAD7-0A07-4746-82D5-186EC767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D77BC-1FE0-4050-8599-43FF938F55EB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F4FFB-2775-4CA4-A3E7-81C4FF98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890FE-42B2-4E18-AF90-984C2D5B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264D-B5F4-4DC7-A266-8DD4CFFE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39A08-78D9-4AA0-93B0-3886FA8F7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BCFE4-858D-4A21-AA9E-2D4D2BEC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0C04-BCF0-404F-8743-AC106A951577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F6BF-C697-4511-9CD3-224E29AD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48A3-DE09-4297-8423-CBEAE32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2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94D2A-7113-416F-A4BD-414B9A9E9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12E1B-17C6-4E03-B954-8411F9F00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68C37-CFA2-4574-A7C1-B432A764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61C2-7467-4352-9235-A9E8E472745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040A-9563-432F-A625-A9AC88EF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6CD6-B60B-41C6-8AA2-8F1BD45D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65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6AD1-B992-FEB8-27D6-458B23AED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2CAC-5800-16A1-FEF6-BCD60CD1E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C752-D757-9B3E-F3A6-E7DA45B9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7CF5-E93F-5DB1-340E-32ADBCC7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5F06-917E-1C08-1A0B-B6BE498A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2FC3-8C20-47EF-B2E3-37052A635A6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178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FBC3-B999-6623-46D8-1A760E14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E53C-E7AF-6EBE-F35F-984550D7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8468-4851-FD7E-5529-7989CA7F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E1D7-4991-578E-2E56-9D1E98CF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54F3-F07B-3E36-D370-EA0FEB91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8E64-F234-4485-992B-9FB0071E4A0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832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92A-CDA1-0720-0EB9-08A6B6FD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C7AE-84E7-423E-4F58-655AA115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82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9252F-22E4-326A-4654-950AF69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8D7D-57BA-40F1-CA62-D001EC74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B181-EDAE-8B53-A3F8-CBED376D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5B0B9-3E8E-4FF4-8489-136857E4E9D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94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E267-CDA0-8CA0-7EC2-9826B841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7DB8-5E6D-BD5B-12FE-FD4E2C69B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4497-7A5E-1297-99D9-0275527A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6934-5A1B-96F7-9466-028FE4F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AABCB-DA82-DC48-D12B-8A5250DC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FF366-F774-85CC-3C0E-95A6E8F0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800A8-18FA-4941-B5D4-9A54894117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295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AC82-821F-8B9D-6321-AEFB7D76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23FE-17DA-CBD8-4779-B336D0FA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C849-3D5B-B1E9-CAE7-8542F714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74A84-96D5-6B53-3470-6E6324BF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F02B4-85D3-59BE-C8E5-73993F07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E89A-5AED-84B6-2886-530939EA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FF71-DB00-069C-D774-C3C72AE2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5FD9-3840-C00B-A53B-014CFD51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5DA7-3192-4705-BC19-0AE86D4C6EE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422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3265-B352-9078-386C-2C924CAC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EEE03-4823-5DA7-9B07-8544D457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C798-005E-2C17-DFCD-8138D728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400E-2DA3-969B-04F3-39AED389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F42-18FF-4A99-9D1A-D848586D4C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490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CF34B-2DBC-23A6-CCAD-1C8BF7D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B40B3-8C85-382E-6973-6FD608B3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1560-D457-1AB6-AA7D-0ABF2340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521D-D86A-4C11-A4E3-15CBCEA2C6E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418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2BDC-570A-9594-F51C-2B96A3B8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A736-B340-0DCC-06C3-1EF46D86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E26F8-9AF4-D847-57D9-616CD6608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2479E-CD39-35A8-BF62-890C8AC1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8CFF6-22FD-8393-FB13-52D89A64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7E8D-05F4-53BC-951A-59DF5F89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A9A1-A1AD-4761-8D91-8E8F7BF8733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038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379A-AAE3-B883-49BF-16CC7529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5AC74-AF34-2949-1A54-35A1DAC6D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17EC0-52F9-8484-455E-5E4352B75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4F7C-7B25-BF49-0A1D-62A6E761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B06C-0CE8-4569-CA7A-F9FA11B7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0A624-F592-F5D7-1AF2-BDEE9CD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1C20-9B36-4C7E-89B6-AEC660A9B7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2193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C9A7-BF17-84ED-5DB9-FB14756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C7679-5895-BE2A-C416-4B4A1987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23FC-7F0A-49CB-8DF3-7CFF76A0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FC0F-C919-F88A-D5B8-AEA9A7D5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194D-6139-AE2A-8B30-52E39A6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6B51-EA9C-45D3-8591-F57ECBB88E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3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37796-A3B8-5019-D6A5-F69D0AC9E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7D51-CC99-80AF-7A4D-E54828333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4B34-8D11-56E0-D060-0A8991B8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6BC6-8613-6986-504D-3E22E0F1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10F2-3F23-845D-FADD-A67301E9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C767-2B6F-4A56-9783-61A9B99D21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028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143000"/>
            <a:ext cx="10566400" cy="4876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97DE24A3-4BD1-EDDA-3426-AE75EA1E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5029CD84-5BAD-45B5-9175-D7A0B8E8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5AF30C9C-DE12-89DC-15F2-2CE7C58D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C9F63-F2A7-481B-B9AE-F90A620A7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387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DECC-0979-ADDD-2D5F-BE9F3D837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1DE3F-ECB2-7B9D-EA68-386A14F7D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4BCA-A09B-581E-5CCA-D371A651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AE603-C9EE-36FE-3325-218B1CC9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D618-7F28-0E3C-6D91-2FA02DAA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57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E86-7299-569C-C577-3F0BB5C0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805B-FEFF-CECD-B653-95F169377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4B0E-7E87-2A01-2C0F-0479BADD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EA58E-75A0-314C-8336-122F7345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F1ED-5320-E54A-182F-1B875F44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74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140C-9F84-A6FE-9A5E-1C49FF4F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B7D96-8690-2865-C21C-94007666D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0E211-2190-2540-BD62-ABFB0C9A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8B56-61FD-54DD-ACE2-3BCEF649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85F4B-1070-D13F-82C2-08C93BA2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24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0DFC-CC04-0E31-55C8-2384E070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9E53-EA1B-2B59-01A1-640707EA2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D7EA6-906A-2C81-8B05-66D7C658F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B6DE6-2F51-EA61-D633-3C64D41F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F7970-9D7B-E68A-D5B7-C7DEABD3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E2E0-5C82-5920-BECC-BDB33FE9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417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A835-D9A9-1FA4-6262-BF916C35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193E-7AEB-B01F-3C1C-298E1107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2761F-21D8-9319-5103-010C9266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8F662-0D20-F8FF-F842-6A667131E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83BFD-CA13-DD16-11FC-EC0D2F014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A0B5C-F22F-A4F1-246F-7C72BD7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10209-FD95-8AB4-8A07-69042687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21D56-E18C-AA43-1A66-5CFE3321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13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6777-0F8D-60A1-E91C-399CA32D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3276B-8492-4616-0983-50AFA2C8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53C2A-560F-9763-9491-F59D0945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6309E-856E-39EA-B76B-034F1B20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6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35994-6B00-A77D-2474-72E3BD63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0D1F4-058E-E369-0E9B-7949D28E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9BE43-E39F-C87A-E484-A366B9A0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4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012E-E994-8588-F054-185F19F7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03840-32B1-76EE-B17D-EF0E88B8A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00880-7B5C-4FB5-29DB-904D06571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50E6-5E76-53BA-4EFB-C48D7398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1CB40-6A94-1CA5-7287-B1820AA8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0FBCD-5474-7B0D-0D68-89F6A72A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385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2AE7-9FF9-8733-072B-172C555C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E66EE-3157-2EC9-42E2-8FCD15E70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87AF-1EE9-E8CE-98DF-98E4B723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16DDB-5B8C-2A2A-6E56-B3F26FE5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BD65A-C8F7-C4BB-733F-0108EB38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8B9F3-C91C-365B-1E4C-29B1870E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947F-0A6E-C0E2-6B67-C7E51D06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A6A51-36DF-C577-F965-498802433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B195-025F-7577-BD6D-02F8C30B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56AA8-977C-9BFD-F9F6-5CD7CC86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323E6-C3C0-FB31-3CFA-65CF3A6F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31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771D5-0922-15EC-D4FD-8A70276E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73467-72DB-73C3-7884-BE8559FFA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6568-738A-7908-F8DE-6E028099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1CF36-5B86-4C1C-F343-D899C7D2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A99A-4B3F-D00F-C22E-CA6610B7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348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6AD1-B992-FEB8-27D6-458B23AED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2CAC-5800-16A1-FEF6-BCD60CD1E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C752-D757-9B3E-F3A6-E7DA45B9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7CF5-E93F-5DB1-340E-32ADBCC7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5F06-917E-1C08-1A0B-B6BE498A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2FC3-8C20-47EF-B2E3-37052A635A69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38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FBC3-B999-6623-46D8-1A760E14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E53C-E7AF-6EBE-F35F-984550D7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8468-4851-FD7E-5529-7989CA7F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E1D7-4991-578E-2E56-9D1E98CF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54F3-F07B-3E36-D370-EA0FEB91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58E64-F234-4485-992B-9FB0071E4A0C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9588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92A-CDA1-0720-0EB9-08A6B6FD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8"/>
            <a:ext cx="10515600" cy="2852737"/>
          </a:xfrm>
        </p:spPr>
        <p:txBody>
          <a:bodyPr anchor="b"/>
          <a:lstStyle>
            <a:lvl1pPr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C7AE-84E7-423E-4F58-655AA115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88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82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9252F-22E4-326A-4654-950AF69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8D7D-57BA-40F1-CA62-D001EC74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B181-EDAE-8B53-A3F8-CBED376D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715B0B9-3E8E-4FF4-8489-136857E4E9DE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5964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E267-CDA0-8CA0-7EC2-9826B841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7DB8-5E6D-BD5B-12FE-FD4E2C69B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4497-7A5E-1297-99D9-0275527A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6934-5A1B-96F7-9466-028FE4F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AABCB-DA82-DC48-D12B-8A5250DC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FF366-F774-85CC-3C0E-95A6E8F0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800A8-18FA-4941-B5D4-9A548941170D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50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AC82-821F-8B9D-6321-AEFB7D76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23FE-17DA-CBD8-4779-B336D0FA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C849-3D5B-B1E9-CAE7-8542F714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74A84-96D5-6B53-3470-6E6324BF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F02B4-85D3-59BE-C8E5-73993F07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E89A-5AED-84B6-2886-530939EA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FF71-DB00-069C-D774-C3C72AE2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5FD9-3840-C00B-A53B-014CFD51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5DA7-3192-4705-BC19-0AE86D4C6EEE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702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3265-B352-9078-386C-2C924CAC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EEE03-4823-5DA7-9B07-8544D457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C798-005E-2C17-DFCD-8138D728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400E-2DA3-969B-04F3-39AED389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F42-18FF-4A99-9D1A-D848586D4CBF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309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CF34B-2DBC-23A6-CCAD-1C8BF7D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B40B3-8C85-382E-6973-6FD608B3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1560-D457-1AB6-AA7D-0ABF2340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521D-D86A-4C11-A4E3-15CBCEA2C6ED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5199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2BDC-570A-9594-F51C-2B96A3B8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A736-B340-0DCC-06C3-1EF46D86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E26F8-9AF4-D847-57D9-616CD6608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2479E-CD39-35A8-BF62-890C8AC1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8CFF6-22FD-8393-FB13-52D89A64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7E8D-05F4-53BC-951A-59DF5F89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A9A1-A1AD-4761-8D91-8E8F7BF87335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446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379A-AAE3-B883-49BF-16CC7529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5AC74-AF34-2949-1A54-35A1DAC6D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17EC0-52F9-8484-455E-5E4352B75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4F7C-7B25-BF49-0A1D-62A6E761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B06C-0CE8-4569-CA7A-F9FA11B7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0A624-F592-F5D7-1AF2-BDEE9CD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1C20-9B36-4C7E-89B6-AEC660A9B7E8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3813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C9A7-BF17-84ED-5DB9-FB14756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C7679-5895-BE2A-C416-4B4A1987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23FC-7F0A-49CB-8DF3-7CFF76A0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FC0F-C919-F88A-D5B8-AEA9A7D5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194D-6139-AE2A-8B30-52E39A6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6B51-EA9C-45D3-8591-F57ECBB88ED5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749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37796-A3B8-5019-D6A5-F69D0AC9E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7D51-CC99-80AF-7A4D-E54828333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4B34-8D11-56E0-D060-0A8991B8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6BC6-8613-6986-504D-3E22E0F1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10F2-3F23-845D-FADD-A67301E9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C767-2B6F-4A56-9783-61A9B99D21C2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1870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7" y="228600"/>
            <a:ext cx="10687049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143000"/>
            <a:ext cx="10566400" cy="4876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97DE24A3-4BD1-EDDA-3426-AE75EA1E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5029CD84-5BAD-45B5-9175-D7A0B8E8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5AF30C9C-DE12-89DC-15F2-2CE7C58D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C9F63-F2A7-481B-B9AE-F90A620A7E33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8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8E80B-393A-4A8F-BB45-CC9059AE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14635-C1C4-4488-A530-5451CAC2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ABAC-B4C0-4BEA-BE54-2FB538CC9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979ED-A582-43ED-81AB-679805B611AF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19B55-FAE7-4C0A-AEC3-1ED595425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1485-14AB-4CC0-90D2-3A0FE20A9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4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2A969-2DDB-38CE-1803-41D71E53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C466B-9439-443F-7519-14F68EB7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4E0F-1C1A-A70E-054D-F6592362F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EA14-2D9B-F9B7-FBC6-85983003F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6907-BC9A-9DFB-F771-366742FF3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E9A08-9077-403E-A7E9-995AC34B0DB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5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72BD3-2E2A-A6CC-3B92-1F0CB808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9DBC-20EB-1DB5-50EC-64ACA8629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AFA7-B4A2-61D7-A044-7A4B5EF7F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6D53A-65F0-49CA-8FEC-A1D575AC985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EC008-508B-DC36-B005-608B7F6AA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E05E6-77D1-DDEB-9FDC-BF8BF3E26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0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2A969-2DDB-38CE-1803-41D71E53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C466B-9439-443F-7519-14F68EB7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4E0F-1C1A-A70E-054D-F6592362F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EA14-2D9B-F9B7-FBC6-85983003F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6907-BC9A-9DFB-F771-366742FF3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E5E9A08-9077-403E-A7E9-995AC34B0DBA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51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javafx/javafx_architecture.htm" TargetMode="Externa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75" name="Straight Connector 7174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F730C-C8E2-C608-3646-805B89D9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3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E735DC-365B-4A8A-8206-6A8F226C6312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2"/>
          <a:srcRect b="408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9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2" name="Rectangle 1025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5" y="0"/>
            <a:ext cx="9141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2E24C51-BA0B-08AE-B911-B1A839A04E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98823" y="735289"/>
            <a:ext cx="4106804" cy="3165045"/>
          </a:xfrm>
        </p:spPr>
        <p:txBody>
          <a:bodyPr anchor="b">
            <a:normAutofit/>
          </a:bodyPr>
          <a:lstStyle/>
          <a:p>
            <a:pPr algn="l"/>
            <a:r>
              <a:rPr lang="en-US" altLang="en-US" sz="4200" dirty="0" smtClean="0"/>
              <a:t>Advanced Programming Applications </a:t>
            </a:r>
            <a:endParaRPr lang="en-US" altLang="en-US" sz="4200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F17E628-BC43-0345-F5F4-463B2C98AF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01869" y="4050226"/>
            <a:ext cx="3733800" cy="2058657"/>
          </a:xfrm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Lecture </a:t>
            </a:r>
            <a:r>
              <a:rPr lang="en-US" altLang="en-US" dirty="0" smtClean="0"/>
              <a:t>04- JavaFX </a:t>
            </a:r>
            <a:r>
              <a:rPr lang="en-AE" altLang="en-US" dirty="0" smtClean="0"/>
              <a:t>–</a:t>
            </a:r>
            <a:r>
              <a:rPr lang="en-US" altLang="en-US" dirty="0" smtClean="0"/>
              <a:t> Part I</a:t>
            </a:r>
            <a:endParaRPr lang="en-US" altLang="en-US" dirty="0"/>
          </a:p>
        </p:txBody>
      </p:sp>
      <p:pic>
        <p:nvPicPr>
          <p:cNvPr id="10247" name="Graphic 10246" descr="Maze">
            <a:extLst>
              <a:ext uri="{FF2B5EF4-FFF2-40B4-BE49-F238E27FC236}">
                <a16:creationId xmlns:a16="http://schemas.microsoft.com/office/drawing/2014/main" id="{48420D68-ABFE-0EE3-2CBA-1BC36E0F16C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8022" y="2933545"/>
            <a:ext cx="966789" cy="966789"/>
          </a:xfrm>
          <a:prstGeom prst="rect">
            <a:avLst/>
          </a:prstGeom>
        </p:spPr>
      </p:pic>
      <p:pic>
        <p:nvPicPr>
          <p:cNvPr id="10249" name="Graphic 10248" descr="Maze">
            <a:extLst>
              <a:ext uri="{FF2B5EF4-FFF2-40B4-BE49-F238E27FC236}">
                <a16:creationId xmlns:a16="http://schemas.microsoft.com/office/drawing/2014/main" id="{26E7EFA0-FB42-45FD-B4EE-C58A98D22D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9867" y="1392831"/>
            <a:ext cx="4058507" cy="4058507"/>
          </a:xfrm>
          <a:prstGeom prst="rect">
            <a:avLst/>
          </a:prstGeom>
        </p:spPr>
      </p:pic>
      <p:pic>
        <p:nvPicPr>
          <p:cNvPr id="10245" name="Picture 5" descr="Logo">
            <a:extLst>
              <a:ext uri="{FF2B5EF4-FFF2-40B4-BE49-F238E27FC236}">
                <a16:creationId xmlns:a16="http://schemas.microsoft.com/office/drawing/2014/main" id="{50062FBE-C6A2-FE29-ECF1-AE86F6F6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76" y="27437"/>
            <a:ext cx="966791" cy="10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78F068-E186-957E-266C-A12900A20C00}"/>
              </a:ext>
            </a:extLst>
          </p:cNvPr>
          <p:cNvSpPr txBox="1"/>
          <p:nvPr/>
        </p:nvSpPr>
        <p:spPr>
          <a:xfrm>
            <a:off x="3352799" y="4928112"/>
            <a:ext cx="5444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Monotype Corsiva" panose="03010101010201010101" pitchFamily="66" charset="0"/>
              </a:rPr>
              <a:t>Dr. </a:t>
            </a:r>
            <a:r>
              <a:rPr lang="en-US" sz="2800" b="1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Mohamed Mostafa Eltaweel</a:t>
            </a:r>
            <a:endParaRPr lang="en-US" sz="2800" b="1" dirty="0">
              <a:solidFill>
                <a:prstClr val="blac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A60D-2E7D-6655-4AD0-13B5E9D5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0" name="Rectangle 13319">
            <a:extLst>
              <a:ext uri="{FF2B5EF4-FFF2-40B4-BE49-F238E27FC236}">
                <a16:creationId xmlns:a16="http://schemas.microsoft.com/office/drawing/2014/main" id="{758E9722-C7CA-6F41-9D2C-B0D5B65EFF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2" name="Rectangle 13321">
            <a:extLst>
              <a:ext uri="{FF2B5EF4-FFF2-40B4-BE49-F238E27FC236}">
                <a16:creationId xmlns:a16="http://schemas.microsoft.com/office/drawing/2014/main" id="{31971DE3-4290-8ABB-C335-DD733CEF2C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" y="3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4" name="Rectangle 13323">
            <a:extLst>
              <a:ext uri="{FF2B5EF4-FFF2-40B4-BE49-F238E27FC236}">
                <a16:creationId xmlns:a16="http://schemas.microsoft.com/office/drawing/2014/main" id="{C60CA67D-2680-FA7F-E3ED-0CD82CC77ED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60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6" name="Rectangle 13325">
            <a:extLst>
              <a:ext uri="{FF2B5EF4-FFF2-40B4-BE49-F238E27FC236}">
                <a16:creationId xmlns:a16="http://schemas.microsoft.com/office/drawing/2014/main" id="{33783040-44FF-74C0-166B-85D05B8A31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8F7AC7FA-6E96-C5EF-A24D-754EABB56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2" y="348868"/>
            <a:ext cx="10577420" cy="877729"/>
          </a:xfrm>
        </p:spPr>
        <p:txBody>
          <a:bodyPr anchor="ctr">
            <a:normAutofit/>
          </a:bodyPr>
          <a:lstStyle/>
          <a:p>
            <a:r>
              <a:rPr lang="en-US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D7671-E06E-5764-77D7-159D56B3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27" y="2041063"/>
            <a:ext cx="10515600" cy="4351339"/>
          </a:xfrm>
        </p:spPr>
        <p:txBody>
          <a:bodyPr>
            <a:normAutofit fontScale="92500" lnSpcReduction="10000"/>
          </a:bodyPr>
          <a:lstStyle/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What are JavaFX?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JavaFX vs Legacy </a:t>
            </a:r>
            <a:r>
              <a:rPr lang="en-US" sz="2400" b="1" dirty="0" smtClean="0"/>
              <a:t>Swing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JavaFX </a:t>
            </a:r>
            <a:r>
              <a:rPr lang="en-US" sz="2400" b="1" dirty="0" smtClean="0"/>
              <a:t>Architecture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JavaFX Basic Application </a:t>
            </a:r>
            <a:r>
              <a:rPr lang="en-US" sz="2400" b="1" dirty="0" smtClean="0"/>
              <a:t>Structure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Preparing a </a:t>
            </a:r>
            <a:r>
              <a:rPr lang="en-US" sz="2400" b="1" dirty="0" smtClean="0"/>
              <a:t>Scene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Important packages of </a:t>
            </a:r>
            <a:r>
              <a:rPr lang="en-US" sz="2400" b="1" dirty="0" smtClean="0"/>
              <a:t>JavaFX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altLang="en-US" sz="2400" b="1" dirty="0"/>
              <a:t>Panes, UI Controls, and </a:t>
            </a:r>
            <a:r>
              <a:rPr lang="en-US" altLang="en-US" sz="2400" b="1" dirty="0" smtClean="0"/>
              <a:t>Shapes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 smtClean="0"/>
              <a:t>Practice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3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4316172" cy="812117"/>
          </a:xfrm>
        </p:spPr>
        <p:txBody>
          <a:bodyPr anchor="b">
            <a:normAutofit/>
          </a:bodyPr>
          <a:lstStyle/>
          <a:p>
            <a:r>
              <a:rPr lang="en-US" sz="3600" b="1" dirty="0" smtClean="0"/>
              <a:t>What are JavaFX?</a:t>
            </a:r>
            <a:endParaRPr lang="en-US" sz="3600" b="1" dirty="0"/>
          </a:p>
        </p:txBody>
      </p:sp>
      <p:pic>
        <p:nvPicPr>
          <p:cNvPr id="1026" name="Picture 2" descr="Problem Solving and Decision Making | by Rida Jamil | Medium">
            <a:extLst>
              <a:ext uri="{FF2B5EF4-FFF2-40B4-BE49-F238E27FC236}">
                <a16:creationId xmlns:a16="http://schemas.microsoft.com/office/drawing/2014/main" id="{A24DA37A-3017-91D0-0AC5-416951AA9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9998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983" r="-1944" b="2"/>
          <a:stretch/>
        </p:blipFill>
        <p:spPr bwMode="auto">
          <a:xfrm>
            <a:off x="7619620" y="65710"/>
            <a:ext cx="3581780" cy="17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75" y="1839310"/>
            <a:ext cx="9270123" cy="4221811"/>
          </a:xfrm>
        </p:spPr>
        <p:txBody>
          <a:bodyPr anchor="t">
            <a:normAutofit/>
          </a:bodyPr>
          <a:lstStyle/>
          <a:p>
            <a:r>
              <a:rPr lang="en-US" b="1" dirty="0"/>
              <a:t>JavaFX</a:t>
            </a:r>
            <a:r>
              <a:rPr lang="en-US" dirty="0"/>
              <a:t> is a Java library </a:t>
            </a:r>
            <a:r>
              <a:rPr lang="en-US" dirty="0" smtClean="0"/>
              <a:t>(</a:t>
            </a:r>
            <a:r>
              <a:rPr lang="en-US" dirty="0"/>
              <a:t>complete </a:t>
            </a:r>
            <a:r>
              <a:rPr lang="en-US" dirty="0" smtClean="0"/>
              <a:t>API) used </a:t>
            </a:r>
            <a:r>
              <a:rPr lang="en-US" dirty="0"/>
              <a:t>to build Rich Internet </a:t>
            </a:r>
            <a:r>
              <a:rPr lang="en-US" dirty="0" smtClean="0"/>
              <a:t>Applications to </a:t>
            </a:r>
            <a:r>
              <a:rPr lang="en-US" dirty="0"/>
              <a:t>build GUI applications with rich graphics.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</a:t>
            </a:r>
            <a:r>
              <a:rPr lang="en-US" dirty="0"/>
              <a:t>applications written using this library can run consistently across multiple platforms. </a:t>
            </a:r>
            <a:endParaRPr lang="en-US" dirty="0" smtClean="0"/>
          </a:p>
          <a:p>
            <a:r>
              <a:rPr lang="en-US" dirty="0"/>
              <a:t> </a:t>
            </a:r>
            <a:r>
              <a:rPr lang="en-US" dirty="0" smtClean="0"/>
              <a:t>The </a:t>
            </a:r>
            <a:r>
              <a:rPr lang="en-US" dirty="0"/>
              <a:t>applications developed using JavaFX can run on various devices such as Desktop Computers, Mobile Phones, TVs, Tablets, etc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replaced the use of </a:t>
            </a:r>
            <a:r>
              <a:rPr lang="en-US" b="1" dirty="0"/>
              <a:t>Advanced Windowing Tool Kit</a:t>
            </a:r>
            <a:r>
              <a:rPr lang="en-US" dirty="0"/>
              <a:t> and </a:t>
            </a:r>
            <a:r>
              <a:rPr lang="en-US" b="1" dirty="0" smtClean="0"/>
              <a:t>Swing </a:t>
            </a:r>
            <a:r>
              <a:rPr lang="en-US" dirty="0" smtClean="0"/>
              <a:t>Libraries.</a:t>
            </a:r>
            <a:r>
              <a:rPr lang="en-US" dirty="0"/>
              <a:t>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01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6448924" cy="812117"/>
          </a:xfrm>
        </p:spPr>
        <p:txBody>
          <a:bodyPr anchor="b">
            <a:normAutofit/>
          </a:bodyPr>
          <a:lstStyle/>
          <a:p>
            <a:r>
              <a:rPr lang="en-US" sz="3600" b="1" dirty="0" smtClean="0"/>
              <a:t>JavaFX vs Legacy Swing</a:t>
            </a:r>
            <a:endParaRPr lang="en-US" sz="3600" b="1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8" name="Picture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" t="11023" r="-159" b="4777"/>
          <a:stretch/>
        </p:blipFill>
        <p:spPr>
          <a:xfrm>
            <a:off x="1346827" y="1773045"/>
            <a:ext cx="9498345" cy="44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2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4316172" cy="812117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JavaFX Architecture</a:t>
            </a:r>
          </a:p>
        </p:txBody>
      </p:sp>
      <p:pic>
        <p:nvPicPr>
          <p:cNvPr id="1026" name="Picture 2" descr="Problem Solving and Decision Making | by Rida Jamil | Medium">
            <a:extLst>
              <a:ext uri="{FF2B5EF4-FFF2-40B4-BE49-F238E27FC236}">
                <a16:creationId xmlns:a16="http://schemas.microsoft.com/office/drawing/2014/main" id="{A24DA37A-3017-91D0-0AC5-416951AA9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3" r="-1944" b="2"/>
          <a:stretch/>
        </p:blipFill>
        <p:spPr bwMode="auto">
          <a:xfrm>
            <a:off x="7403052" y="396403"/>
            <a:ext cx="2637087" cy="130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75" y="1839310"/>
            <a:ext cx="9270123" cy="42218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JavaFX follows a </a:t>
            </a:r>
            <a:r>
              <a:rPr lang="en-US" b="1" dirty="0"/>
              <a:t>Scene Graph architecture</a:t>
            </a:r>
            <a:r>
              <a:rPr lang="en-US" dirty="0"/>
              <a:t>.</a:t>
            </a:r>
          </a:p>
          <a:p>
            <a:r>
              <a:rPr lang="en-US" sz="2400" b="1" dirty="0"/>
              <a:t>Core Components:</a:t>
            </a:r>
          </a:p>
          <a:p>
            <a:pPr lvl="2"/>
            <a:r>
              <a:rPr lang="en-US" sz="2400" b="1" dirty="0"/>
              <a:t>Stage</a:t>
            </a:r>
            <a:endParaRPr lang="en-US" sz="2400" dirty="0"/>
          </a:p>
          <a:p>
            <a:pPr lvl="2"/>
            <a:r>
              <a:rPr lang="en-US" sz="2400" b="1" dirty="0"/>
              <a:t>Scene</a:t>
            </a:r>
            <a:endParaRPr lang="en-US" sz="2400" dirty="0"/>
          </a:p>
          <a:p>
            <a:pPr lvl="2"/>
            <a:r>
              <a:rPr lang="en-US" sz="2400" b="1" dirty="0"/>
              <a:t>Nodes</a:t>
            </a:r>
            <a:endParaRPr lang="en-US" sz="2400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57402" y="4260632"/>
            <a:ext cx="89354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Stage (Window)</a:t>
            </a:r>
          </a:p>
          <a:p>
            <a:r>
              <a:rPr lang="en-US" dirty="0"/>
              <a:t>   → Scene</a:t>
            </a:r>
          </a:p>
          <a:p>
            <a:r>
              <a:rPr lang="en-US" dirty="0"/>
              <a:t>        → Layout Pane</a:t>
            </a:r>
          </a:p>
          <a:p>
            <a:r>
              <a:rPr lang="en-US" dirty="0"/>
              <a:t>              → Controls (Button, Label, etc.)</a:t>
            </a:r>
          </a:p>
        </p:txBody>
      </p:sp>
    </p:spTree>
    <p:extLst>
      <p:ext uri="{BB962C8B-B14F-4D97-AF65-F5344CB8AC3E}">
        <p14:creationId xmlns:p14="http://schemas.microsoft.com/office/powerpoint/2010/main" val="244305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796896"/>
            <a:ext cx="6665493" cy="812117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JavaFX </a:t>
            </a:r>
            <a:r>
              <a:rPr lang="en-US" sz="3600" b="1" dirty="0" smtClean="0"/>
              <a:t>Basic Application Structure</a:t>
            </a:r>
            <a:endParaRPr lang="en-US" sz="3600" b="1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2057400"/>
            <a:ext cx="97134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javafx.application.Application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javafx.stage.Stage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/>
              <a:t>Main </a:t>
            </a:r>
            <a:r>
              <a:rPr lang="en-US" dirty="0">
                <a:solidFill>
                  <a:srgbClr val="FF0000"/>
                </a:solidFill>
              </a:rPr>
              <a:t>extends</a:t>
            </a:r>
            <a:r>
              <a:rPr lang="en-US" dirty="0"/>
              <a:t> Application {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void </a:t>
            </a:r>
            <a:r>
              <a:rPr lang="en-US" dirty="0"/>
              <a:t>start(Stage </a:t>
            </a:r>
            <a:r>
              <a:rPr lang="en-US" dirty="0" err="1"/>
              <a:t>primaryStage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primaryStage.setTitle</a:t>
            </a:r>
            <a:r>
              <a:rPr lang="en-US" dirty="0"/>
              <a:t>("My First JavaFX App");</a:t>
            </a:r>
          </a:p>
          <a:p>
            <a:r>
              <a:rPr lang="en-US" dirty="0"/>
              <a:t>        </a:t>
            </a:r>
            <a:r>
              <a:rPr lang="en-US" dirty="0" err="1"/>
              <a:t>primaryStage.show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static void main</a:t>
            </a:r>
            <a:r>
              <a:rPr lang="en-US" dirty="0"/>
              <a:t>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launch(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60366" y="2205854"/>
            <a:ext cx="1816771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base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54" y="3981003"/>
            <a:ext cx="1929064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entry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0146" y="5715433"/>
            <a:ext cx="3621505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starts JavaFX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0475" y="3228945"/>
            <a:ext cx="1112419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window</a:t>
            </a:r>
            <a:endParaRPr lang="en-US" sz="2000" dirty="0"/>
          </a:p>
        </p:txBody>
      </p:sp>
      <p:cxnSp>
        <p:nvCxnSpPr>
          <p:cNvPr id="8" name="Curved Connector 7"/>
          <p:cNvCxnSpPr>
            <a:stCxn id="6" idx="1"/>
          </p:cNvCxnSpPr>
          <p:nvPr/>
        </p:nvCxnSpPr>
        <p:spPr>
          <a:xfrm rot="10800000" flipV="1">
            <a:off x="6376738" y="2405909"/>
            <a:ext cx="1383629" cy="485038"/>
          </a:xfrm>
          <a:prstGeom prst="curvedConnector3">
            <a:avLst>
              <a:gd name="adj1" fmla="val 1004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13" idx="1"/>
          </p:cNvCxnSpPr>
          <p:nvPr/>
        </p:nvCxnSpPr>
        <p:spPr>
          <a:xfrm rot="10800000" flipV="1">
            <a:off x="5077327" y="3429000"/>
            <a:ext cx="2533149" cy="412442"/>
          </a:xfrm>
          <a:prstGeom prst="curvedConnector3">
            <a:avLst>
              <a:gd name="adj1" fmla="val 998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12" idx="1"/>
          </p:cNvCxnSpPr>
          <p:nvPr/>
        </p:nvCxnSpPr>
        <p:spPr>
          <a:xfrm rot="10800000">
            <a:off x="2935706" y="5715012"/>
            <a:ext cx="2454441" cy="200476"/>
          </a:xfrm>
          <a:prstGeom prst="curvedConnector3">
            <a:avLst>
              <a:gd name="adj1" fmla="val 995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11" idx="3"/>
          </p:cNvCxnSpPr>
          <p:nvPr/>
        </p:nvCxnSpPr>
        <p:spPr>
          <a:xfrm flipV="1">
            <a:off x="2025318" y="3980582"/>
            <a:ext cx="1752598" cy="200476"/>
          </a:xfrm>
          <a:prstGeom prst="curvedConnector3">
            <a:avLst>
              <a:gd name="adj1" fmla="val 369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90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026" name="Picture 2" descr="Problem Solving and Decision Making | by Rida Jamil | Medium">
            <a:extLst>
              <a:ext uri="{FF2B5EF4-FFF2-40B4-BE49-F238E27FC236}">
                <a16:creationId xmlns:a16="http://schemas.microsoft.com/office/drawing/2014/main" id="{A24DA37A-3017-91D0-0AC5-416951AA9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9998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983" r="-1944" b="2"/>
          <a:stretch/>
        </p:blipFill>
        <p:spPr bwMode="auto">
          <a:xfrm>
            <a:off x="9664989" y="155772"/>
            <a:ext cx="3403781" cy="168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 rotWithShape="1">
          <a:blip r:embed="rId4"/>
          <a:srcRect l="4506" t="11121" r="2850" b="4141"/>
          <a:stretch/>
        </p:blipFill>
        <p:spPr>
          <a:xfrm>
            <a:off x="1034716" y="1456111"/>
            <a:ext cx="9680175" cy="4929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4316172" cy="812117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JavaFX </a:t>
            </a:r>
            <a:r>
              <a:rPr lang="en-US" sz="3600" b="1" dirty="0" smtClean="0"/>
              <a:t>Hierarchy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517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Stage, Scene, and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836"/>
            <a:ext cx="12394532" cy="112350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/>
              <a:t>1. Stage</a:t>
            </a:r>
          </a:p>
          <a:p>
            <a:pPr lvl="1"/>
            <a:r>
              <a:rPr lang="en-US" sz="3400" dirty="0"/>
              <a:t>Represents the window. A stage has two parameters determining its </a:t>
            </a:r>
            <a:r>
              <a:rPr lang="en-US" sz="3400" dirty="0" smtClean="0"/>
              <a:t>position namely</a:t>
            </a:r>
            <a:r>
              <a:rPr lang="en-US" sz="3400" dirty="0"/>
              <a:t> </a:t>
            </a:r>
            <a:r>
              <a:rPr lang="en-US" sz="3400" b="1" dirty="0"/>
              <a:t>Width</a:t>
            </a:r>
            <a:r>
              <a:rPr lang="en-US" sz="3400" dirty="0"/>
              <a:t> and </a:t>
            </a:r>
            <a:r>
              <a:rPr lang="en-US" sz="3400" b="1" dirty="0"/>
              <a:t>Height</a:t>
            </a:r>
            <a:r>
              <a:rPr lang="en-US" sz="3400" dirty="0"/>
              <a:t>.</a:t>
            </a:r>
          </a:p>
          <a:p>
            <a:pPr lvl="1"/>
            <a:r>
              <a:rPr lang="en-US" sz="3400" dirty="0"/>
              <a:t>You have to call the show() method to display the contents of a stage.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84757" y="26483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primaryStage.setWidth</a:t>
            </a:r>
            <a:r>
              <a:rPr lang="en-US" dirty="0"/>
              <a:t>(400);</a:t>
            </a:r>
          </a:p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primaryStage.setHeight</a:t>
            </a:r>
            <a:r>
              <a:rPr lang="en-US" dirty="0"/>
              <a:t>(300);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19100" y="3226496"/>
            <a:ext cx="10303042" cy="89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2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08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091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973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85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2. Scene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tree-like data structure (hierarchical) representing </a:t>
            </a:r>
            <a:r>
              <a:rPr lang="en-US" sz="2400" dirty="0" smtClean="0"/>
              <a:t>Container </a:t>
            </a:r>
            <a:r>
              <a:rPr lang="en-US" sz="2400" dirty="0"/>
              <a:t>for all content.</a:t>
            </a:r>
          </a:p>
          <a:p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506452" y="428182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Scene</a:t>
            </a:r>
            <a:r>
              <a:rPr lang="en-US" dirty="0"/>
              <a:t>(root, 400, 300);</a:t>
            </a:r>
          </a:p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primaryStage.setScene</a:t>
            </a:r>
            <a:r>
              <a:rPr lang="en-US" dirty="0"/>
              <a:t>(scene);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19100" y="5077660"/>
            <a:ext cx="10303042" cy="893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2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08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091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973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85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3. Nodes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visual/graphical object of a scene graph</a:t>
            </a:r>
            <a:r>
              <a:rPr lang="en-US" sz="2400" dirty="0" smtClean="0"/>
              <a:t>. Everything </a:t>
            </a:r>
            <a:r>
              <a:rPr lang="en-US" sz="2400" dirty="0"/>
              <a:t>in JavaFX is a </a:t>
            </a:r>
            <a:r>
              <a:rPr lang="en-US" sz="2400" b="1" dirty="0"/>
              <a:t>Node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 smtClean="0"/>
              <a:t>		Button, Label, </a:t>
            </a:r>
            <a:r>
              <a:rPr lang="en-US" sz="2400" dirty="0" err="1" smtClean="0"/>
              <a:t>TextField</a:t>
            </a:r>
            <a:r>
              <a:rPr lang="en-US" sz="2400" dirty="0" smtClean="0"/>
              <a:t>, Layout panes, Shapes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4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796896"/>
            <a:ext cx="6665493" cy="812117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JavaFX </a:t>
            </a:r>
            <a:r>
              <a:rPr lang="en-US" sz="3600" b="1" dirty="0" smtClean="0"/>
              <a:t>Basic Application Structure</a:t>
            </a:r>
            <a:endParaRPr lang="en-US" sz="3600" b="1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 rotWithShape="1">
          <a:blip r:embed="rId3"/>
          <a:srcRect b="3736"/>
          <a:stretch/>
        </p:blipFill>
        <p:spPr>
          <a:xfrm>
            <a:off x="413473" y="298061"/>
            <a:ext cx="11365053" cy="610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8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Preparing a Scene</a:t>
            </a:r>
            <a:endParaRPr lang="en-US" b="1" dirty="0"/>
          </a:p>
        </p:txBody>
      </p:sp>
      <p:pic>
        <p:nvPicPr>
          <p:cNvPr id="9218" name="Picture 2" descr="WebView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03" y="1371600"/>
            <a:ext cx="7498497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4694" y="2697163"/>
            <a:ext cx="413886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/>
              <a:t>To build a JavaFX application, you must create a </a:t>
            </a:r>
            <a:r>
              <a:rPr lang="en-US" b="1" dirty="0"/>
              <a:t>scene graph</a:t>
            </a:r>
            <a:r>
              <a:rPr lang="en-US" dirty="0"/>
              <a:t> with the required nodes. The first node is the </a:t>
            </a:r>
            <a:r>
              <a:rPr lang="en-US" b="1" dirty="0"/>
              <a:t>root node</a:t>
            </a:r>
            <a:r>
              <a:rPr lang="en-US" dirty="0"/>
              <a:t>, which serves as the top-level container. The root can be a </a:t>
            </a:r>
            <a:r>
              <a:rPr lang="en-US" b="1" dirty="0"/>
              <a:t>Group, Region, or </a:t>
            </a:r>
            <a:r>
              <a:rPr lang="en-US" b="1" dirty="0" err="1"/>
              <a:t>WebView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2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Preparing a Scene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Group</a:t>
            </a:r>
            <a:r>
              <a:rPr lang="en-US" dirty="0"/>
              <a:t> − A Group node is represented by the class named </a:t>
            </a:r>
            <a:r>
              <a:rPr lang="en-US" b="1" dirty="0"/>
              <a:t>Group</a:t>
            </a:r>
            <a:r>
              <a:rPr lang="en-US" dirty="0"/>
              <a:t> which belongs to the package </a:t>
            </a:r>
            <a:r>
              <a:rPr lang="en-US" b="1" dirty="0" err="1"/>
              <a:t>javafx.scene</a:t>
            </a:r>
            <a:r>
              <a:rPr lang="en-US" dirty="0"/>
              <a:t>, you can create a Group node by instantiating this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32458" y="2182888"/>
            <a:ext cx="28696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Group root =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Group();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9146" y="2887682"/>
            <a:ext cx="57903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@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Override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start(Stage stage) {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TextField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t1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TextField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t1.setLayoutX(100); t1.setLayoutY(50);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TextField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t2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TextField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t2.setLayoutX(100); t2.setLayoutY(90);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Button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btn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Button("Submit");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btn.setLayoutX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(120);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btn.setLayoutY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(130);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0" y="3394905"/>
            <a:ext cx="59668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Group root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Group(t1, t2,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btn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nn-NO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Scene scene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nn-NO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Scene(root</a:t>
            </a:r>
            <a:r>
              <a:rPr lang="nn-NO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, 400, 250);</a:t>
            </a:r>
            <a:br>
              <a:rPr lang="nn-NO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stage.setScene</a:t>
            </a: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(scene);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stage.setTitle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("Form");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stage.show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/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 static void main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(String[]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) {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launch();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cxnSp>
        <p:nvCxnSpPr>
          <p:cNvPr id="10" name="Curved Connector 9"/>
          <p:cNvCxnSpPr>
            <a:stCxn id="6" idx="2"/>
            <a:endCxn id="9" idx="0"/>
          </p:cNvCxnSpPr>
          <p:nvPr/>
        </p:nvCxnSpPr>
        <p:spPr>
          <a:xfrm rot="5400000" flipH="1" flipV="1">
            <a:off x="4593388" y="1825858"/>
            <a:ext cx="2916991" cy="6055085"/>
          </a:xfrm>
          <a:prstGeom prst="curvedConnector5">
            <a:avLst>
              <a:gd name="adj1" fmla="val -9076"/>
              <a:gd name="adj2" fmla="val 40528"/>
              <a:gd name="adj3" fmla="val 112374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17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52662"/>
            <a:ext cx="1121343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 smtClean="0"/>
              <a:t>javafx.application.Application</a:t>
            </a:r>
            <a:r>
              <a:rPr lang="en-US" sz="1600" dirty="0" smtClean="0"/>
              <a:t>; </a:t>
            </a:r>
            <a:r>
              <a:rPr lang="en-US" sz="1600" dirty="0" smtClean="0">
                <a:solidFill>
                  <a:srgbClr val="FF0000"/>
                </a:solidFill>
              </a:rPr>
              <a:t>import</a:t>
            </a:r>
            <a:r>
              <a:rPr lang="en-US" sz="1600" dirty="0" smtClean="0"/>
              <a:t> </a:t>
            </a:r>
            <a:r>
              <a:rPr lang="en-US" sz="1600" dirty="0" err="1" smtClean="0"/>
              <a:t>javafx.scene.Scene</a:t>
            </a:r>
            <a:r>
              <a:rPr lang="en-US" sz="1600" dirty="0" smtClean="0"/>
              <a:t>; </a:t>
            </a:r>
          </a:p>
          <a:p>
            <a:r>
              <a:rPr lang="en-US" sz="1600" dirty="0" smtClean="0">
                <a:solidFill>
                  <a:srgbClr val="FF0000"/>
                </a:solidFill>
              </a:rPr>
              <a:t>import</a:t>
            </a:r>
            <a:r>
              <a:rPr lang="en-US" sz="1600" dirty="0" smtClean="0"/>
              <a:t> </a:t>
            </a:r>
            <a:r>
              <a:rPr lang="en-US" sz="1600" dirty="0" err="1" smtClean="0"/>
              <a:t>javafx.scene.control.Button</a:t>
            </a:r>
            <a:r>
              <a:rPr lang="en-US" sz="1600" dirty="0" smtClean="0"/>
              <a:t>; </a:t>
            </a:r>
            <a:r>
              <a:rPr lang="en-US" sz="1600" dirty="0" smtClean="0">
                <a:solidFill>
                  <a:srgbClr val="FF0000"/>
                </a:solidFill>
              </a:rPr>
              <a:t>import</a:t>
            </a:r>
            <a:r>
              <a:rPr lang="en-US" sz="1600" dirty="0" smtClean="0"/>
              <a:t> </a:t>
            </a:r>
            <a:r>
              <a:rPr lang="en-US" sz="1600" dirty="0" err="1"/>
              <a:t>javafx.scene.layout.StackPane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javafx.stage.Stage</a:t>
            </a:r>
            <a:r>
              <a:rPr lang="en-US" sz="1600" dirty="0" smtClean="0"/>
              <a:t>; </a:t>
            </a:r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/>
              <a:t>javafx.scene.paint.Color</a:t>
            </a:r>
            <a:r>
              <a:rPr lang="en-US" dirty="0"/>
              <a:t>; </a:t>
            </a:r>
            <a:endParaRPr lang="en-US" sz="1600" dirty="0"/>
          </a:p>
          <a:p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 smtClean="0">
                <a:solidFill>
                  <a:srgbClr val="FF0000"/>
                </a:solidFill>
              </a:rPr>
              <a:t>public </a:t>
            </a:r>
            <a:r>
              <a:rPr lang="en-US" sz="1600" dirty="0">
                <a:solidFill>
                  <a:srgbClr val="FF0000"/>
                </a:solidFill>
              </a:rPr>
              <a:t>class</a:t>
            </a:r>
            <a:r>
              <a:rPr lang="en-US" sz="1600" dirty="0"/>
              <a:t> HelloFX </a:t>
            </a:r>
            <a:r>
              <a:rPr lang="en-US" sz="1600" dirty="0">
                <a:solidFill>
                  <a:srgbClr val="FF0000"/>
                </a:solidFill>
              </a:rPr>
              <a:t>extends</a:t>
            </a:r>
            <a:r>
              <a:rPr lang="en-US" sz="1600" dirty="0"/>
              <a:t> Application {</a:t>
            </a:r>
          </a:p>
          <a:p>
            <a:r>
              <a:rPr lang="en-US" sz="1600" dirty="0" smtClean="0"/>
              <a:t>    </a:t>
            </a:r>
            <a:r>
              <a:rPr lang="en-US" sz="1600" dirty="0"/>
              <a:t>@Override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void start</a:t>
            </a:r>
            <a:r>
              <a:rPr lang="en-US" sz="1600" dirty="0"/>
              <a:t>(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Stage</a:t>
            </a:r>
            <a:r>
              <a:rPr lang="en-US" sz="1600" dirty="0"/>
              <a:t> stage) {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Button</a:t>
            </a:r>
            <a:r>
              <a:rPr lang="en-US" sz="1600" dirty="0"/>
              <a:t> </a:t>
            </a:r>
            <a:r>
              <a:rPr lang="en-US" sz="1600" dirty="0" err="1"/>
              <a:t>btn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Button</a:t>
            </a:r>
            <a:r>
              <a:rPr lang="en-US" sz="1600" dirty="0"/>
              <a:t>("Click Me");</a:t>
            </a:r>
          </a:p>
          <a:p>
            <a:r>
              <a:rPr lang="en-US" sz="1600" dirty="0" smtClean="0"/>
              <a:t>       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StackPane</a:t>
            </a:r>
            <a:r>
              <a:rPr lang="en-US" sz="1600" dirty="0"/>
              <a:t> root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StackPane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root.getChildren</a:t>
            </a:r>
            <a:r>
              <a:rPr lang="en-US" sz="1600" dirty="0"/>
              <a:t>().add(</a:t>
            </a:r>
            <a:r>
              <a:rPr lang="en-US" sz="1600" dirty="0" err="1"/>
              <a:t>btn</a:t>
            </a:r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600" dirty="0"/>
              <a:t> </a:t>
            </a:r>
            <a:r>
              <a:rPr lang="en-US" sz="1600" dirty="0" err="1"/>
              <a:t>scene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Scene(</a:t>
            </a:r>
            <a:r>
              <a:rPr lang="en-US" sz="1600" dirty="0"/>
              <a:t>root, 400, 300</a:t>
            </a:r>
            <a:r>
              <a:rPr lang="en-US" sz="1600" dirty="0" smtClean="0"/>
              <a:t>);</a:t>
            </a:r>
          </a:p>
          <a:p>
            <a:pPr lvl="2"/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//setting color to the scene </a:t>
            </a:r>
          </a:p>
          <a:p>
            <a:pPr lvl="2"/>
            <a:r>
              <a:rPr lang="en-US" dirty="0" err="1" smtClean="0"/>
              <a:t>scene.setFill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chemeClr val="accent2"/>
                </a:solidFill>
              </a:rPr>
              <a:t>Color.BROWN</a:t>
            </a:r>
            <a:r>
              <a:rPr lang="en-US" dirty="0" smtClean="0"/>
              <a:t>); 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stage.setTitle</a:t>
            </a:r>
            <a:r>
              <a:rPr lang="en-US" sz="1600" dirty="0"/>
              <a:t>("JavaFX Example");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stage.setScene</a:t>
            </a:r>
            <a:r>
              <a:rPr lang="en-US" sz="1600" dirty="0"/>
              <a:t>(scene);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stage.show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static void main</a:t>
            </a:r>
            <a:r>
              <a:rPr lang="en-US" sz="1600" dirty="0"/>
              <a:t>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sz="1600" dirty="0"/>
              <a:t>    </a:t>
            </a:r>
            <a:r>
              <a:rPr lang="en-US" sz="1600" dirty="0" smtClean="0"/>
              <a:t>} </a:t>
            </a:r>
          </a:p>
          <a:p>
            <a:r>
              <a:rPr lang="en-US" sz="1600" dirty="0" smtClean="0"/>
              <a:t>}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30" t="1984" b="2765"/>
          <a:stretch/>
        </p:blipFill>
        <p:spPr>
          <a:xfrm>
            <a:off x="7026441" y="1576137"/>
            <a:ext cx="4307305" cy="34650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676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Important </a:t>
            </a:r>
            <a:r>
              <a:rPr lang="en-US" b="1" dirty="0"/>
              <a:t>packages of </a:t>
            </a:r>
            <a:r>
              <a:rPr lang="en-US" b="1" dirty="0" smtClean="0"/>
              <a:t>JavaFX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javafx.application</a:t>
            </a:r>
            <a:r>
              <a:rPr lang="en-US" dirty="0"/>
              <a:t> − Contains a set of classes responsible for the JavaFX application life cycle.</a:t>
            </a:r>
          </a:p>
          <a:p>
            <a:r>
              <a:rPr lang="en-US" b="1" dirty="0" err="1" smtClean="0"/>
              <a:t>javafx.animation</a:t>
            </a:r>
            <a:r>
              <a:rPr lang="en-US" dirty="0"/>
              <a:t> − Contains classes to add transition based animations such as fill, fade, rotate, scale and translation, to the JavaFX nodes.</a:t>
            </a:r>
          </a:p>
          <a:p>
            <a:r>
              <a:rPr lang="en-US" b="1" dirty="0" smtClean="0"/>
              <a:t>javafx.css</a:t>
            </a:r>
            <a:r>
              <a:rPr lang="en-US" dirty="0"/>
              <a:t> − Contains classes to add </a:t>
            </a:r>
            <a:r>
              <a:rPr lang="en-US" dirty="0" err="1"/>
              <a:t>CSSlike</a:t>
            </a:r>
            <a:r>
              <a:rPr lang="en-US" dirty="0"/>
              <a:t> styling to JavaFX GUI applications.</a:t>
            </a:r>
          </a:p>
          <a:p>
            <a:r>
              <a:rPr lang="en-US" b="1" dirty="0" err="1"/>
              <a:t>javafx.event</a:t>
            </a:r>
            <a:r>
              <a:rPr lang="en-US" dirty="0"/>
              <a:t> − Contains classes and interfaces to deliver and handle JavaFX events.</a:t>
            </a:r>
          </a:p>
          <a:p>
            <a:r>
              <a:rPr lang="en-US" b="1" dirty="0" err="1"/>
              <a:t>javafx.geometry</a:t>
            </a:r>
            <a:r>
              <a:rPr lang="en-US" dirty="0"/>
              <a:t> − Contains classes to define 2D objects and perform operations on them.</a:t>
            </a:r>
          </a:p>
          <a:p>
            <a:r>
              <a:rPr lang="en-US" b="1" dirty="0" err="1"/>
              <a:t>javafx.stage</a:t>
            </a:r>
            <a:r>
              <a:rPr lang="en-US" dirty="0"/>
              <a:t> − This package holds the top level container classes for JavaFX application.</a:t>
            </a:r>
          </a:p>
          <a:p>
            <a:r>
              <a:rPr lang="en-US" b="1" dirty="0" err="1"/>
              <a:t>javafx.scene</a:t>
            </a:r>
            <a:r>
              <a:rPr lang="en-US" dirty="0"/>
              <a:t> − This package provides classes and interfaces to support the scene graph. In addition, it also provides sub-packages such as canvas, chart, control, effect, image, input, layout, media, paint, shape, text, transform, web, etc. There are several components that support this rich API of JavaFX.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943474" y="6460957"/>
            <a:ext cx="3124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Source:</a:t>
            </a:r>
            <a:r>
              <a:rPr lang="en-US" sz="1600" dirty="0" smtClean="0">
                <a:hlinkClick r:id="rId2"/>
              </a:rPr>
              <a:t>Tutorialspoint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686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CF3EB4-8CC0-4BCE-B65E-9298E774507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6276"/>
            <a:ext cx="7772400" cy="762000"/>
          </a:xfrm>
          <a:noFill/>
        </p:spPr>
        <p:txBody>
          <a:bodyPr>
            <a:normAutofit/>
          </a:bodyPr>
          <a:lstStyle/>
          <a:p>
            <a:r>
              <a:rPr lang="en-US" altLang="en-US" b="1" dirty="0"/>
              <a:t>Layout Panes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2231" y="1263315"/>
            <a:ext cx="10238873" cy="1515979"/>
          </a:xfrm>
          <a:noFill/>
        </p:spPr>
        <p:txBody>
          <a:bodyPr>
            <a:normAutofit/>
          </a:bodyPr>
          <a:lstStyle/>
          <a:p>
            <a:r>
              <a:rPr lang="en-US" altLang="en-US" sz="2800" dirty="0" smtClean="0"/>
              <a:t>Pans Layouts represent how nodes are arranged </a:t>
            </a:r>
            <a:r>
              <a:rPr lang="en-US" altLang="en-US" sz="2800" dirty="0"/>
              <a:t>in a container</a:t>
            </a:r>
            <a:r>
              <a:rPr lang="en-US" altLang="en-US" sz="2800" dirty="0" smtClean="0"/>
              <a:t>.</a:t>
            </a:r>
          </a:p>
          <a:p>
            <a:r>
              <a:rPr lang="en-US" altLang="en-US" sz="2800" dirty="0" smtClean="0"/>
              <a:t>Choosing the right Layout is 90% responsible for the responsiveness of the UI</a:t>
            </a:r>
            <a:endParaRPr lang="en-US" altLang="en-US" sz="28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843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7" y="2994333"/>
            <a:ext cx="8391525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65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E2ACA3-2E51-44A7-9A6D-CEA76712685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862263" y="133711"/>
            <a:ext cx="7772400" cy="838200"/>
          </a:xfrm>
          <a:noFill/>
        </p:spPr>
        <p:txBody>
          <a:bodyPr>
            <a:noAutofit/>
          </a:bodyPr>
          <a:lstStyle/>
          <a:p>
            <a:r>
              <a:rPr lang="en-US" altLang="en-US" b="1" dirty="0"/>
              <a:t>Panes, UI Controls, and </a:t>
            </a:r>
            <a:r>
              <a:rPr lang="en-US" altLang="en-US" b="1" dirty="0" smtClean="0"/>
              <a:t>Shapes</a:t>
            </a:r>
            <a:endParaRPr lang="en-US" altLang="en-US" b="1" dirty="0"/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1" y="3152259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1676401" y="3304659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8205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132" y="1236301"/>
            <a:ext cx="8485188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159139"/>
            <a:ext cx="924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http://docs.oracle.com/javafx/2/scenegraph/jfxpub-scenegraph.htm</a:t>
            </a:r>
          </a:p>
        </p:txBody>
      </p:sp>
    </p:spTree>
    <p:extLst>
      <p:ext uri="{BB962C8B-B14F-4D97-AF65-F5344CB8AC3E}">
        <p14:creationId xmlns:p14="http://schemas.microsoft.com/office/powerpoint/2010/main" val="158807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28575"/>
            <a:ext cx="12192000" cy="6800850"/>
            <a:chOff x="0" y="28575"/>
            <a:chExt cx="12192000" cy="680085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8575"/>
              <a:ext cx="12192000" cy="680085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1189366" y="6605339"/>
              <a:ext cx="942474" cy="156410"/>
            </a:xfrm>
            <a:prstGeom prst="rect">
              <a:avLst/>
            </a:prstGeom>
            <a:solidFill>
              <a:srgbClr val="F1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97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092647"/>
              </p:ext>
            </p:extLst>
          </p:nvPr>
        </p:nvGraphicFramePr>
        <p:xfrm>
          <a:off x="1221205" y="1540042"/>
          <a:ext cx="9749590" cy="4518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9590">
                  <a:extLst>
                    <a:ext uri="{9D8B030D-6E8A-4147-A177-3AD203B41FA5}">
                      <a16:colId xmlns:a16="http://schemas.microsoft.com/office/drawing/2014/main" val="1830065928"/>
                    </a:ext>
                  </a:extLst>
                </a:gridCol>
              </a:tblGrid>
              <a:tr h="74685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530019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96627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665456"/>
                  </a:ext>
                </a:extLst>
              </a:tr>
              <a:tr h="1088014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74670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502676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8878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/>
          </p:cNvPicPr>
          <p:nvPr/>
        </p:nvPicPr>
        <p:blipFill rotWithShape="1">
          <a:blip r:embed="rId3"/>
          <a:srcRect t="3594" b="3775"/>
          <a:stretch/>
        </p:blipFill>
        <p:spPr>
          <a:xfrm>
            <a:off x="0" y="108284"/>
            <a:ext cx="12192000" cy="654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Basic UI </a:t>
            </a:r>
            <a:r>
              <a:rPr lang="en-US" b="1" dirty="0" smtClean="0"/>
              <a:t>Controls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967750"/>
              </p:ext>
            </p:extLst>
          </p:nvPr>
        </p:nvGraphicFramePr>
        <p:xfrm>
          <a:off x="1221205" y="1540042"/>
          <a:ext cx="9749590" cy="4518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9590">
                  <a:extLst>
                    <a:ext uri="{9D8B030D-6E8A-4147-A177-3AD203B41FA5}">
                      <a16:colId xmlns:a16="http://schemas.microsoft.com/office/drawing/2014/main" val="1830065928"/>
                    </a:ext>
                  </a:extLst>
                </a:gridCol>
              </a:tblGrid>
              <a:tr h="74685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</a:p>
                    <a:p>
                      <a:pPr marL="9144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 component for displaying text.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530019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  <a:latin typeface="inherit"/>
                        </a:rPr>
                        <a:t>Button</a:t>
                      </a:r>
                      <a:endParaRPr lang="en-US" sz="2000" dirty="0">
                        <a:effectLst/>
                      </a:endParaRPr>
                    </a:p>
                    <a:p>
                      <a:pPr marL="914400" indent="-228600" algn="l" defTabSz="68576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 class used for creating buttons.</a:t>
                      </a: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96627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  <a:latin typeface="inherit"/>
                        </a:rPr>
                        <a:t>Menu</a:t>
                      </a:r>
                      <a:endParaRPr lang="en-US" sz="2000" dirty="0">
                        <a:effectLst/>
                      </a:endParaRPr>
                    </a:p>
                    <a:p>
                      <a:pPr marL="914400" indent="-228600" algn="l" defTabSz="68576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 a list of commands or options.</a:t>
                      </a: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665456"/>
                  </a:ext>
                </a:extLst>
              </a:tr>
              <a:tr h="1088014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  <a:latin typeface="inherit"/>
                        </a:rPr>
                        <a:t>ToolTip</a:t>
                      </a:r>
                      <a:endParaRPr lang="en-US" sz="2000" dirty="0">
                        <a:effectLst/>
                      </a:endParaRPr>
                    </a:p>
                    <a:p>
                      <a:pPr marL="914400" indent="-228600" algn="l" defTabSz="68576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pop-up window that displays some additional information about other UI elements.</a:t>
                      </a: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74670"/>
                  </a:ext>
                </a:extLst>
              </a:tr>
              <a:tr h="756078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  <a:latin typeface="inherit"/>
                        </a:rPr>
                        <a:t>TextField</a:t>
                      </a:r>
                      <a:endParaRPr lang="en-US" sz="2000" dirty="0">
                        <a:effectLst/>
                      </a:endParaRPr>
                    </a:p>
                    <a:p>
                      <a:pPr marL="914400" indent="-228600" algn="l" defTabSz="68576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Accepts and displays user input.</a:t>
                      </a:r>
                    </a:p>
                  </a:txBody>
                  <a:tcPr marL="50800" marR="50800" marT="50800" marB="508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502676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8878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rcRect t="2838" b="81087"/>
          <a:stretch/>
        </p:blipFill>
        <p:spPr>
          <a:xfrm>
            <a:off x="0" y="244813"/>
            <a:ext cx="12192000" cy="112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4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838" b="4533"/>
          <a:stretch/>
        </p:blipFill>
        <p:spPr>
          <a:xfrm>
            <a:off x="0" y="365129"/>
            <a:ext cx="12192000" cy="64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7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-4686" b="-1"/>
          <a:stretch/>
        </p:blipFill>
        <p:spPr>
          <a:xfrm>
            <a:off x="637674" y="1347537"/>
            <a:ext cx="10716126" cy="1791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1421" y="3278248"/>
            <a:ext cx="110690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Line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is a class that represents a line. In general, line is a two-dimensional geometrical shape consist of two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Rectangle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is a class used for creating a 2D rectangular shape. In mathematical terms, rectangle is a four-sided polygon.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JavaFX class represents a three-dimensional shape having length, width and height.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Cylinder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is a JavaFX class used to create a Cylinder. In general, cylinder is a closed solid figure that has two properties namely radius and height.</a:t>
            </a:r>
          </a:p>
        </p:txBody>
      </p:sp>
    </p:spTree>
    <p:extLst>
      <p:ext uri="{BB962C8B-B14F-4D97-AF65-F5344CB8AC3E}">
        <p14:creationId xmlns:p14="http://schemas.microsoft.com/office/powerpoint/2010/main" val="271381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557732"/>
            <a:ext cx="11069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Line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96326" y="87972"/>
            <a:ext cx="7210927" cy="6955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javafx.application.Application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javafx.scene.Scene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javafx.scene.layout.Pane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javafx.scene.paint.Color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javafx.scene.shape.Line</a:t>
            </a:r>
            <a:r>
              <a:rPr lang="en-US" sz="1600" dirty="0"/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/>
              <a:t>javafx.stage.Stage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public class </a:t>
            </a:r>
            <a:r>
              <a:rPr lang="en-US" sz="1600" dirty="0" err="1"/>
              <a:t>LineExample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extends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</a:t>
            </a:r>
            <a:r>
              <a:rPr lang="en-US" sz="1600" dirty="0"/>
              <a:t> {</a:t>
            </a:r>
          </a:p>
          <a:p>
            <a:endParaRPr lang="en-US" sz="1600" dirty="0"/>
          </a:p>
          <a:p>
            <a:r>
              <a:rPr lang="en-US" sz="1600" dirty="0"/>
              <a:t>    @Override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void</a:t>
            </a:r>
            <a:r>
              <a:rPr lang="en-US" sz="1600" dirty="0"/>
              <a:t> start(Stage stage) {</a:t>
            </a:r>
          </a:p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Line </a:t>
            </a:r>
            <a:r>
              <a:rPr lang="en-US" sz="1600" dirty="0" err="1"/>
              <a:t>line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Line</a:t>
            </a:r>
            <a:r>
              <a:rPr lang="en-US" sz="1600" dirty="0"/>
              <a:t>(50, 50, 250, 200);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line.setStroke</a:t>
            </a:r>
            <a:r>
              <a:rPr lang="en-US" sz="1600" dirty="0"/>
              <a:t>(</a:t>
            </a:r>
            <a:r>
              <a:rPr lang="en-US" sz="1600" dirty="0" err="1"/>
              <a:t>Color.BLUE</a:t>
            </a:r>
            <a:r>
              <a:rPr lang="en-US" sz="1600" dirty="0"/>
              <a:t>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line.setStrokeWidth</a:t>
            </a:r>
            <a:r>
              <a:rPr lang="en-US" sz="1600" dirty="0"/>
              <a:t>(3);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Pane </a:t>
            </a:r>
            <a:r>
              <a:rPr lang="en-US" sz="1600" dirty="0"/>
              <a:t>root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Pane</a:t>
            </a:r>
            <a:r>
              <a:rPr lang="en-US" sz="1600" dirty="0"/>
              <a:t>(line);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600" dirty="0"/>
              <a:t> </a:t>
            </a:r>
            <a:r>
              <a:rPr lang="en-US" sz="1600" dirty="0" err="1"/>
              <a:t>scene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600" dirty="0"/>
              <a:t>(root, 300, 250);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stage.setTitle</a:t>
            </a:r>
            <a:r>
              <a:rPr lang="en-US" sz="1600" dirty="0"/>
              <a:t>("Line Example");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stage.setScene</a:t>
            </a:r>
            <a:r>
              <a:rPr lang="en-US" sz="1600" dirty="0"/>
              <a:t>(scene);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stage.show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static void main</a:t>
            </a:r>
            <a:r>
              <a:rPr lang="en-US" sz="1600" dirty="0"/>
              <a:t>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674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506026"/>
            <a:ext cx="2494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Rectangle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0685" y="0"/>
            <a:ext cx="8121315" cy="6955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javafx.scene.Scene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javafx.scene.layout.Pane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javafx.scene.paint.Color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javafx.scene.shape.Rectangle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public class </a:t>
            </a:r>
            <a:r>
              <a:rPr lang="en-US" sz="1600" dirty="0" err="1"/>
              <a:t>RectangleExample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extends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</a:t>
            </a:r>
            <a:r>
              <a:rPr lang="en-US" sz="1600" dirty="0"/>
              <a:t> {</a:t>
            </a:r>
          </a:p>
          <a:p>
            <a:endParaRPr lang="en-US" sz="1600" dirty="0"/>
          </a:p>
          <a:p>
            <a:r>
              <a:rPr lang="en-US" sz="1600" dirty="0"/>
              <a:t>    @Override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void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sz="1600" dirty="0"/>
              <a:t>(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Stage</a:t>
            </a:r>
            <a:r>
              <a:rPr lang="en-US" sz="1600" dirty="0"/>
              <a:t> stage) {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Rectangle</a:t>
            </a:r>
            <a:r>
              <a:rPr lang="en-US" sz="1600" dirty="0"/>
              <a:t> </a:t>
            </a:r>
            <a:r>
              <a:rPr lang="en-US" sz="1600" dirty="0" err="1"/>
              <a:t>rectangle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Rectangle</a:t>
            </a:r>
            <a:r>
              <a:rPr lang="en-US" sz="1600" dirty="0"/>
              <a:t>(100, 75, 200, 100);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rectangle.setFill</a:t>
            </a:r>
            <a:r>
              <a:rPr lang="en-US" sz="1600" dirty="0"/>
              <a:t>(</a:t>
            </a:r>
            <a:r>
              <a:rPr lang="en-US" sz="1600" dirty="0" err="1"/>
              <a:t>Color.LIGHTGREEN</a:t>
            </a:r>
            <a:r>
              <a:rPr lang="en-US" sz="1600" dirty="0"/>
              <a:t>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rectangle.setStroke</a:t>
            </a:r>
            <a:r>
              <a:rPr lang="en-US" sz="1600" dirty="0"/>
              <a:t>(</a:t>
            </a:r>
            <a:r>
              <a:rPr lang="en-US" sz="1600" dirty="0" err="1"/>
              <a:t>Color.BLACK</a:t>
            </a:r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Pane </a:t>
            </a:r>
            <a:r>
              <a:rPr lang="en-US" sz="1600" dirty="0"/>
              <a:t>root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Pane</a:t>
            </a:r>
            <a:r>
              <a:rPr lang="en-US" sz="1600" dirty="0"/>
              <a:t>(rectangle);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600" dirty="0"/>
              <a:t> </a:t>
            </a:r>
            <a:r>
              <a:rPr lang="en-US" sz="1600" dirty="0" err="1"/>
              <a:t>scene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600" dirty="0"/>
              <a:t>(root, 400, 250);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stage.setTitle</a:t>
            </a:r>
            <a:r>
              <a:rPr lang="en-US" sz="1600" dirty="0"/>
              <a:t>("Rectangle Example");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stage.setScene</a:t>
            </a:r>
            <a:r>
              <a:rPr lang="en-US" sz="1600" dirty="0"/>
              <a:t>(scene);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stage.show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static void </a:t>
            </a:r>
            <a:r>
              <a:rPr lang="en-US" sz="1600" dirty="0"/>
              <a:t>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620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449448"/>
            <a:ext cx="30239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Box (3D shape)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32420" y="785106"/>
            <a:ext cx="7347285" cy="598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500" dirty="0"/>
          </a:p>
          <a:p>
            <a:r>
              <a:rPr lang="en-US" sz="1600" dirty="0">
                <a:solidFill>
                  <a:srgbClr val="FF0000"/>
                </a:solidFill>
              </a:rPr>
              <a:t>public class </a:t>
            </a:r>
            <a:r>
              <a:rPr lang="en-US" sz="1500" dirty="0" err="1"/>
              <a:t>BoxExample</a:t>
            </a:r>
            <a:r>
              <a:rPr lang="en-US" sz="15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extends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 </a:t>
            </a:r>
            <a:r>
              <a:rPr lang="en-US" sz="1500" dirty="0"/>
              <a:t>{</a:t>
            </a:r>
          </a:p>
          <a:p>
            <a:endParaRPr lang="en-US" sz="1500" dirty="0"/>
          </a:p>
          <a:p>
            <a:r>
              <a:rPr lang="en-US" sz="1500" dirty="0"/>
              <a:t>    @Override</a:t>
            </a:r>
          </a:p>
          <a:p>
            <a:r>
              <a:rPr lang="en-US" sz="15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void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sz="1500" dirty="0"/>
              <a:t>(Stage stage) {</a:t>
            </a:r>
          </a:p>
          <a:p>
            <a:r>
              <a:rPr lang="en-US" sz="15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Box</a:t>
            </a:r>
            <a:r>
              <a:rPr lang="en-US" sz="1500" dirty="0"/>
              <a:t> </a:t>
            </a:r>
            <a:r>
              <a:rPr lang="en-US" sz="1500" dirty="0" err="1"/>
              <a:t>box</a:t>
            </a:r>
            <a:r>
              <a:rPr lang="en-US" sz="15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5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Box</a:t>
            </a:r>
            <a:r>
              <a:rPr lang="en-US" sz="1500" dirty="0"/>
              <a:t>(150, 150, 150);</a:t>
            </a:r>
          </a:p>
          <a:p>
            <a:endParaRPr lang="en-US" sz="1500" dirty="0"/>
          </a:p>
          <a:p>
            <a:r>
              <a:rPr lang="en-US" sz="1500" dirty="0"/>
              <a:t>       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PhongMaterial</a:t>
            </a:r>
            <a:r>
              <a:rPr lang="en-US" sz="1500" dirty="0"/>
              <a:t> material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5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PhongMaterial</a:t>
            </a:r>
            <a:r>
              <a:rPr lang="en-US" sz="1500" dirty="0"/>
              <a:t>();</a:t>
            </a:r>
          </a:p>
          <a:p>
            <a:r>
              <a:rPr lang="en-US" sz="1500" dirty="0"/>
              <a:t>        </a:t>
            </a:r>
            <a:r>
              <a:rPr lang="en-US" sz="1500" dirty="0" err="1"/>
              <a:t>material.setDiffuseColor</a:t>
            </a:r>
            <a:r>
              <a:rPr lang="en-US" sz="1500" dirty="0"/>
              <a:t>(</a:t>
            </a:r>
            <a:r>
              <a:rPr lang="en-US" sz="1500" dirty="0" err="1"/>
              <a:t>Color.CORNFLOWERBLUE</a:t>
            </a:r>
            <a:r>
              <a:rPr lang="en-US" sz="1500" dirty="0"/>
              <a:t>);</a:t>
            </a:r>
          </a:p>
          <a:p>
            <a:r>
              <a:rPr lang="en-US" sz="1500" dirty="0"/>
              <a:t>        </a:t>
            </a:r>
            <a:r>
              <a:rPr lang="en-US" sz="1500" dirty="0" err="1"/>
              <a:t>box.setMaterial</a:t>
            </a:r>
            <a:r>
              <a:rPr lang="en-US" sz="1500" dirty="0"/>
              <a:t>(material);</a:t>
            </a:r>
          </a:p>
          <a:p>
            <a:endParaRPr lang="en-US" sz="1500" dirty="0"/>
          </a:p>
          <a:p>
            <a:r>
              <a:rPr lang="en-US" sz="15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sz="1500" dirty="0"/>
              <a:t> root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5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sz="1500" dirty="0"/>
              <a:t>(box);</a:t>
            </a:r>
          </a:p>
          <a:p>
            <a:endParaRPr lang="en-US" sz="1500" dirty="0"/>
          </a:p>
          <a:p>
            <a:r>
              <a:rPr lang="en-US" sz="15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500" dirty="0"/>
              <a:t> </a:t>
            </a:r>
            <a:r>
              <a:rPr lang="en-US" sz="1500" dirty="0" err="1"/>
              <a:t>scene</a:t>
            </a:r>
            <a:r>
              <a:rPr lang="en-US" sz="1500" dirty="0"/>
              <a:t> = </a:t>
            </a:r>
            <a:r>
              <a:rPr lang="en-US" sz="1600" dirty="0">
                <a:solidFill>
                  <a:srgbClr val="FF0000"/>
                </a:solidFill>
              </a:rPr>
              <a:t>new</a:t>
            </a:r>
            <a:r>
              <a:rPr lang="en-US" sz="1500" dirty="0"/>
              <a:t>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500" dirty="0"/>
              <a:t>(root, 400, 400, true);</a:t>
            </a:r>
          </a:p>
          <a:p>
            <a:r>
              <a:rPr lang="en-US" sz="1500" dirty="0"/>
              <a:t>        </a:t>
            </a:r>
            <a:r>
              <a:rPr lang="en-US" sz="1500" dirty="0" err="1"/>
              <a:t>scene.setCamera</a:t>
            </a:r>
            <a:r>
              <a:rPr lang="en-US" sz="1500" dirty="0"/>
              <a:t>(new </a:t>
            </a:r>
            <a:r>
              <a:rPr lang="en-US" sz="1500" dirty="0" err="1"/>
              <a:t>PerspectiveCamera</a:t>
            </a:r>
            <a:r>
              <a:rPr lang="en-US" sz="1500" dirty="0"/>
              <a:t>());</a:t>
            </a:r>
          </a:p>
          <a:p>
            <a:endParaRPr lang="en-US" sz="1500" dirty="0"/>
          </a:p>
          <a:p>
            <a:r>
              <a:rPr lang="en-US" sz="1500" dirty="0"/>
              <a:t>        </a:t>
            </a:r>
            <a:r>
              <a:rPr lang="en-US" sz="1500" dirty="0" err="1"/>
              <a:t>stage.setTitle</a:t>
            </a:r>
            <a:r>
              <a:rPr lang="en-US" sz="1500" dirty="0"/>
              <a:t>("Box Example");</a:t>
            </a:r>
          </a:p>
          <a:p>
            <a:r>
              <a:rPr lang="en-US" sz="1500" dirty="0"/>
              <a:t>        </a:t>
            </a:r>
            <a:r>
              <a:rPr lang="en-US" sz="1500" dirty="0" err="1"/>
              <a:t>stage.setScene</a:t>
            </a:r>
            <a:r>
              <a:rPr lang="en-US" sz="1500" dirty="0"/>
              <a:t>(scene);</a:t>
            </a:r>
          </a:p>
          <a:p>
            <a:r>
              <a:rPr lang="en-US" sz="1500" dirty="0"/>
              <a:t>        </a:t>
            </a:r>
            <a:r>
              <a:rPr lang="en-US" sz="1500" dirty="0" err="1"/>
              <a:t>stage.show</a:t>
            </a:r>
            <a:r>
              <a:rPr lang="en-US" sz="1500" dirty="0"/>
              <a:t>();</a:t>
            </a:r>
          </a:p>
          <a:p>
            <a:r>
              <a:rPr lang="en-US" sz="1500" dirty="0"/>
              <a:t>    }</a:t>
            </a:r>
          </a:p>
          <a:p>
            <a:endParaRPr lang="en-US" sz="1500" dirty="0"/>
          </a:p>
          <a:p>
            <a:r>
              <a:rPr lang="en-US" sz="1500" dirty="0"/>
              <a:t>    </a:t>
            </a:r>
            <a:r>
              <a:rPr lang="en-US" sz="1600" dirty="0">
                <a:solidFill>
                  <a:srgbClr val="FF0000"/>
                </a:solidFill>
              </a:rPr>
              <a:t>public static void </a:t>
            </a:r>
            <a:r>
              <a:rPr lang="en-US" sz="1500" dirty="0"/>
              <a:t>main(String[] </a:t>
            </a:r>
            <a:r>
              <a:rPr lang="en-US" sz="1500" dirty="0" err="1"/>
              <a:t>args</a:t>
            </a:r>
            <a:r>
              <a:rPr lang="en-US" sz="1500" dirty="0"/>
              <a:t>) {</a:t>
            </a:r>
          </a:p>
          <a:p>
            <a:r>
              <a:rPr lang="en-US" sz="1500" dirty="0"/>
              <a:t>        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sz="1500" dirty="0"/>
              <a:t>    }</a:t>
            </a:r>
          </a:p>
          <a:p>
            <a:r>
              <a:rPr lang="en-US" sz="15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411" y="3147784"/>
            <a:ext cx="50893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javafx.scene.paint.Color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javafx.scene.paint.PhongMaterial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javafx.scene.shape.Box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1892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846490"/>
            <a:ext cx="2326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Cylinder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08884" y="497473"/>
            <a:ext cx="7283116" cy="620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 smtClean="0">
                <a:solidFill>
                  <a:srgbClr val="FF0000"/>
                </a:solidFill>
              </a:rPr>
              <a:t>public </a:t>
            </a:r>
            <a:r>
              <a:rPr lang="en-US" sz="1700" dirty="0">
                <a:solidFill>
                  <a:srgbClr val="FF0000"/>
                </a:solidFill>
              </a:rPr>
              <a:t>class </a:t>
            </a:r>
            <a:r>
              <a:rPr lang="en-US" sz="1700" dirty="0" err="1"/>
              <a:t>CylinderExample</a:t>
            </a:r>
            <a:r>
              <a:rPr lang="en-US" sz="1700" dirty="0"/>
              <a:t> </a:t>
            </a:r>
            <a:r>
              <a:rPr lang="en-US" sz="1700" dirty="0">
                <a:solidFill>
                  <a:srgbClr val="FF0000"/>
                </a:solidFill>
              </a:rPr>
              <a:t>extends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</a:t>
            </a:r>
            <a:r>
              <a:rPr lang="en-US" sz="1700" dirty="0"/>
              <a:t> {</a:t>
            </a:r>
          </a:p>
          <a:p>
            <a:endParaRPr lang="en-US" sz="1100" dirty="0"/>
          </a:p>
          <a:p>
            <a:r>
              <a:rPr lang="en-US" sz="1700" dirty="0"/>
              <a:t>    @Override</a:t>
            </a:r>
          </a:p>
          <a:p>
            <a:r>
              <a:rPr lang="en-US" sz="1700" dirty="0"/>
              <a:t>    </a:t>
            </a:r>
            <a:r>
              <a:rPr lang="en-US" sz="1700" dirty="0">
                <a:solidFill>
                  <a:srgbClr val="FF0000"/>
                </a:solidFill>
              </a:rPr>
              <a:t>public void </a:t>
            </a:r>
            <a:r>
              <a:rPr lang="en-US" sz="1700" dirty="0"/>
              <a:t>start(Stage stage) {</a:t>
            </a:r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Cylinder</a:t>
            </a:r>
            <a:r>
              <a:rPr lang="en-US" sz="1700" dirty="0"/>
              <a:t> </a:t>
            </a:r>
            <a:r>
              <a:rPr lang="en-US" sz="1700" dirty="0" err="1"/>
              <a:t>cylinder</a:t>
            </a:r>
            <a:r>
              <a:rPr lang="en-US" sz="1700" dirty="0"/>
              <a:t>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Cylinder</a:t>
            </a:r>
            <a:r>
              <a:rPr lang="en-US" sz="1700" dirty="0"/>
              <a:t>(80, 200);</a:t>
            </a:r>
          </a:p>
          <a:p>
            <a:endParaRPr lang="en-US" sz="1700" dirty="0"/>
          </a:p>
          <a:p>
            <a:r>
              <a:rPr lang="en-US" sz="1700" dirty="0"/>
              <a:t>       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PhongMaterial</a:t>
            </a:r>
            <a:r>
              <a:rPr lang="en-US" sz="1700" dirty="0"/>
              <a:t> material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PhongMaterial</a:t>
            </a:r>
            <a:r>
              <a:rPr lang="en-US" sz="1700" dirty="0"/>
              <a:t>();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material.setDiffuseColor</a:t>
            </a:r>
            <a:r>
              <a:rPr lang="en-US" sz="1700" dirty="0"/>
              <a:t>(</a:t>
            </a:r>
            <a:r>
              <a:rPr lang="en-US" sz="1700" dirty="0" err="1"/>
              <a:t>Color.ORANGE</a:t>
            </a:r>
            <a:r>
              <a:rPr lang="en-US" sz="1700" dirty="0"/>
              <a:t>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cylinder.setMaterial</a:t>
            </a:r>
            <a:r>
              <a:rPr lang="en-US" sz="1700" dirty="0"/>
              <a:t>(material);</a:t>
            </a:r>
          </a:p>
          <a:p>
            <a:endParaRPr lang="en-US" sz="1700" dirty="0"/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 </a:t>
            </a:r>
            <a:r>
              <a:rPr lang="en-US" sz="1700" dirty="0"/>
              <a:t>root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sz="1700" dirty="0"/>
              <a:t>(cylinder);</a:t>
            </a:r>
          </a:p>
          <a:p>
            <a:endParaRPr lang="en-US" sz="1700" dirty="0"/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700" dirty="0"/>
              <a:t> </a:t>
            </a:r>
            <a:r>
              <a:rPr lang="en-US" sz="1700" dirty="0" err="1"/>
              <a:t>scene</a:t>
            </a:r>
            <a:r>
              <a:rPr lang="en-US" sz="1700" dirty="0"/>
              <a:t>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700" dirty="0"/>
              <a:t>(root, 400, 400, true);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scene.setCamera</a:t>
            </a:r>
            <a:r>
              <a:rPr lang="en-US" sz="1700" dirty="0"/>
              <a:t>(new </a:t>
            </a:r>
            <a:r>
              <a:rPr lang="en-US" sz="1700" dirty="0" err="1"/>
              <a:t>PerspectiveCamera</a:t>
            </a:r>
            <a:r>
              <a:rPr lang="en-US" sz="1700" dirty="0"/>
              <a:t>());</a:t>
            </a:r>
          </a:p>
          <a:p>
            <a:endParaRPr lang="en-US" sz="1700" dirty="0"/>
          </a:p>
          <a:p>
            <a:r>
              <a:rPr lang="en-US" sz="1700" dirty="0"/>
              <a:t>        </a:t>
            </a:r>
            <a:r>
              <a:rPr lang="en-US" sz="1700" dirty="0" err="1"/>
              <a:t>stage.setTitle</a:t>
            </a:r>
            <a:r>
              <a:rPr lang="en-US" sz="1700" dirty="0"/>
              <a:t>("Cylinder Example");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stage.setScene</a:t>
            </a:r>
            <a:r>
              <a:rPr lang="en-US" sz="1700" dirty="0"/>
              <a:t>(scene);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stage.show</a:t>
            </a:r>
            <a:r>
              <a:rPr lang="en-US" sz="1700" dirty="0"/>
              <a:t>();</a:t>
            </a:r>
          </a:p>
          <a:p>
            <a:r>
              <a:rPr lang="en-US" sz="1700" dirty="0"/>
              <a:t>    }</a:t>
            </a:r>
          </a:p>
          <a:p>
            <a:endParaRPr lang="en-US" sz="1200" dirty="0"/>
          </a:p>
          <a:p>
            <a:r>
              <a:rPr lang="en-US" sz="1700" dirty="0"/>
              <a:t>    </a:t>
            </a:r>
            <a:r>
              <a:rPr lang="en-US" sz="1700" dirty="0">
                <a:solidFill>
                  <a:srgbClr val="FF0000"/>
                </a:solidFill>
              </a:rPr>
              <a:t>public static void </a:t>
            </a:r>
            <a:r>
              <a:rPr lang="en-US" sz="1700" dirty="0"/>
              <a:t>main(String[] </a:t>
            </a:r>
            <a:r>
              <a:rPr lang="en-US" sz="1700" dirty="0" err="1"/>
              <a:t>args</a:t>
            </a:r>
            <a:r>
              <a:rPr lang="en-US" sz="1700" dirty="0"/>
              <a:t>) {</a:t>
            </a:r>
          </a:p>
          <a:p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launch();</a:t>
            </a:r>
          </a:p>
          <a:p>
            <a:r>
              <a:rPr lang="en-US" sz="1700" dirty="0"/>
              <a:t>    }</a:t>
            </a:r>
          </a:p>
          <a:p>
            <a:r>
              <a:rPr lang="en-US" sz="17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84" y="3105289"/>
            <a:ext cx="52858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javafx.scene.paint.Color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javafx.scene.paint.PhongMaterial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javafx.scene.shape.Cylinder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878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Shapes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846490"/>
            <a:ext cx="2326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Circle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9358" y="145938"/>
            <a:ext cx="7186863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import</a:t>
            </a:r>
            <a:r>
              <a:rPr lang="en-US" sz="1700" dirty="0"/>
              <a:t>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700" dirty="0">
                <a:solidFill>
                  <a:srgbClr val="FF0000"/>
                </a:solidFill>
              </a:rPr>
              <a:t>import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700" dirty="0">
                <a:solidFill>
                  <a:srgbClr val="FF0000"/>
                </a:solidFill>
              </a:rPr>
              <a:t>import</a:t>
            </a:r>
            <a:r>
              <a:rPr lang="en-US" sz="1700" dirty="0"/>
              <a:t>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javafx.scene.paint.Color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700" dirty="0">
                <a:solidFill>
                  <a:srgbClr val="FF0000"/>
                </a:solidFill>
              </a:rPr>
              <a:t>import</a:t>
            </a:r>
            <a:r>
              <a:rPr lang="en-US" sz="1700" dirty="0"/>
              <a:t>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javafx.scene.shape.Circle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700" dirty="0">
                <a:solidFill>
                  <a:srgbClr val="FF0000"/>
                </a:solidFill>
              </a:rPr>
              <a:t>import</a:t>
            </a:r>
            <a:r>
              <a:rPr lang="en-US" sz="1700" dirty="0"/>
              <a:t> </a:t>
            </a:r>
            <a:r>
              <a:rPr lang="en-US" sz="17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endParaRPr lang="en-US" sz="1200" dirty="0"/>
          </a:p>
          <a:p>
            <a:r>
              <a:rPr lang="en-US" sz="1700" dirty="0">
                <a:solidFill>
                  <a:srgbClr val="FF0000"/>
                </a:solidFill>
              </a:rPr>
              <a:t>public class </a:t>
            </a:r>
            <a:r>
              <a:rPr lang="en-US" sz="1700" dirty="0" err="1"/>
              <a:t>CircleExample</a:t>
            </a:r>
            <a:r>
              <a:rPr lang="en-US" sz="1700" dirty="0"/>
              <a:t> </a:t>
            </a:r>
            <a:r>
              <a:rPr lang="en-US" sz="1700" dirty="0">
                <a:solidFill>
                  <a:srgbClr val="FF0000"/>
                </a:solidFill>
              </a:rPr>
              <a:t>extends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 </a:t>
            </a:r>
            <a:r>
              <a:rPr lang="en-US" sz="1700" dirty="0"/>
              <a:t>{</a:t>
            </a:r>
          </a:p>
          <a:p>
            <a:endParaRPr lang="en-US" sz="1050" dirty="0"/>
          </a:p>
          <a:p>
            <a:r>
              <a:rPr lang="en-US" sz="1700" dirty="0"/>
              <a:t>    @Override</a:t>
            </a:r>
          </a:p>
          <a:p>
            <a:r>
              <a:rPr lang="en-US" sz="1700" dirty="0"/>
              <a:t>    </a:t>
            </a:r>
            <a:r>
              <a:rPr lang="en-US" sz="1700" dirty="0">
                <a:solidFill>
                  <a:srgbClr val="FF0000"/>
                </a:solidFill>
              </a:rPr>
              <a:t>public void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sz="1700" dirty="0"/>
              <a:t>(Stage stage) {</a:t>
            </a:r>
          </a:p>
          <a:p>
            <a:endParaRPr lang="en-US" sz="1700" dirty="0"/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Circle </a:t>
            </a:r>
            <a:r>
              <a:rPr lang="en-US" sz="1700" dirty="0" err="1"/>
              <a:t>circle</a:t>
            </a:r>
            <a:r>
              <a:rPr lang="en-US" sz="1700" dirty="0"/>
              <a:t>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Circle</a:t>
            </a:r>
            <a:r>
              <a:rPr lang="en-US" sz="1700" dirty="0"/>
              <a:t>(150, 100, 50);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circle.setFill</a:t>
            </a:r>
            <a:r>
              <a:rPr lang="en-US" sz="1700" dirty="0"/>
              <a:t>(</a:t>
            </a:r>
            <a:r>
              <a:rPr lang="en-US" sz="1700" dirty="0" err="1"/>
              <a:t>Color.LIGHTBLUE</a:t>
            </a:r>
            <a:r>
              <a:rPr lang="en-US" sz="1700" dirty="0"/>
              <a:t>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circle.setStroke</a:t>
            </a:r>
            <a:r>
              <a:rPr lang="en-US" sz="1700" dirty="0"/>
              <a:t>(</a:t>
            </a:r>
            <a:r>
              <a:rPr lang="en-US" sz="1700" dirty="0" err="1"/>
              <a:t>Color.BLACK</a:t>
            </a:r>
            <a:r>
              <a:rPr lang="en-US" sz="1700" dirty="0"/>
              <a:t>);</a:t>
            </a:r>
          </a:p>
          <a:p>
            <a:endParaRPr lang="en-US" sz="1050" dirty="0"/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sz="1700" dirty="0"/>
              <a:t> root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sz="1700" dirty="0"/>
              <a:t>(circle);</a:t>
            </a:r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700" dirty="0"/>
              <a:t> </a:t>
            </a:r>
            <a:r>
              <a:rPr lang="en-US" sz="1700" dirty="0" err="1"/>
              <a:t>scene</a:t>
            </a:r>
            <a:r>
              <a:rPr lang="en-US" sz="1700" dirty="0"/>
              <a:t> = </a:t>
            </a:r>
            <a:r>
              <a:rPr lang="en-US" sz="1700" dirty="0">
                <a:solidFill>
                  <a:srgbClr val="FF0000"/>
                </a:solidFill>
              </a:rPr>
              <a:t>new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</a:t>
            </a:r>
            <a:r>
              <a:rPr lang="en-US" sz="1700" dirty="0"/>
              <a:t>(root, 300, 200);</a:t>
            </a:r>
          </a:p>
          <a:p>
            <a:endParaRPr lang="en-US" sz="1050" dirty="0"/>
          </a:p>
          <a:p>
            <a:r>
              <a:rPr lang="en-US" sz="1700" dirty="0"/>
              <a:t>        </a:t>
            </a:r>
            <a:r>
              <a:rPr lang="en-US" sz="1700" dirty="0" err="1"/>
              <a:t>stage.setTitle</a:t>
            </a:r>
            <a:r>
              <a:rPr lang="en-US" sz="1700" dirty="0"/>
              <a:t>("Circle Example");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stage.setScene</a:t>
            </a:r>
            <a:r>
              <a:rPr lang="en-US" sz="1700" dirty="0"/>
              <a:t>(scene);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stage.show</a:t>
            </a:r>
            <a:r>
              <a:rPr lang="en-US" sz="1700" dirty="0"/>
              <a:t>();</a:t>
            </a:r>
          </a:p>
          <a:p>
            <a:r>
              <a:rPr lang="en-US" sz="1700" dirty="0"/>
              <a:t>    }</a:t>
            </a:r>
          </a:p>
          <a:p>
            <a:endParaRPr lang="en-US" sz="1700" dirty="0"/>
          </a:p>
          <a:p>
            <a:r>
              <a:rPr lang="en-US" sz="1700" dirty="0"/>
              <a:t>    </a:t>
            </a:r>
            <a:r>
              <a:rPr lang="en-US" sz="1700" dirty="0">
                <a:solidFill>
                  <a:srgbClr val="FF0000"/>
                </a:solidFill>
              </a:rPr>
              <a:t>public static void </a:t>
            </a:r>
            <a:r>
              <a:rPr lang="en-US" sz="1700" dirty="0"/>
              <a:t>main(String[] </a:t>
            </a:r>
            <a:r>
              <a:rPr lang="en-US" sz="1700" dirty="0" err="1"/>
              <a:t>args</a:t>
            </a:r>
            <a:r>
              <a:rPr lang="en-US" sz="1700" dirty="0"/>
              <a:t>) {</a:t>
            </a:r>
          </a:p>
          <a:p>
            <a:r>
              <a:rPr lang="en-US" sz="1700" dirty="0"/>
              <a:t>        </a:t>
            </a: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sz="1700" dirty="0"/>
              <a:t>    }</a:t>
            </a:r>
          </a:p>
          <a:p>
            <a:r>
              <a:rPr lang="en-US" sz="1700" dirty="0"/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047" t="1863" r="1787" b="2948"/>
          <a:stretch/>
        </p:blipFill>
        <p:spPr>
          <a:xfrm>
            <a:off x="493295" y="2706316"/>
            <a:ext cx="4211052" cy="31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3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JavaFX </a:t>
            </a:r>
            <a:r>
              <a:rPr lang="en-US" b="1" dirty="0" smtClean="0"/>
              <a:t>Text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22295" y="117693"/>
            <a:ext cx="845017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javafx.scene.text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dirty="0">
                <a:solidFill>
                  <a:srgbClr val="FF000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 err="1"/>
              <a:t>DisplayingText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extends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void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dirty="0"/>
              <a:t>(Stage stage)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</a:t>
            </a:r>
            <a:r>
              <a:rPr lang="en-US" dirty="0"/>
              <a:t> </a:t>
            </a:r>
            <a:r>
              <a:rPr lang="en-US" dirty="0" err="1"/>
              <a:t>text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</a:t>
            </a:r>
            <a:r>
              <a:rPr lang="en-US" dirty="0"/>
              <a:t>(50, 150, "Welcome to </a:t>
            </a:r>
            <a:r>
              <a:rPr lang="en-US" dirty="0" smtClean="0"/>
              <a:t>JavaFX");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text.setFont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Font</a:t>
            </a:r>
            <a:r>
              <a:rPr lang="en-US" dirty="0"/>
              <a:t>(45));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dirty="0"/>
              <a:t> root =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</a:t>
            </a:r>
            <a:r>
              <a:rPr lang="en-US" dirty="0"/>
              <a:t>(text);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stage.setScene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Scene(root, 600, 300));</a:t>
            </a:r>
          </a:p>
          <a:p>
            <a:r>
              <a:rPr lang="en-US" dirty="0"/>
              <a:t>        </a:t>
            </a:r>
            <a:r>
              <a:rPr lang="en-US" dirty="0" err="1"/>
              <a:t>stage.setTitle</a:t>
            </a:r>
            <a:r>
              <a:rPr lang="en-US" dirty="0" smtClean="0"/>
              <a:t>(“Welcome Page");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stage.show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static void</a:t>
            </a:r>
            <a:r>
              <a:rPr lang="en-US" dirty="0"/>
              <a:t>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launch();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508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Login 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47857"/>
            <a:ext cx="4876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/>
              <a:t>Create A login form such as the following: 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2D91-5805-471D-8CC2-47899646D30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427" y="1981994"/>
            <a:ext cx="3752850" cy="4038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776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Login 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1106" y="54016"/>
            <a:ext cx="796089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+mn-lt"/>
              </a:rPr>
              <a:t>public </a:t>
            </a:r>
            <a:r>
              <a:rPr lang="en-US" sz="1800" dirty="0">
                <a:latin typeface="+mn-lt"/>
              </a:rPr>
              <a:t>class </a:t>
            </a:r>
            <a:r>
              <a:rPr lang="en-US" sz="1800" dirty="0" err="1">
                <a:latin typeface="+mn-lt"/>
              </a:rPr>
              <a:t>LoginForm</a:t>
            </a:r>
            <a:r>
              <a:rPr lang="en-US" sz="1800" dirty="0">
                <a:latin typeface="+mn-lt"/>
              </a:rPr>
              <a:t> extends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Application </a:t>
            </a:r>
            <a:r>
              <a:rPr lang="en-US" sz="1800" dirty="0">
                <a:latin typeface="+mn-lt"/>
              </a:rPr>
              <a:t>{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@Override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public void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start</a:t>
            </a:r>
            <a:r>
              <a:rPr lang="en-US" sz="1800" dirty="0">
                <a:latin typeface="+mn-lt"/>
              </a:rPr>
              <a:t>(Stage stage) {</a:t>
            </a:r>
          </a:p>
          <a:p>
            <a:pPr marL="0" indent="0">
              <a:buNone/>
            </a:pPr>
            <a:r>
              <a:rPr lang="en-US" sz="1800" dirty="0" smtClean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 </a:t>
            </a:r>
            <a:r>
              <a:rPr lang="en-US" sz="1800" dirty="0">
                <a:latin typeface="+mn-lt"/>
              </a:rPr>
              <a:t>title =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new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</a:t>
            </a:r>
            <a:r>
              <a:rPr lang="en-US" sz="1800" dirty="0">
                <a:latin typeface="+mn-lt"/>
              </a:rPr>
              <a:t>(110, 40, "Login Form");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title.setFill</a:t>
            </a:r>
            <a:r>
              <a:rPr lang="en-US" sz="1800" dirty="0">
                <a:latin typeface="+mn-lt"/>
              </a:rPr>
              <a:t>(</a:t>
            </a:r>
            <a:r>
              <a:rPr lang="en-US" sz="1800" dirty="0" err="1">
                <a:latin typeface="+mn-lt"/>
              </a:rPr>
              <a:t>Color.WHITE</a:t>
            </a:r>
            <a:r>
              <a:rPr lang="en-US" sz="1800" dirty="0">
                <a:latin typeface="+mn-lt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title.setFont</a:t>
            </a:r>
            <a:r>
              <a:rPr lang="en-US" sz="1800" dirty="0">
                <a:latin typeface="+mn-lt"/>
              </a:rPr>
              <a:t>(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Font.font</a:t>
            </a:r>
            <a:r>
              <a:rPr lang="en-US" sz="1800" dirty="0">
                <a:latin typeface="+mn-lt"/>
              </a:rPr>
              <a:t>(22));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</a:t>
            </a:r>
            <a:r>
              <a:rPr lang="en-US" sz="1800" dirty="0">
                <a:latin typeface="+mn-lt"/>
              </a:rPr>
              <a:t> user =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new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</a:t>
            </a:r>
            <a:r>
              <a:rPr lang="en-US" sz="1800" dirty="0">
                <a:latin typeface="+mn-lt"/>
              </a:rPr>
              <a:t>(50, 80, "Enter user name");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user.setFill</a:t>
            </a:r>
            <a:r>
              <a:rPr lang="en-US" sz="1800" dirty="0">
                <a:latin typeface="+mn-lt"/>
              </a:rPr>
              <a:t>(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Color.WHITE</a:t>
            </a:r>
            <a:r>
              <a:rPr lang="en-US" sz="1800" dirty="0">
                <a:latin typeface="+mn-lt"/>
              </a:rPr>
              <a:t>);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TextField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tf</a:t>
            </a:r>
            <a:r>
              <a:rPr lang="en-US" sz="1800" dirty="0">
                <a:latin typeface="+mn-lt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TextField</a:t>
            </a:r>
            <a:r>
              <a:rPr lang="en-US" sz="1800" dirty="0"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tf.setLayoutX</a:t>
            </a:r>
            <a:r>
              <a:rPr lang="en-US" sz="1800" dirty="0">
                <a:latin typeface="+mn-lt"/>
              </a:rPr>
              <a:t>(50); </a:t>
            </a:r>
            <a:r>
              <a:rPr lang="en-US" sz="1800" dirty="0" err="1">
                <a:latin typeface="+mn-lt"/>
              </a:rPr>
              <a:t>tf.setLayoutY</a:t>
            </a:r>
            <a:r>
              <a:rPr lang="en-US" sz="1800" dirty="0">
                <a:latin typeface="+mn-lt"/>
              </a:rPr>
              <a:t>(90);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</a:t>
            </a:r>
            <a:r>
              <a:rPr lang="en-US" sz="1800" dirty="0">
                <a:latin typeface="+mn-lt"/>
              </a:rPr>
              <a:t> pass =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Text</a:t>
            </a:r>
            <a:r>
              <a:rPr lang="en-US" sz="1800" dirty="0">
                <a:latin typeface="+mn-lt"/>
              </a:rPr>
              <a:t>(50, 130, "Enter Password");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pass.setFill</a:t>
            </a:r>
            <a:r>
              <a:rPr lang="en-US" sz="1800" dirty="0">
                <a:latin typeface="+mn-lt"/>
              </a:rPr>
              <a:t>(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Color.WHITE</a:t>
            </a:r>
            <a:r>
              <a:rPr lang="en-US" sz="1800" dirty="0">
                <a:latin typeface="+mn-lt"/>
              </a:rPr>
              <a:t>);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PasswordField</a:t>
            </a:r>
            <a:r>
              <a:rPr lang="en-US" sz="1800" dirty="0">
                <a:latin typeface="+mn-lt"/>
              </a:rPr>
              <a:t> pf =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new </a:t>
            </a:r>
            <a:r>
              <a:rPr lang="en-US" sz="1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PasswordField</a:t>
            </a:r>
            <a:r>
              <a:rPr lang="en-US" sz="1800" dirty="0"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</a:t>
            </a:r>
            <a:r>
              <a:rPr lang="en-US" sz="1800" dirty="0" err="1">
                <a:latin typeface="+mn-lt"/>
              </a:rPr>
              <a:t>pf.setLayoutX</a:t>
            </a:r>
            <a:r>
              <a:rPr lang="en-US" sz="1800" dirty="0">
                <a:latin typeface="+mn-lt"/>
              </a:rPr>
              <a:t>(50); </a:t>
            </a:r>
            <a:r>
              <a:rPr lang="en-US" sz="1800" dirty="0" err="1">
                <a:latin typeface="+mn-lt"/>
              </a:rPr>
              <a:t>pf.setLayoutY</a:t>
            </a:r>
            <a:r>
              <a:rPr lang="en-US" sz="1800" dirty="0">
                <a:latin typeface="+mn-lt"/>
              </a:rPr>
              <a:t>(140);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2D91-5805-471D-8CC2-47899646D305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2229685"/>
            <a:ext cx="56628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javafx.application.Application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javafx.scene.control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javafx.scene.paint.Color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javafx.scene.text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.*;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javafx.stage.Stage</a:t>
            </a: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175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Login 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2" y="185699"/>
            <a:ext cx="886326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Button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btn</a:t>
            </a:r>
            <a:r>
              <a:rPr lang="en-US" sz="2000" dirty="0">
                <a:latin typeface="+mn-lt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2000" dirty="0">
                <a:latin typeface="+mn-lt"/>
              </a:rPr>
              <a:t>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Button</a:t>
            </a:r>
            <a:r>
              <a:rPr lang="en-US" sz="2000" dirty="0">
                <a:latin typeface="+mn-lt"/>
              </a:rPr>
              <a:t>("Sign in");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2000" dirty="0" err="1">
                <a:latin typeface="+mn-lt"/>
              </a:rPr>
              <a:t>btn.setLayoutX</a:t>
            </a:r>
            <a:r>
              <a:rPr lang="en-US" sz="2000" dirty="0">
                <a:latin typeface="+mn-lt"/>
              </a:rPr>
              <a:t>(110); </a:t>
            </a:r>
            <a:r>
              <a:rPr lang="en-US" sz="2000" dirty="0" err="1">
                <a:latin typeface="+mn-lt"/>
              </a:rPr>
              <a:t>btn.setLayoutY</a:t>
            </a:r>
            <a:r>
              <a:rPr lang="en-US" sz="2000" dirty="0">
                <a:latin typeface="+mn-lt"/>
              </a:rPr>
              <a:t>(180);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Group </a:t>
            </a:r>
            <a:r>
              <a:rPr lang="en-US" sz="2000" dirty="0">
                <a:latin typeface="+mn-lt"/>
              </a:rPr>
              <a:t>root =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2000" dirty="0">
                <a:latin typeface="+mn-lt"/>
              </a:rPr>
              <a:t>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Group</a:t>
            </a:r>
            <a:r>
              <a:rPr lang="en-US" sz="2000" dirty="0">
                <a:latin typeface="+mn-lt"/>
              </a:rPr>
              <a:t>(title, user, </a:t>
            </a:r>
            <a:r>
              <a:rPr lang="en-US" sz="2000" dirty="0" err="1">
                <a:latin typeface="+mn-lt"/>
              </a:rPr>
              <a:t>tf</a:t>
            </a:r>
            <a:r>
              <a:rPr lang="en-US" sz="2000" dirty="0">
                <a:latin typeface="+mn-lt"/>
              </a:rPr>
              <a:t>, pass, pf, </a:t>
            </a:r>
            <a:r>
              <a:rPr lang="en-US" sz="2000" dirty="0" err="1">
                <a:latin typeface="+mn-lt"/>
              </a:rPr>
              <a:t>btn</a:t>
            </a:r>
            <a:r>
              <a:rPr lang="en-US" sz="2000" dirty="0">
                <a:latin typeface="+mn-lt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Scene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scene</a:t>
            </a:r>
            <a:r>
              <a:rPr lang="en-US" sz="2000" dirty="0">
                <a:latin typeface="+mn-lt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2000" dirty="0">
                <a:latin typeface="+mn-lt"/>
              </a:rPr>
              <a:t>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Scene</a:t>
            </a:r>
            <a:r>
              <a:rPr lang="en-US" sz="2000" dirty="0">
                <a:latin typeface="+mn-lt"/>
              </a:rPr>
              <a:t>(root, 300, 230, </a:t>
            </a:r>
            <a:r>
              <a:rPr lang="en-US" sz="2000" dirty="0" err="1">
                <a:latin typeface="+mn-lt"/>
              </a:rPr>
              <a:t>Color.BROWN</a:t>
            </a:r>
            <a:r>
              <a:rPr lang="en-US" sz="2000" dirty="0">
                <a:latin typeface="+mn-lt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2000" dirty="0" err="1">
                <a:latin typeface="+mn-lt"/>
              </a:rPr>
              <a:t>stage.setScene</a:t>
            </a:r>
            <a:r>
              <a:rPr lang="en-US" sz="2000" dirty="0">
                <a:latin typeface="+mn-lt"/>
              </a:rPr>
              <a:t>(scene);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2000" dirty="0" err="1">
                <a:latin typeface="+mn-lt"/>
              </a:rPr>
              <a:t>stage.setTitle</a:t>
            </a:r>
            <a:r>
              <a:rPr lang="en-US" sz="2000" dirty="0">
                <a:latin typeface="+mn-lt"/>
              </a:rPr>
              <a:t>("Login");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2000" dirty="0" err="1">
                <a:latin typeface="+mn-lt"/>
              </a:rPr>
              <a:t>stage.show</a:t>
            </a:r>
            <a:r>
              <a:rPr lang="en-US" sz="2000" dirty="0"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}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public static void </a:t>
            </a:r>
            <a:r>
              <a:rPr lang="en-US" sz="2000" dirty="0">
                <a:latin typeface="+mn-lt"/>
              </a:rPr>
              <a:t>main(String[] </a:t>
            </a:r>
            <a:r>
              <a:rPr lang="en-US" sz="2000" dirty="0" err="1">
                <a:latin typeface="+mn-lt"/>
              </a:rPr>
              <a:t>args</a:t>
            </a:r>
            <a:r>
              <a:rPr lang="en-US" sz="2000" dirty="0">
                <a:latin typeface="+mn-lt"/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  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launch();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52D91-5805-471D-8CC2-47899646D30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8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4" y="3588086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47D8F-22EE-D1FD-5B3E-8BA55D04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86857"/>
            <a:ext cx="3353763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042E-2E10-238C-2ABC-8248F2EC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863" y="-10142"/>
            <a:ext cx="7896089" cy="6489291"/>
          </a:xfrm>
        </p:spPr>
        <p:txBody>
          <a:bodyPr anchor="ctr"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Write a JavaFX program that creates a </a:t>
            </a:r>
            <a:r>
              <a:rPr lang="en-US" b="1" dirty="0"/>
              <a:t>simple graphical dashboard</a:t>
            </a:r>
            <a:r>
              <a:rPr lang="en-US" dirty="0"/>
              <a:t> with the following requirements:</a:t>
            </a:r>
          </a:p>
          <a:p>
            <a:r>
              <a:rPr lang="en-US" b="1" dirty="0"/>
              <a:t>Stage Setup</a:t>
            </a:r>
            <a:endParaRPr lang="en-US" dirty="0"/>
          </a:p>
          <a:p>
            <a:pPr lvl="1"/>
            <a:r>
              <a:rPr lang="en-US" dirty="0"/>
              <a:t>Create a Stage with a title "JavaFX Node &amp; Group Practice".</a:t>
            </a:r>
          </a:p>
          <a:p>
            <a:pPr lvl="1"/>
            <a:r>
              <a:rPr lang="en-US" dirty="0"/>
              <a:t>Set the size of the window to </a:t>
            </a:r>
            <a:r>
              <a:rPr lang="en-US" b="1" dirty="0"/>
              <a:t>600x400 pixels</a:t>
            </a:r>
            <a:r>
              <a:rPr lang="en-US" dirty="0"/>
              <a:t>.</a:t>
            </a:r>
          </a:p>
          <a:p>
            <a:r>
              <a:rPr lang="en-US" b="1" dirty="0"/>
              <a:t>Scene &amp; Group</a:t>
            </a:r>
            <a:endParaRPr lang="en-US" dirty="0"/>
          </a:p>
          <a:p>
            <a:pPr lvl="1"/>
            <a:r>
              <a:rPr lang="en-US" dirty="0"/>
              <a:t>Create a Group as the root node.</a:t>
            </a:r>
          </a:p>
          <a:p>
            <a:pPr lvl="1"/>
            <a:r>
              <a:rPr lang="en-US" dirty="0"/>
              <a:t>Add a Scene to the stage using this root group.</a:t>
            </a:r>
          </a:p>
          <a:p>
            <a:r>
              <a:rPr lang="en-US" b="1" dirty="0"/>
              <a:t>Add Nodes to the Group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Inside the root Group, add the following nodes:</a:t>
            </a:r>
          </a:p>
          <a:p>
            <a:pPr lvl="1"/>
            <a:r>
              <a:rPr lang="en-US" b="1" dirty="0"/>
              <a:t>Circle</a:t>
            </a:r>
            <a:endParaRPr lang="en-US" dirty="0"/>
          </a:p>
          <a:p>
            <a:pPr lvl="2"/>
            <a:r>
              <a:rPr lang="en-US" dirty="0"/>
              <a:t>Color: Blue</a:t>
            </a:r>
          </a:p>
          <a:p>
            <a:pPr lvl="2"/>
            <a:r>
              <a:rPr lang="en-US" dirty="0"/>
              <a:t>Radius: 50</a:t>
            </a:r>
          </a:p>
          <a:p>
            <a:pPr lvl="2"/>
            <a:r>
              <a:rPr lang="en-US" dirty="0"/>
              <a:t>Position: (100, 100)</a:t>
            </a:r>
          </a:p>
          <a:p>
            <a:pPr lvl="1"/>
            <a:r>
              <a:rPr lang="en-US" b="1" dirty="0"/>
              <a:t>Rectangle</a:t>
            </a:r>
            <a:endParaRPr lang="en-US" dirty="0"/>
          </a:p>
          <a:p>
            <a:pPr lvl="2"/>
            <a:r>
              <a:rPr lang="en-US" dirty="0"/>
              <a:t>Color: Green</a:t>
            </a:r>
          </a:p>
          <a:p>
            <a:pPr lvl="2"/>
            <a:r>
              <a:rPr lang="en-US" dirty="0"/>
              <a:t>Width: 150, Height: 80</a:t>
            </a:r>
          </a:p>
          <a:p>
            <a:pPr lvl="2"/>
            <a:r>
              <a:rPr lang="en-US" dirty="0"/>
              <a:t>Position: (250, 50)</a:t>
            </a:r>
          </a:p>
          <a:p>
            <a:pPr lvl="1"/>
            <a:r>
              <a:rPr lang="en-US" b="1" dirty="0"/>
              <a:t>Text</a:t>
            </a:r>
            <a:endParaRPr lang="en-US" dirty="0"/>
          </a:p>
          <a:p>
            <a:pPr lvl="2"/>
            <a:r>
              <a:rPr lang="en-US" dirty="0"/>
              <a:t>Display your name or a message like "Welcome to JavaFX!"</a:t>
            </a:r>
          </a:p>
          <a:p>
            <a:pPr lvl="2"/>
            <a:r>
              <a:rPr lang="en-US" dirty="0"/>
              <a:t>Position: (200, 200)</a:t>
            </a:r>
          </a:p>
          <a:p>
            <a:pPr lvl="2"/>
            <a:r>
              <a:rPr lang="en-US" dirty="0"/>
              <a:t>Font size: 20</a:t>
            </a:r>
          </a:p>
          <a:p>
            <a:pPr lvl="1"/>
            <a:r>
              <a:rPr lang="en-US" b="1" dirty="0"/>
              <a:t>Button</a:t>
            </a:r>
            <a:endParaRPr lang="en-US" dirty="0"/>
          </a:p>
          <a:p>
            <a:pPr lvl="2"/>
            <a:r>
              <a:rPr lang="en-US" dirty="0"/>
              <a:t>Label: "Click Me"</a:t>
            </a:r>
          </a:p>
          <a:p>
            <a:pPr lvl="2"/>
            <a:r>
              <a:rPr lang="en-US" dirty="0"/>
              <a:t>Position: (250, 300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B0B23-63E0-9A4E-E663-0F72598E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1122363"/>
            <a:ext cx="4181105" cy="3204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758" y="0"/>
            <a:ext cx="5045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2415</Words>
  <Application>Microsoft Office PowerPoint</Application>
  <PresentationFormat>Widescreen</PresentationFormat>
  <Paragraphs>427</Paragraphs>
  <Slides>32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Calibri Light</vt:lpstr>
      <vt:lpstr>Courier New</vt:lpstr>
      <vt:lpstr>inherit</vt:lpstr>
      <vt:lpstr>Monotype Corsiva</vt:lpstr>
      <vt:lpstr>Times New Roman</vt:lpstr>
      <vt:lpstr>1_Office Theme</vt:lpstr>
      <vt:lpstr>2_Office Theme</vt:lpstr>
      <vt:lpstr>3_Office Theme</vt:lpstr>
      <vt:lpstr>4_Office Theme</vt:lpstr>
      <vt:lpstr>PowerPoint Presentation</vt:lpstr>
      <vt:lpstr>Advanced Programming Applications </vt:lpstr>
      <vt:lpstr>Lecture Outline</vt:lpstr>
      <vt:lpstr>What are JavaFX?</vt:lpstr>
      <vt:lpstr>JavaFX vs Legacy Swing</vt:lpstr>
      <vt:lpstr>JavaFX Architecture</vt:lpstr>
      <vt:lpstr>JavaFX Basic Application Structure</vt:lpstr>
      <vt:lpstr>JavaFX Hierarchy</vt:lpstr>
      <vt:lpstr>Stage, Scene, and Nodes</vt:lpstr>
      <vt:lpstr>JavaFX Basic Application Structure</vt:lpstr>
      <vt:lpstr>Preparing a Scene</vt:lpstr>
      <vt:lpstr>Preparing a Scene</vt:lpstr>
      <vt:lpstr>PowerPoint Presentation</vt:lpstr>
      <vt:lpstr>Important packages of JavaFX</vt:lpstr>
      <vt:lpstr>Layout Panes</vt:lpstr>
      <vt:lpstr>Panes, UI Controls, and Shapes</vt:lpstr>
      <vt:lpstr>PowerPoint Presentation</vt:lpstr>
      <vt:lpstr>PowerPoint Presentation</vt:lpstr>
      <vt:lpstr>JavaFX Basic UI Controls</vt:lpstr>
      <vt:lpstr>PowerPoint Presentation</vt:lpstr>
      <vt:lpstr>JavaFX Shapes</vt:lpstr>
      <vt:lpstr>JavaFX Shapes</vt:lpstr>
      <vt:lpstr>JavaFX Shapes</vt:lpstr>
      <vt:lpstr>JavaFX Shapes</vt:lpstr>
      <vt:lpstr>JavaFX Shapes</vt:lpstr>
      <vt:lpstr>JavaFX Shapes</vt:lpstr>
      <vt:lpstr>JavaFX Text</vt:lpstr>
      <vt:lpstr>Login Form</vt:lpstr>
      <vt:lpstr>Login Form</vt:lpstr>
      <vt:lpstr>Login Form</vt:lpstr>
      <vt:lpstr>Assignment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CCS1101 Introduction to Computing</dc:title>
  <dc:creator>Salma  Radwan Hassan Abdelhamid</dc:creator>
  <cp:lastModifiedBy>GoogleEltaweel</cp:lastModifiedBy>
  <cp:revision>273</cp:revision>
  <dcterms:created xsi:type="dcterms:W3CDTF">2025-12-13T09:36:13Z</dcterms:created>
  <dcterms:modified xsi:type="dcterms:W3CDTF">2026-03-01T05:46:15Z</dcterms:modified>
</cp:coreProperties>
</file>