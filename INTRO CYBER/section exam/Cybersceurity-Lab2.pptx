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5" r:id="rId1"/>
    <p:sldMasterId id="2147483791" r:id="rId2"/>
    <p:sldMasterId id="2147483831" r:id="rId3"/>
    <p:sldMasterId id="2147483856" r:id="rId4"/>
  </p:sldMasterIdLst>
  <p:notesMasterIdLst>
    <p:notesMasterId r:id="rId22"/>
  </p:notesMasterIdLst>
  <p:sldIdLst>
    <p:sldId id="354" r:id="rId5"/>
    <p:sldId id="357" r:id="rId6"/>
    <p:sldId id="318" r:id="rId7"/>
    <p:sldId id="358" r:id="rId8"/>
    <p:sldId id="355" r:id="rId9"/>
    <p:sldId id="356" r:id="rId10"/>
    <p:sldId id="359" r:id="rId11"/>
    <p:sldId id="360" r:id="rId12"/>
    <p:sldId id="361" r:id="rId13"/>
    <p:sldId id="362" r:id="rId14"/>
    <p:sldId id="363" r:id="rId15"/>
    <p:sldId id="364" r:id="rId16"/>
    <p:sldId id="365" r:id="rId17"/>
    <p:sldId id="366" r:id="rId18"/>
    <p:sldId id="367" r:id="rId19"/>
    <p:sldId id="368" r:id="rId20"/>
    <p:sldId id="346"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2CA704E-2889-4387-B049-854A135D47A7}">
          <p14:sldIdLst>
            <p14:sldId id="354"/>
            <p14:sldId id="357"/>
            <p14:sldId id="318"/>
            <p14:sldId id="358"/>
            <p14:sldId id="355"/>
            <p14:sldId id="356"/>
            <p14:sldId id="359"/>
            <p14:sldId id="360"/>
            <p14:sldId id="361"/>
            <p14:sldId id="362"/>
            <p14:sldId id="363"/>
            <p14:sldId id="364"/>
            <p14:sldId id="365"/>
            <p14:sldId id="366"/>
            <p14:sldId id="367"/>
            <p14:sldId id="368"/>
            <p14:sldId id="34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1DD8B1-23D5-49E6-AF7E-69F76E92E867}" type="datetimeFigureOut">
              <a:rPr lang="en-US" smtClean="0"/>
              <a:t>2/23/2024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ED143D-F7A7-43C7-BE41-E1D8E1EED4C6}" type="slidenum">
              <a:rPr lang="en-US" smtClean="0"/>
              <a:t>‹#›</a:t>
            </a:fld>
            <a:endParaRPr lang="en-US"/>
          </a:p>
        </p:txBody>
      </p:sp>
    </p:spTree>
    <p:extLst>
      <p:ext uri="{BB962C8B-B14F-4D97-AF65-F5344CB8AC3E}">
        <p14:creationId xmlns:p14="http://schemas.microsoft.com/office/powerpoint/2010/main" val="24778363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s slide layout">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6288356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Contents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927689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Agenda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87860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Taam slide layout">
    <p:spTree>
      <p:nvGrpSpPr>
        <p:cNvPr id="1" name=""/>
        <p:cNvGrpSpPr/>
        <p:nvPr/>
      </p:nvGrpSpPr>
      <p:grpSpPr>
        <a:xfrm>
          <a:off x="0" y="0"/>
          <a:ext cx="0" cy="0"/>
          <a:chOff x="0" y="0"/>
          <a:chExt cx="0" cy="0"/>
        </a:xfrm>
      </p:grpSpPr>
      <p:sp>
        <p:nvSpPr>
          <p:cNvPr id="4" name="그림 개체 틀 2">
            <a:extLst>
              <a:ext uri="{FF2B5EF4-FFF2-40B4-BE49-F238E27FC236}">
                <a16:creationId xmlns:a16="http://schemas.microsoft.com/office/drawing/2014/main" id="{BB1355F7-5A18-4E26-B6D5-080C1C4D6FCA}"/>
              </a:ext>
            </a:extLst>
          </p:cNvPr>
          <p:cNvSpPr>
            <a:spLocks noGrp="1"/>
          </p:cNvSpPr>
          <p:nvPr>
            <p:ph type="pic" sz="quarter" idx="14" hasCustomPrompt="1"/>
          </p:nvPr>
        </p:nvSpPr>
        <p:spPr>
          <a:xfrm>
            <a:off x="681486" y="612476"/>
            <a:ext cx="4399471" cy="4520242"/>
          </a:xfrm>
          <a:prstGeom prst="rect">
            <a:avLst/>
          </a:prstGeom>
          <a:solidFill>
            <a:schemeClr val="bg1">
              <a:lumMod val="95000"/>
            </a:schemeClr>
          </a:solidFill>
          <a:ln w="88900">
            <a:solidFill>
              <a:schemeClr val="accent2"/>
            </a:solidFill>
          </a:ln>
        </p:spPr>
        <p:txBody>
          <a:bodyPr anchor="ctr"/>
          <a:lstStyle>
            <a:lvl1pPr marL="0" indent="0" algn="ctr">
              <a:buNone/>
              <a:defRPr sz="1200"/>
            </a:lvl1pPr>
          </a:lstStyle>
          <a:p>
            <a:r>
              <a:rPr lang="en-US" altLang="ko-KR" dirty="0"/>
              <a:t>Place Your Picture Here</a:t>
            </a:r>
            <a:endParaRPr lang="ko-KR" altLang="en-US" dirty="0"/>
          </a:p>
        </p:txBody>
      </p:sp>
    </p:spTree>
    <p:extLst>
      <p:ext uri="{BB962C8B-B14F-4D97-AF65-F5344CB8AC3E}">
        <p14:creationId xmlns:p14="http://schemas.microsoft.com/office/powerpoint/2010/main" val="35583362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Contents slide layout">
    <p:spTree>
      <p:nvGrpSpPr>
        <p:cNvPr id="1" name=""/>
        <p:cNvGrpSpPr/>
        <p:nvPr/>
      </p:nvGrpSpPr>
      <p:grpSpPr>
        <a:xfrm>
          <a:off x="0" y="0"/>
          <a:ext cx="0" cy="0"/>
          <a:chOff x="0" y="0"/>
          <a:chExt cx="0" cy="0"/>
        </a:xfrm>
      </p:grpSpPr>
      <p:sp>
        <p:nvSpPr>
          <p:cNvPr id="2" name="그림 개체 틀 2">
            <a:extLst>
              <a:ext uri="{FF2B5EF4-FFF2-40B4-BE49-F238E27FC236}">
                <a16:creationId xmlns:a16="http://schemas.microsoft.com/office/drawing/2014/main" id="{B24E91D7-E3DF-4B78-9679-1103FBCF548F}"/>
              </a:ext>
            </a:extLst>
          </p:cNvPr>
          <p:cNvSpPr>
            <a:spLocks noGrp="1"/>
          </p:cNvSpPr>
          <p:nvPr>
            <p:ph type="pic" sz="quarter" idx="14" hasCustomPrompt="1"/>
          </p:nvPr>
        </p:nvSpPr>
        <p:spPr>
          <a:xfrm>
            <a:off x="3934982" y="0"/>
            <a:ext cx="4322036" cy="6858000"/>
          </a:xfrm>
          <a:prstGeom prst="rect">
            <a:avLst/>
          </a:prstGeom>
          <a:solidFill>
            <a:schemeClr val="bg1">
              <a:lumMod val="9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ko-KR" altLang="en-US" sz="1800">
                <a:solidFill>
                  <a:schemeClr val="tx1">
                    <a:lumMod val="75000"/>
                    <a:lumOff val="25000"/>
                  </a:schemeClr>
                </a:solidFill>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ltLang="ko-KR" dirty="0"/>
              <a:t>Place Your Picture Here Send To Back</a:t>
            </a:r>
            <a:endParaRPr lang="ko-KR" altLang="en-US" dirty="0"/>
          </a:p>
        </p:txBody>
      </p:sp>
    </p:spTree>
    <p:extLst>
      <p:ext uri="{BB962C8B-B14F-4D97-AF65-F5344CB8AC3E}">
        <p14:creationId xmlns:p14="http://schemas.microsoft.com/office/powerpoint/2010/main" val="8686833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71377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Contents slide layout">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A6C8369F-32EF-46EC-AB97-844E17DD14FD}"/>
              </a:ext>
            </a:extLst>
          </p:cNvPr>
          <p:cNvSpPr/>
          <p:nvPr userDrawn="1"/>
        </p:nvSpPr>
        <p:spPr>
          <a:xfrm>
            <a:off x="-1" y="828942"/>
            <a:ext cx="4862557" cy="166372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a:extLst>
              <a:ext uri="{FF2B5EF4-FFF2-40B4-BE49-F238E27FC236}">
                <a16:creationId xmlns:a16="http://schemas.microsoft.com/office/drawing/2014/main" id="{CBF8CEF7-B415-4262-B314-9BD7D139FC10}"/>
              </a:ext>
            </a:extLst>
          </p:cNvPr>
          <p:cNvSpPr>
            <a:spLocks noGrp="1"/>
          </p:cNvSpPr>
          <p:nvPr>
            <p:ph type="pic" idx="11" hasCustomPrompt="1"/>
          </p:nvPr>
        </p:nvSpPr>
        <p:spPr>
          <a:xfrm>
            <a:off x="503221" y="-3827"/>
            <a:ext cx="2666667" cy="5369887"/>
          </a:xfrm>
          <a:prstGeom prst="rect">
            <a:avLst/>
          </a:prstGeom>
          <a:solidFill>
            <a:schemeClr val="bg1">
              <a:lumMod val="95000"/>
            </a:schemeClr>
          </a:solidFill>
        </p:spPr>
        <p:txBody>
          <a:bodyPr anchor="ctr"/>
          <a:lstStyle>
            <a:lvl1pPr marL="0" indent="0" algn="ctr">
              <a:buNone/>
              <a:defRPr sz="1200" baseline="0">
                <a:solidFill>
                  <a:schemeClr val="tx1">
                    <a:lumMod val="85000"/>
                    <a:lumOff val="1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
        <p:nvSpPr>
          <p:cNvPr id="4" name="Picture Placeholder 2">
            <a:extLst>
              <a:ext uri="{FF2B5EF4-FFF2-40B4-BE49-F238E27FC236}">
                <a16:creationId xmlns:a16="http://schemas.microsoft.com/office/drawing/2014/main" id="{1B965928-3AE9-43AD-A998-C637B0A03C88}"/>
              </a:ext>
            </a:extLst>
          </p:cNvPr>
          <p:cNvSpPr>
            <a:spLocks noGrp="1"/>
          </p:cNvSpPr>
          <p:nvPr>
            <p:ph type="pic" idx="12" hasCustomPrompt="1"/>
          </p:nvPr>
        </p:nvSpPr>
        <p:spPr>
          <a:xfrm>
            <a:off x="3774835" y="1488113"/>
            <a:ext cx="2666667" cy="5369887"/>
          </a:xfrm>
          <a:prstGeom prst="rect">
            <a:avLst/>
          </a:prstGeom>
          <a:solidFill>
            <a:schemeClr val="bg1">
              <a:lumMod val="95000"/>
            </a:schemeClr>
          </a:solidFill>
        </p:spPr>
        <p:txBody>
          <a:bodyPr anchor="ctr"/>
          <a:lstStyle>
            <a:lvl1pPr marL="0" indent="0" algn="ctr">
              <a:buNone/>
              <a:defRPr sz="1200" baseline="0">
                <a:solidFill>
                  <a:schemeClr val="tx1">
                    <a:lumMod val="85000"/>
                    <a:lumOff val="1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 And Send To Back</a:t>
            </a:r>
            <a:endParaRPr lang="ko-KR" altLang="en-US" dirty="0"/>
          </a:p>
        </p:txBody>
      </p:sp>
    </p:spTree>
    <p:extLst>
      <p:ext uri="{BB962C8B-B14F-4D97-AF65-F5344CB8AC3E}">
        <p14:creationId xmlns:p14="http://schemas.microsoft.com/office/powerpoint/2010/main" val="31994242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76171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9_Contents slide layout">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4B513918-66CF-46D7-AFFF-09DA235C3496}"/>
              </a:ext>
            </a:extLst>
          </p:cNvPr>
          <p:cNvSpPr/>
          <p:nvPr userDrawn="1"/>
        </p:nvSpPr>
        <p:spPr>
          <a:xfrm>
            <a:off x="6908167" y="5662484"/>
            <a:ext cx="4431324" cy="448874"/>
          </a:xfrm>
          <a:prstGeom prst="ellipse">
            <a:avLst/>
          </a:prstGeom>
          <a:solidFill>
            <a:schemeClr val="tx1">
              <a:lumMod val="50000"/>
              <a:lumOff val="50000"/>
            </a:schemeClr>
          </a:solidFill>
          <a:ln>
            <a:noFill/>
          </a:ln>
          <a:effectLst>
            <a:softEdge rad="203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grpSp>
        <p:nvGrpSpPr>
          <p:cNvPr id="3" name="Graphic 14">
            <a:extLst>
              <a:ext uri="{FF2B5EF4-FFF2-40B4-BE49-F238E27FC236}">
                <a16:creationId xmlns:a16="http://schemas.microsoft.com/office/drawing/2014/main" id="{01BC2467-EE8A-4564-8811-D67559B118AA}"/>
              </a:ext>
            </a:extLst>
          </p:cNvPr>
          <p:cNvGrpSpPr/>
          <p:nvPr userDrawn="1"/>
        </p:nvGrpSpPr>
        <p:grpSpPr>
          <a:xfrm>
            <a:off x="7079704" y="2354198"/>
            <a:ext cx="4354942" cy="3514972"/>
            <a:chOff x="2444748" y="555045"/>
            <a:chExt cx="7282048" cy="5727454"/>
          </a:xfrm>
        </p:grpSpPr>
        <p:sp>
          <p:nvSpPr>
            <p:cNvPr id="4" name="Freeform: Shape 3">
              <a:extLst>
                <a:ext uri="{FF2B5EF4-FFF2-40B4-BE49-F238E27FC236}">
                  <a16:creationId xmlns:a16="http://schemas.microsoft.com/office/drawing/2014/main" id="{0EE152B8-5443-42B9-8B2A-EC459A1B9AAD}"/>
                </a:ext>
              </a:extLst>
            </p:cNvPr>
            <p:cNvSpPr/>
            <p:nvPr/>
          </p:nvSpPr>
          <p:spPr>
            <a:xfrm>
              <a:off x="4964693" y="5443837"/>
              <a:ext cx="2168250" cy="818208"/>
            </a:xfrm>
            <a:custGeom>
              <a:avLst/>
              <a:gdLst>
                <a:gd name="connsiteX0" fmla="*/ 1941333 w 2168250"/>
                <a:gd name="connsiteY0" fmla="*/ 525699 h 818207"/>
                <a:gd name="connsiteX1" fmla="*/ 1785874 w 2168250"/>
                <a:gd name="connsiteY1" fmla="*/ 30683 h 818207"/>
                <a:gd name="connsiteX2" fmla="*/ 1114943 w 2168250"/>
                <a:gd name="connsiteY2" fmla="*/ 30683 h 818207"/>
                <a:gd name="connsiteX3" fmla="*/ 1065851 w 2168250"/>
                <a:gd name="connsiteY3" fmla="*/ 30683 h 818207"/>
                <a:gd name="connsiteX4" fmla="*/ 390830 w 2168250"/>
                <a:gd name="connsiteY4" fmla="*/ 30683 h 818207"/>
                <a:gd name="connsiteX5" fmla="*/ 235370 w 2168250"/>
                <a:gd name="connsiteY5" fmla="*/ 525699 h 818207"/>
                <a:gd name="connsiteX6" fmla="*/ 259916 w 2168250"/>
                <a:gd name="connsiteY6" fmla="*/ 816162 h 818207"/>
                <a:gd name="connsiteX7" fmla="*/ 1065851 w 2168250"/>
                <a:gd name="connsiteY7" fmla="*/ 816162 h 818207"/>
                <a:gd name="connsiteX8" fmla="*/ 1114943 w 2168250"/>
                <a:gd name="connsiteY8" fmla="*/ 816162 h 818207"/>
                <a:gd name="connsiteX9" fmla="*/ 1920878 w 2168250"/>
                <a:gd name="connsiteY9" fmla="*/ 816162 h 818207"/>
                <a:gd name="connsiteX10" fmla="*/ 1941333 w 2168250"/>
                <a:gd name="connsiteY10" fmla="*/ 525699 h 818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8250" h="818207">
                  <a:moveTo>
                    <a:pt x="1941333" y="525699"/>
                  </a:moveTo>
                  <a:cubicBezTo>
                    <a:pt x="1789965" y="370239"/>
                    <a:pt x="1785874" y="30683"/>
                    <a:pt x="1785874" y="30683"/>
                  </a:cubicBezTo>
                  <a:lnTo>
                    <a:pt x="1114943" y="30683"/>
                  </a:lnTo>
                  <a:lnTo>
                    <a:pt x="1065851" y="30683"/>
                  </a:lnTo>
                  <a:lnTo>
                    <a:pt x="390830" y="30683"/>
                  </a:lnTo>
                  <a:cubicBezTo>
                    <a:pt x="390830" y="30683"/>
                    <a:pt x="386739" y="366148"/>
                    <a:pt x="235370" y="525699"/>
                  </a:cubicBezTo>
                  <a:cubicBezTo>
                    <a:pt x="84002" y="681158"/>
                    <a:pt x="-149188" y="816162"/>
                    <a:pt x="259916" y="816162"/>
                  </a:cubicBezTo>
                  <a:cubicBezTo>
                    <a:pt x="587199" y="816162"/>
                    <a:pt x="939029" y="816162"/>
                    <a:pt x="1065851" y="816162"/>
                  </a:cubicBezTo>
                  <a:cubicBezTo>
                    <a:pt x="1098579" y="816162"/>
                    <a:pt x="1114943" y="816162"/>
                    <a:pt x="1114943" y="816162"/>
                  </a:cubicBezTo>
                  <a:cubicBezTo>
                    <a:pt x="1245857" y="816162"/>
                    <a:pt x="1597686" y="816162"/>
                    <a:pt x="1920878" y="816162"/>
                  </a:cubicBezTo>
                  <a:cubicBezTo>
                    <a:pt x="2329982" y="816162"/>
                    <a:pt x="2092702" y="681158"/>
                    <a:pt x="1941333" y="525699"/>
                  </a:cubicBezTo>
                  <a:close/>
                </a:path>
              </a:pathLst>
            </a:custGeom>
            <a:gradFill>
              <a:gsLst>
                <a:gs pos="0">
                  <a:schemeClr val="bg1">
                    <a:lumMod val="75000"/>
                  </a:schemeClr>
                </a:gs>
                <a:gs pos="53000">
                  <a:schemeClr val="bg1">
                    <a:lumMod val="85000"/>
                  </a:schemeClr>
                </a:gs>
                <a:gs pos="83000">
                  <a:schemeClr val="bg1">
                    <a:lumMod val="75000"/>
                  </a:schemeClr>
                </a:gs>
                <a:gs pos="100000">
                  <a:schemeClr val="bg1">
                    <a:lumMod val="75000"/>
                  </a:schemeClr>
                </a:gs>
              </a:gsLst>
              <a:lin ang="16200000" scaled="0"/>
            </a:gradFill>
            <a:ln w="9525" cap="flat">
              <a:noFill/>
              <a:prstDash val="solid"/>
              <a:miter/>
            </a:ln>
          </p:spPr>
          <p:txBody>
            <a:bodyPr rtlCol="0" anchor="ctr"/>
            <a:lstStyle/>
            <a:p>
              <a:endParaRPr lang="en-US"/>
            </a:p>
          </p:txBody>
        </p:sp>
        <p:sp>
          <p:nvSpPr>
            <p:cNvPr id="5" name="Freeform: Shape 4">
              <a:extLst>
                <a:ext uri="{FF2B5EF4-FFF2-40B4-BE49-F238E27FC236}">
                  <a16:creationId xmlns:a16="http://schemas.microsoft.com/office/drawing/2014/main" id="{28660F49-B40E-45FC-84BC-FCD0D035F34C}"/>
                </a:ext>
              </a:extLst>
            </p:cNvPr>
            <p:cNvSpPr/>
            <p:nvPr/>
          </p:nvSpPr>
          <p:spPr>
            <a:xfrm>
              <a:off x="2444748" y="555045"/>
              <a:ext cx="7282048" cy="4950157"/>
            </a:xfrm>
            <a:custGeom>
              <a:avLst/>
              <a:gdLst>
                <a:gd name="connsiteX0" fmla="*/ 7038632 w 7282048"/>
                <a:gd name="connsiteY0" fmla="*/ 30683 h 4950157"/>
                <a:gd name="connsiteX1" fmla="*/ 3704436 w 7282048"/>
                <a:gd name="connsiteY1" fmla="*/ 30683 h 4950157"/>
                <a:gd name="connsiteX2" fmla="*/ 3589886 w 7282048"/>
                <a:gd name="connsiteY2" fmla="*/ 30683 h 4950157"/>
                <a:gd name="connsiteX3" fmla="*/ 259781 w 7282048"/>
                <a:gd name="connsiteY3" fmla="*/ 30683 h 4950157"/>
                <a:gd name="connsiteX4" fmla="*/ 30683 w 7282048"/>
                <a:gd name="connsiteY4" fmla="*/ 259781 h 4950157"/>
                <a:gd name="connsiteX5" fmla="*/ 30683 w 7282048"/>
                <a:gd name="connsiteY5" fmla="*/ 4698558 h 4950157"/>
                <a:gd name="connsiteX6" fmla="*/ 239326 w 7282048"/>
                <a:gd name="connsiteY6" fmla="*/ 4931748 h 4950157"/>
                <a:gd name="connsiteX7" fmla="*/ 7042723 w 7282048"/>
                <a:gd name="connsiteY7" fmla="*/ 4931748 h 4950157"/>
                <a:gd name="connsiteX8" fmla="*/ 7251366 w 7282048"/>
                <a:gd name="connsiteY8" fmla="*/ 4698558 h 4950157"/>
                <a:gd name="connsiteX9" fmla="*/ 7251366 w 7282048"/>
                <a:gd name="connsiteY9" fmla="*/ 259781 h 4950157"/>
                <a:gd name="connsiteX10" fmla="*/ 7038632 w 7282048"/>
                <a:gd name="connsiteY10" fmla="*/ 30683 h 4950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282048" h="4950157">
                  <a:moveTo>
                    <a:pt x="7038632" y="30683"/>
                  </a:moveTo>
                  <a:lnTo>
                    <a:pt x="3704436" y="30683"/>
                  </a:lnTo>
                  <a:lnTo>
                    <a:pt x="3589886" y="30683"/>
                  </a:lnTo>
                  <a:lnTo>
                    <a:pt x="259781" y="30683"/>
                  </a:lnTo>
                  <a:cubicBezTo>
                    <a:pt x="141141" y="30683"/>
                    <a:pt x="30683" y="128868"/>
                    <a:pt x="30683" y="259781"/>
                  </a:cubicBezTo>
                  <a:lnTo>
                    <a:pt x="30683" y="4698558"/>
                  </a:lnTo>
                  <a:cubicBezTo>
                    <a:pt x="30683" y="4829472"/>
                    <a:pt x="124777" y="4931748"/>
                    <a:pt x="239326" y="4931748"/>
                  </a:cubicBezTo>
                  <a:lnTo>
                    <a:pt x="7042723" y="4931748"/>
                  </a:lnTo>
                  <a:cubicBezTo>
                    <a:pt x="7157272" y="4931748"/>
                    <a:pt x="7251366" y="4825380"/>
                    <a:pt x="7251366" y="4698558"/>
                  </a:cubicBezTo>
                  <a:lnTo>
                    <a:pt x="7251366" y="259781"/>
                  </a:lnTo>
                  <a:cubicBezTo>
                    <a:pt x="7251366" y="128868"/>
                    <a:pt x="7157272" y="30683"/>
                    <a:pt x="7038632" y="30683"/>
                  </a:cubicBezTo>
                  <a:close/>
                </a:path>
              </a:pathLst>
            </a:custGeom>
            <a:solidFill>
              <a:srgbClr val="999999"/>
            </a:solidFill>
            <a:ln w="9525" cap="flat">
              <a:noFill/>
              <a:prstDash val="solid"/>
              <a:miter/>
            </a:ln>
          </p:spPr>
          <p:txBody>
            <a:bodyPr rtlCol="0" anchor="ctr"/>
            <a:lstStyle/>
            <a:p>
              <a:endParaRPr lang="en-US" dirty="0"/>
            </a:p>
          </p:txBody>
        </p:sp>
        <p:sp>
          <p:nvSpPr>
            <p:cNvPr id="6" name="Freeform: Shape 5">
              <a:extLst>
                <a:ext uri="{FF2B5EF4-FFF2-40B4-BE49-F238E27FC236}">
                  <a16:creationId xmlns:a16="http://schemas.microsoft.com/office/drawing/2014/main" id="{E66B06EB-4D01-476E-8816-406DD42496AD}"/>
                </a:ext>
              </a:extLst>
            </p:cNvPr>
            <p:cNvSpPr/>
            <p:nvPr/>
          </p:nvSpPr>
          <p:spPr>
            <a:xfrm>
              <a:off x="8706599" y="5435655"/>
              <a:ext cx="490925" cy="81821"/>
            </a:xfrm>
            <a:custGeom>
              <a:avLst/>
              <a:gdLst>
                <a:gd name="connsiteX0" fmla="*/ 32212 w 490924"/>
                <a:gd name="connsiteY0" fmla="*/ 30683 h 81820"/>
                <a:gd name="connsiteX1" fmla="*/ 64939 w 490924"/>
                <a:gd name="connsiteY1" fmla="*/ 71593 h 81820"/>
                <a:gd name="connsiteX2" fmla="*/ 461771 w 490924"/>
                <a:gd name="connsiteY2" fmla="*/ 71593 h 81820"/>
                <a:gd name="connsiteX3" fmla="*/ 498590 w 490924"/>
                <a:gd name="connsiteY3" fmla="*/ 30683 h 81820"/>
                <a:gd name="connsiteX4" fmla="*/ 32212 w 490924"/>
                <a:gd name="connsiteY4" fmla="*/ 30683 h 818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924" h="81820">
                  <a:moveTo>
                    <a:pt x="32212" y="30683"/>
                  </a:moveTo>
                  <a:cubicBezTo>
                    <a:pt x="32212" y="30683"/>
                    <a:pt x="19938" y="67502"/>
                    <a:pt x="64939" y="71593"/>
                  </a:cubicBezTo>
                  <a:lnTo>
                    <a:pt x="461771" y="71593"/>
                  </a:lnTo>
                  <a:cubicBezTo>
                    <a:pt x="461771" y="71593"/>
                    <a:pt x="502681" y="75684"/>
                    <a:pt x="498590" y="30683"/>
                  </a:cubicBezTo>
                  <a:lnTo>
                    <a:pt x="32212" y="30683"/>
                  </a:lnTo>
                  <a:close/>
                </a:path>
              </a:pathLst>
            </a:custGeom>
            <a:solidFill>
              <a:srgbClr val="999999"/>
            </a:solid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AA794FB5-56FD-4DD2-A6BC-50568072A96C}"/>
                </a:ext>
              </a:extLst>
            </p:cNvPr>
            <p:cNvSpPr/>
            <p:nvPr/>
          </p:nvSpPr>
          <p:spPr>
            <a:xfrm>
              <a:off x="2481568" y="595956"/>
              <a:ext cx="7200228" cy="4336501"/>
            </a:xfrm>
            <a:custGeom>
              <a:avLst/>
              <a:gdLst>
                <a:gd name="connsiteX0" fmla="*/ 6973175 w 7200227"/>
                <a:gd name="connsiteY0" fmla="*/ 30683 h 4336501"/>
                <a:gd name="connsiteX1" fmla="*/ 3671707 w 7200227"/>
                <a:gd name="connsiteY1" fmla="*/ 30683 h 4336501"/>
                <a:gd name="connsiteX2" fmla="*/ 3561249 w 7200227"/>
                <a:gd name="connsiteY2" fmla="*/ 30683 h 4336501"/>
                <a:gd name="connsiteX3" fmla="*/ 259781 w 7200227"/>
                <a:gd name="connsiteY3" fmla="*/ 30683 h 4336501"/>
                <a:gd name="connsiteX4" fmla="*/ 30683 w 7200227"/>
                <a:gd name="connsiteY4" fmla="*/ 231144 h 4336501"/>
                <a:gd name="connsiteX5" fmla="*/ 30683 w 7200227"/>
                <a:gd name="connsiteY5" fmla="*/ 4330365 h 4336501"/>
                <a:gd name="connsiteX6" fmla="*/ 7185909 w 7200227"/>
                <a:gd name="connsiteY6" fmla="*/ 4330365 h 4336501"/>
                <a:gd name="connsiteX7" fmla="*/ 7185909 w 7200227"/>
                <a:gd name="connsiteY7" fmla="*/ 231144 h 4336501"/>
                <a:gd name="connsiteX8" fmla="*/ 6973175 w 7200227"/>
                <a:gd name="connsiteY8" fmla="*/ 30683 h 4336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0227" h="4336501">
                  <a:moveTo>
                    <a:pt x="6973175" y="30683"/>
                  </a:moveTo>
                  <a:lnTo>
                    <a:pt x="3671707" y="30683"/>
                  </a:lnTo>
                  <a:lnTo>
                    <a:pt x="3561249" y="30683"/>
                  </a:lnTo>
                  <a:lnTo>
                    <a:pt x="259781" y="30683"/>
                  </a:lnTo>
                  <a:cubicBezTo>
                    <a:pt x="141141" y="30683"/>
                    <a:pt x="30683" y="112504"/>
                    <a:pt x="30683" y="231144"/>
                  </a:cubicBezTo>
                  <a:lnTo>
                    <a:pt x="30683" y="4330365"/>
                  </a:lnTo>
                  <a:lnTo>
                    <a:pt x="7185909" y="4330365"/>
                  </a:lnTo>
                  <a:lnTo>
                    <a:pt x="7185909" y="231144"/>
                  </a:lnTo>
                  <a:cubicBezTo>
                    <a:pt x="7185909" y="112504"/>
                    <a:pt x="7091815" y="30683"/>
                    <a:pt x="6973175" y="30683"/>
                  </a:cubicBezTo>
                  <a:close/>
                </a:path>
              </a:pathLst>
            </a:custGeom>
            <a:solidFill>
              <a:srgbClr val="231F20"/>
            </a:solidFill>
            <a:ln w="9525" cap="flat">
              <a:noFill/>
              <a:prstDash val="solid"/>
              <a:miter/>
            </a:ln>
          </p:spPr>
          <p:txBody>
            <a:bodyPr rtlCol="0" anchor="ctr"/>
            <a:lstStyle/>
            <a:p>
              <a:endParaRPr lang="en-US" dirty="0"/>
            </a:p>
          </p:txBody>
        </p:sp>
        <p:sp>
          <p:nvSpPr>
            <p:cNvPr id="8" name="Freeform: Shape 7">
              <a:extLst>
                <a:ext uri="{FF2B5EF4-FFF2-40B4-BE49-F238E27FC236}">
                  <a16:creationId xmlns:a16="http://schemas.microsoft.com/office/drawing/2014/main" id="{B6645D54-179C-4774-B288-64C7444A28D1}"/>
                </a:ext>
              </a:extLst>
            </p:cNvPr>
            <p:cNvSpPr/>
            <p:nvPr/>
          </p:nvSpPr>
          <p:spPr>
            <a:xfrm>
              <a:off x="4968919" y="6159768"/>
              <a:ext cx="2168250" cy="122731"/>
            </a:xfrm>
            <a:custGeom>
              <a:avLst/>
              <a:gdLst>
                <a:gd name="connsiteX0" fmla="*/ 30683 w 2168250"/>
                <a:gd name="connsiteY0" fmla="*/ 34774 h 122731"/>
                <a:gd name="connsiteX1" fmla="*/ 30683 w 2168250"/>
                <a:gd name="connsiteY1" fmla="*/ 34774 h 122731"/>
                <a:gd name="connsiteX2" fmla="*/ 30683 w 2168250"/>
                <a:gd name="connsiteY2" fmla="*/ 38865 h 122731"/>
                <a:gd name="connsiteX3" fmla="*/ 30683 w 2168250"/>
                <a:gd name="connsiteY3" fmla="*/ 38865 h 122731"/>
                <a:gd name="connsiteX4" fmla="*/ 263872 w 2168250"/>
                <a:gd name="connsiteY4" fmla="*/ 96140 h 122731"/>
                <a:gd name="connsiteX5" fmla="*/ 1069807 w 2168250"/>
                <a:gd name="connsiteY5" fmla="*/ 96140 h 122731"/>
                <a:gd name="connsiteX6" fmla="*/ 1118899 w 2168250"/>
                <a:gd name="connsiteY6" fmla="*/ 96140 h 122731"/>
                <a:gd name="connsiteX7" fmla="*/ 1924834 w 2168250"/>
                <a:gd name="connsiteY7" fmla="*/ 96140 h 122731"/>
                <a:gd name="connsiteX8" fmla="*/ 2153932 w 2168250"/>
                <a:gd name="connsiteY8" fmla="*/ 30683 h 122731"/>
                <a:gd name="connsiteX9" fmla="*/ 2137568 w 2168250"/>
                <a:gd name="connsiteY9" fmla="*/ 30683 h 122731"/>
                <a:gd name="connsiteX10" fmla="*/ 2137568 w 2168250"/>
                <a:gd name="connsiteY10" fmla="*/ 30683 h 122731"/>
                <a:gd name="connsiteX11" fmla="*/ 30683 w 2168250"/>
                <a:gd name="connsiteY11" fmla="*/ 30683 h 122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68250" h="122731">
                  <a:moveTo>
                    <a:pt x="30683" y="34774"/>
                  </a:moveTo>
                  <a:lnTo>
                    <a:pt x="30683" y="34774"/>
                  </a:lnTo>
                  <a:cubicBezTo>
                    <a:pt x="30683" y="38865"/>
                    <a:pt x="30683" y="38865"/>
                    <a:pt x="30683" y="38865"/>
                  </a:cubicBezTo>
                  <a:lnTo>
                    <a:pt x="30683" y="38865"/>
                  </a:lnTo>
                  <a:cubicBezTo>
                    <a:pt x="30683" y="79775"/>
                    <a:pt x="96139" y="96140"/>
                    <a:pt x="263872" y="96140"/>
                  </a:cubicBezTo>
                  <a:cubicBezTo>
                    <a:pt x="591155" y="96140"/>
                    <a:pt x="942984" y="96140"/>
                    <a:pt x="1069807" y="96140"/>
                  </a:cubicBezTo>
                  <a:cubicBezTo>
                    <a:pt x="1102535" y="96140"/>
                    <a:pt x="1118899" y="96140"/>
                    <a:pt x="1118899" y="96140"/>
                  </a:cubicBezTo>
                  <a:cubicBezTo>
                    <a:pt x="1249812" y="96140"/>
                    <a:pt x="1601642" y="96140"/>
                    <a:pt x="1924834" y="96140"/>
                  </a:cubicBezTo>
                  <a:cubicBezTo>
                    <a:pt x="2092566" y="96140"/>
                    <a:pt x="2149841" y="75684"/>
                    <a:pt x="2153932" y="30683"/>
                  </a:cubicBezTo>
                  <a:lnTo>
                    <a:pt x="2137568" y="30683"/>
                  </a:lnTo>
                  <a:lnTo>
                    <a:pt x="2137568" y="30683"/>
                  </a:lnTo>
                  <a:lnTo>
                    <a:pt x="30683" y="30683"/>
                  </a:lnTo>
                  <a:close/>
                </a:path>
              </a:pathLst>
            </a:custGeom>
            <a:solidFill>
              <a:schemeClr val="tx1">
                <a:lumMod val="50000"/>
                <a:lumOff val="50000"/>
              </a:schemeClr>
            </a:solidFill>
            <a:ln w="9525" cap="flat">
              <a:noFill/>
              <a:prstDash val="solid"/>
              <a:miter/>
            </a:ln>
          </p:spPr>
          <p:txBody>
            <a:bodyPr rtlCol="0" anchor="ctr"/>
            <a:lstStyle/>
            <a:p>
              <a:endParaRPr lang="en-US" dirty="0"/>
            </a:p>
          </p:txBody>
        </p:sp>
        <p:sp>
          <p:nvSpPr>
            <p:cNvPr id="9" name="Freeform: Shape 8">
              <a:extLst>
                <a:ext uri="{FF2B5EF4-FFF2-40B4-BE49-F238E27FC236}">
                  <a16:creationId xmlns:a16="http://schemas.microsoft.com/office/drawing/2014/main" id="{A808D49B-D73E-40C0-9DE2-734C87F4ED4A}"/>
                </a:ext>
              </a:extLst>
            </p:cNvPr>
            <p:cNvSpPr/>
            <p:nvPr/>
          </p:nvSpPr>
          <p:spPr>
            <a:xfrm>
              <a:off x="2481568" y="4903820"/>
              <a:ext cx="7200228" cy="572745"/>
            </a:xfrm>
            <a:custGeom>
              <a:avLst/>
              <a:gdLst>
                <a:gd name="connsiteX0" fmla="*/ 30683 w 7200227"/>
                <a:gd name="connsiteY0" fmla="*/ 362057 h 572745"/>
                <a:gd name="connsiteX1" fmla="*/ 259781 w 7200227"/>
                <a:gd name="connsiteY1" fmla="*/ 562518 h 572745"/>
                <a:gd name="connsiteX2" fmla="*/ 3561249 w 7200227"/>
                <a:gd name="connsiteY2" fmla="*/ 562518 h 572745"/>
                <a:gd name="connsiteX3" fmla="*/ 3671707 w 7200227"/>
                <a:gd name="connsiteY3" fmla="*/ 562518 h 572745"/>
                <a:gd name="connsiteX4" fmla="*/ 6973175 w 7200227"/>
                <a:gd name="connsiteY4" fmla="*/ 562518 h 572745"/>
                <a:gd name="connsiteX5" fmla="*/ 7185909 w 7200227"/>
                <a:gd name="connsiteY5" fmla="*/ 362057 h 572745"/>
                <a:gd name="connsiteX6" fmla="*/ 7185909 w 7200227"/>
                <a:gd name="connsiteY6" fmla="*/ 30683 h 572745"/>
                <a:gd name="connsiteX7" fmla="*/ 30683 w 7200227"/>
                <a:gd name="connsiteY7" fmla="*/ 30683 h 572745"/>
                <a:gd name="connsiteX8" fmla="*/ 30683 w 7200227"/>
                <a:gd name="connsiteY8" fmla="*/ 362057 h 572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0227" h="572745">
                  <a:moveTo>
                    <a:pt x="30683" y="362057"/>
                  </a:moveTo>
                  <a:cubicBezTo>
                    <a:pt x="30683" y="464333"/>
                    <a:pt x="141141" y="562518"/>
                    <a:pt x="259781" y="562518"/>
                  </a:cubicBezTo>
                  <a:lnTo>
                    <a:pt x="3561249" y="562518"/>
                  </a:lnTo>
                  <a:lnTo>
                    <a:pt x="3671707" y="562518"/>
                  </a:lnTo>
                  <a:lnTo>
                    <a:pt x="6973175" y="562518"/>
                  </a:lnTo>
                  <a:cubicBezTo>
                    <a:pt x="7091815" y="562518"/>
                    <a:pt x="7185909" y="464333"/>
                    <a:pt x="7185909" y="362057"/>
                  </a:cubicBezTo>
                  <a:lnTo>
                    <a:pt x="7185909" y="30683"/>
                  </a:lnTo>
                  <a:lnTo>
                    <a:pt x="30683" y="30683"/>
                  </a:lnTo>
                  <a:lnTo>
                    <a:pt x="30683" y="362057"/>
                  </a:lnTo>
                  <a:close/>
                </a:path>
              </a:pathLst>
            </a:custGeom>
            <a:solidFill>
              <a:schemeClr val="bg1">
                <a:lumMod val="75000"/>
              </a:schemeClr>
            </a:solid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D5EBDA67-1D35-469F-A9BB-2048D0B74D78}"/>
                </a:ext>
              </a:extLst>
            </p:cNvPr>
            <p:cNvSpPr/>
            <p:nvPr/>
          </p:nvSpPr>
          <p:spPr>
            <a:xfrm>
              <a:off x="2747714" y="910966"/>
              <a:ext cx="6676116" cy="3763756"/>
            </a:xfrm>
            <a:custGeom>
              <a:avLst/>
              <a:gdLst>
                <a:gd name="connsiteX0" fmla="*/ 30683 w 6586571"/>
                <a:gd name="connsiteY0" fmla="*/ 30683 h 3763755"/>
                <a:gd name="connsiteX1" fmla="*/ 6564071 w 6586571"/>
                <a:gd name="connsiteY1" fmla="*/ 30683 h 3763755"/>
                <a:gd name="connsiteX2" fmla="*/ 6564071 w 6586571"/>
                <a:gd name="connsiteY2" fmla="*/ 3753528 h 3763755"/>
                <a:gd name="connsiteX3" fmla="*/ 30683 w 6586571"/>
                <a:gd name="connsiteY3" fmla="*/ 3753528 h 3763755"/>
              </a:gdLst>
              <a:ahLst/>
              <a:cxnLst>
                <a:cxn ang="0">
                  <a:pos x="connsiteX0" y="connsiteY0"/>
                </a:cxn>
                <a:cxn ang="0">
                  <a:pos x="connsiteX1" y="connsiteY1"/>
                </a:cxn>
                <a:cxn ang="0">
                  <a:pos x="connsiteX2" y="connsiteY2"/>
                </a:cxn>
                <a:cxn ang="0">
                  <a:pos x="connsiteX3" y="connsiteY3"/>
                </a:cxn>
              </a:cxnLst>
              <a:rect l="l" t="t" r="r" b="b"/>
              <a:pathLst>
                <a:path w="6586571" h="3763755">
                  <a:moveTo>
                    <a:pt x="30683" y="30683"/>
                  </a:moveTo>
                  <a:lnTo>
                    <a:pt x="6564071" y="30683"/>
                  </a:lnTo>
                  <a:lnTo>
                    <a:pt x="6564071" y="3753528"/>
                  </a:lnTo>
                  <a:lnTo>
                    <a:pt x="30683" y="3753528"/>
                  </a:lnTo>
                  <a:close/>
                </a:path>
              </a:pathLst>
            </a:custGeom>
            <a:solidFill>
              <a:srgbClr val="F2F2F2"/>
            </a:solid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CD33199-7220-420F-84B8-6AB5253496BF}"/>
                </a:ext>
              </a:extLst>
            </p:cNvPr>
            <p:cNvSpPr/>
            <p:nvPr/>
          </p:nvSpPr>
          <p:spPr>
            <a:xfrm>
              <a:off x="5654591" y="939518"/>
              <a:ext cx="3769239" cy="3736342"/>
            </a:xfrm>
            <a:custGeom>
              <a:avLst/>
              <a:gdLst>
                <a:gd name="connsiteX0" fmla="*/ 2567127 w 4009217"/>
                <a:gd name="connsiteY0" fmla="*/ 30683 h 4295590"/>
                <a:gd name="connsiteX1" fmla="*/ 3798529 w 4009217"/>
                <a:gd name="connsiteY1" fmla="*/ 30683 h 4295590"/>
                <a:gd name="connsiteX2" fmla="*/ 4007172 w 4009217"/>
                <a:gd name="connsiteY2" fmla="*/ 272054 h 4295590"/>
                <a:gd name="connsiteX3" fmla="*/ 3998990 w 4009217"/>
                <a:gd name="connsiteY3" fmla="*/ 4268999 h 4295590"/>
                <a:gd name="connsiteX4" fmla="*/ 30683 w 4009217"/>
                <a:gd name="connsiteY4" fmla="*/ 4268999 h 4295590"/>
                <a:gd name="connsiteX0" fmla="*/ 2536444 w 3976489"/>
                <a:gd name="connsiteY0" fmla="*/ 0 h 4238316"/>
                <a:gd name="connsiteX1" fmla="*/ 3976489 w 3976489"/>
                <a:gd name="connsiteY1" fmla="*/ 241371 h 4238316"/>
                <a:gd name="connsiteX2" fmla="*/ 3968307 w 3976489"/>
                <a:gd name="connsiteY2" fmla="*/ 4238316 h 4238316"/>
                <a:gd name="connsiteX3" fmla="*/ 0 w 3976489"/>
                <a:gd name="connsiteY3" fmla="*/ 4238316 h 4238316"/>
                <a:gd name="connsiteX0" fmla="*/ 2536444 w 3976489"/>
                <a:gd name="connsiteY0" fmla="*/ 0 h 4238316"/>
                <a:gd name="connsiteX1" fmla="*/ 3976489 w 3976489"/>
                <a:gd name="connsiteY1" fmla="*/ 213683 h 4238316"/>
                <a:gd name="connsiteX2" fmla="*/ 3968307 w 3976489"/>
                <a:gd name="connsiteY2" fmla="*/ 4238316 h 4238316"/>
                <a:gd name="connsiteX3" fmla="*/ 0 w 3976489"/>
                <a:gd name="connsiteY3" fmla="*/ 4238316 h 4238316"/>
                <a:gd name="connsiteX0" fmla="*/ 2473335 w 3976489"/>
                <a:gd name="connsiteY0" fmla="*/ 0 h 4035268"/>
                <a:gd name="connsiteX1" fmla="*/ 3976489 w 3976489"/>
                <a:gd name="connsiteY1" fmla="*/ 10635 h 4035268"/>
                <a:gd name="connsiteX2" fmla="*/ 3968307 w 3976489"/>
                <a:gd name="connsiteY2" fmla="*/ 4035268 h 4035268"/>
                <a:gd name="connsiteX3" fmla="*/ 0 w 3976489"/>
                <a:gd name="connsiteY3" fmla="*/ 4035268 h 4035268"/>
              </a:gdLst>
              <a:ahLst/>
              <a:cxnLst>
                <a:cxn ang="0">
                  <a:pos x="connsiteX0" y="connsiteY0"/>
                </a:cxn>
                <a:cxn ang="0">
                  <a:pos x="connsiteX1" y="connsiteY1"/>
                </a:cxn>
                <a:cxn ang="0">
                  <a:pos x="connsiteX2" y="connsiteY2"/>
                </a:cxn>
                <a:cxn ang="0">
                  <a:pos x="connsiteX3" y="connsiteY3"/>
                </a:cxn>
              </a:cxnLst>
              <a:rect l="l" t="t" r="r" b="b"/>
              <a:pathLst>
                <a:path w="3976489" h="4035268">
                  <a:moveTo>
                    <a:pt x="2473335" y="0"/>
                  </a:moveTo>
                  <a:lnTo>
                    <a:pt x="3976489" y="10635"/>
                  </a:lnTo>
                  <a:cubicBezTo>
                    <a:pt x="3973762" y="1342950"/>
                    <a:pt x="3971034" y="2702953"/>
                    <a:pt x="3968307" y="4035268"/>
                  </a:cubicBezTo>
                  <a:lnTo>
                    <a:pt x="0" y="4035268"/>
                  </a:lnTo>
                </a:path>
              </a:pathLst>
            </a:custGeom>
            <a:solidFill>
              <a:srgbClr val="999999">
                <a:alpha val="10000"/>
              </a:srgbClr>
            </a:solidFill>
            <a:ln w="9525" cap="flat">
              <a:noFill/>
              <a:prstDash val="solid"/>
              <a:miter/>
            </a:ln>
          </p:spPr>
          <p:txBody>
            <a:bodyPr rtlCol="0" anchor="ctr"/>
            <a:lstStyle/>
            <a:p>
              <a:endParaRPr lang="en-US" dirty="0"/>
            </a:p>
          </p:txBody>
        </p:sp>
      </p:grpSp>
      <p:sp>
        <p:nvSpPr>
          <p:cNvPr id="12" name="그림 개체 틀 2">
            <a:extLst>
              <a:ext uri="{FF2B5EF4-FFF2-40B4-BE49-F238E27FC236}">
                <a16:creationId xmlns:a16="http://schemas.microsoft.com/office/drawing/2014/main" id="{6D5018D5-E1C2-400A-8EA3-9D56FD670CFC}"/>
              </a:ext>
            </a:extLst>
          </p:cNvPr>
          <p:cNvSpPr>
            <a:spLocks noGrp="1"/>
          </p:cNvSpPr>
          <p:nvPr>
            <p:ph type="pic" sz="quarter" idx="14" hasCustomPrompt="1"/>
          </p:nvPr>
        </p:nvSpPr>
        <p:spPr>
          <a:xfrm>
            <a:off x="7200473" y="2541394"/>
            <a:ext cx="4108512" cy="2372307"/>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defRPr>
            </a:lvl1pPr>
          </a:lstStyle>
          <a:p>
            <a:r>
              <a:rPr lang="en-US" altLang="ko-KR" dirty="0"/>
              <a:t>Place Your Picture Here</a:t>
            </a:r>
            <a:endParaRPr lang="ko-KR" altLang="en-US" dirty="0"/>
          </a:p>
        </p:txBody>
      </p:sp>
      <p:sp>
        <p:nvSpPr>
          <p:cNvPr id="13" name="Text Placeholder 9">
            <a:extLst>
              <a:ext uri="{FF2B5EF4-FFF2-40B4-BE49-F238E27FC236}">
                <a16:creationId xmlns:a16="http://schemas.microsoft.com/office/drawing/2014/main" id="{8CC03A55-E124-4931-9F15-6129FFD1765B}"/>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15380916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0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0271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1_Contents slide layout">
    <p:spTree>
      <p:nvGrpSpPr>
        <p:cNvPr id="1" name=""/>
        <p:cNvGrpSpPr/>
        <p:nvPr/>
      </p:nvGrpSpPr>
      <p:grpSpPr>
        <a:xfrm>
          <a:off x="0" y="0"/>
          <a:ext cx="0" cy="0"/>
          <a:chOff x="0" y="0"/>
          <a:chExt cx="0" cy="0"/>
        </a:xfrm>
      </p:grpSpPr>
      <p:sp>
        <p:nvSpPr>
          <p:cNvPr id="2" name="그림 개체 틀 2">
            <a:extLst>
              <a:ext uri="{FF2B5EF4-FFF2-40B4-BE49-F238E27FC236}">
                <a16:creationId xmlns:a16="http://schemas.microsoft.com/office/drawing/2014/main" id="{9950FBB0-3B3F-4C35-A600-1410C1F5E130}"/>
              </a:ext>
            </a:extLst>
          </p:cNvPr>
          <p:cNvSpPr>
            <a:spLocks noGrp="1"/>
          </p:cNvSpPr>
          <p:nvPr>
            <p:ph type="pic" sz="quarter" idx="14" hasCustomPrompt="1"/>
          </p:nvPr>
        </p:nvSpPr>
        <p:spPr>
          <a:xfrm>
            <a:off x="6096000" y="0"/>
            <a:ext cx="6096000" cy="6858000"/>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defRPr>
            </a:lvl1pPr>
          </a:lstStyle>
          <a:p>
            <a:r>
              <a:rPr lang="en-US" altLang="ko-KR" dirty="0"/>
              <a:t>Place Your Picture Here And Send To Back</a:t>
            </a:r>
            <a:endParaRPr lang="ko-KR" altLang="en-US" dirty="0"/>
          </a:p>
        </p:txBody>
      </p:sp>
    </p:spTree>
    <p:extLst>
      <p:ext uri="{BB962C8B-B14F-4D97-AF65-F5344CB8AC3E}">
        <p14:creationId xmlns:p14="http://schemas.microsoft.com/office/powerpoint/2010/main" val="38299655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33375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3_Contents slide layout">
    <p:spTree>
      <p:nvGrpSpPr>
        <p:cNvPr id="1" name=""/>
        <p:cNvGrpSpPr/>
        <p:nvPr/>
      </p:nvGrpSpPr>
      <p:grpSpPr>
        <a:xfrm>
          <a:off x="0" y="0"/>
          <a:ext cx="0" cy="0"/>
          <a:chOff x="0" y="0"/>
          <a:chExt cx="0" cy="0"/>
        </a:xfrm>
      </p:grpSpPr>
      <p:sp>
        <p:nvSpPr>
          <p:cNvPr id="2" name="그림 개체 틀 2">
            <a:extLst>
              <a:ext uri="{FF2B5EF4-FFF2-40B4-BE49-F238E27FC236}">
                <a16:creationId xmlns:a16="http://schemas.microsoft.com/office/drawing/2014/main" id="{7E10831A-AB0B-4587-98AD-C98ADF8864CD}"/>
              </a:ext>
            </a:extLst>
          </p:cNvPr>
          <p:cNvSpPr>
            <a:spLocks noGrp="1"/>
          </p:cNvSpPr>
          <p:nvPr>
            <p:ph type="pic" sz="quarter" idx="14" hasCustomPrompt="1"/>
          </p:nvPr>
        </p:nvSpPr>
        <p:spPr>
          <a:xfrm>
            <a:off x="0" y="-1"/>
            <a:ext cx="12192000" cy="3950899"/>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defRPr>
            </a:lvl1pPr>
          </a:lstStyle>
          <a:p>
            <a:r>
              <a:rPr lang="en-US" altLang="ko-KR" dirty="0"/>
              <a:t>Place Your Picture Here And Send To Back</a:t>
            </a:r>
            <a:endParaRPr lang="ko-KR" altLang="en-US" dirty="0"/>
          </a:p>
        </p:txBody>
      </p:sp>
    </p:spTree>
    <p:extLst>
      <p:ext uri="{BB962C8B-B14F-4D97-AF65-F5344CB8AC3E}">
        <p14:creationId xmlns:p14="http://schemas.microsoft.com/office/powerpoint/2010/main" val="4452355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4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83048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5_Contents slide layout">
    <p:spTree>
      <p:nvGrpSpPr>
        <p:cNvPr id="1" name=""/>
        <p:cNvGrpSpPr/>
        <p:nvPr/>
      </p:nvGrpSpPr>
      <p:grpSpPr>
        <a:xfrm>
          <a:off x="0" y="0"/>
          <a:ext cx="0" cy="0"/>
          <a:chOff x="0" y="0"/>
          <a:chExt cx="0" cy="0"/>
        </a:xfrm>
      </p:grpSpPr>
      <p:sp>
        <p:nvSpPr>
          <p:cNvPr id="2" name="Frame 1">
            <a:extLst>
              <a:ext uri="{FF2B5EF4-FFF2-40B4-BE49-F238E27FC236}">
                <a16:creationId xmlns:a16="http://schemas.microsoft.com/office/drawing/2014/main" id="{F03643FF-20B4-4A0D-9867-3731EBB88DEC}"/>
              </a:ext>
            </a:extLst>
          </p:cNvPr>
          <p:cNvSpPr/>
          <p:nvPr userDrawn="1"/>
        </p:nvSpPr>
        <p:spPr>
          <a:xfrm>
            <a:off x="356152" y="473558"/>
            <a:ext cx="11479696" cy="5910884"/>
          </a:xfrm>
          <a:prstGeom prst="frame">
            <a:avLst>
              <a:gd name="adj1" fmla="val 584"/>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그림 개체 틀 2">
            <a:extLst>
              <a:ext uri="{FF2B5EF4-FFF2-40B4-BE49-F238E27FC236}">
                <a16:creationId xmlns:a16="http://schemas.microsoft.com/office/drawing/2014/main" id="{74523200-C4F6-4FDD-BA5E-DB235F4D0228}"/>
              </a:ext>
            </a:extLst>
          </p:cNvPr>
          <p:cNvSpPr>
            <a:spLocks noGrp="1"/>
          </p:cNvSpPr>
          <p:nvPr>
            <p:ph type="pic" sz="quarter" idx="14" hasCustomPrompt="1"/>
          </p:nvPr>
        </p:nvSpPr>
        <p:spPr>
          <a:xfrm>
            <a:off x="648128" y="258417"/>
            <a:ext cx="10895743" cy="3687417"/>
          </a:xfrm>
          <a:prstGeom prst="rect">
            <a:avLst/>
          </a:prstGeom>
          <a:solidFill>
            <a:schemeClr val="bg1">
              <a:lumMod val="9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buNone/>
              <a:defRPr lang="ko-KR" altLang="en-US" sz="1600" dirty="0">
                <a:solidFill>
                  <a:schemeClr val="tx1">
                    <a:lumMod val="75000"/>
                    <a:lumOff val="25000"/>
                  </a:schemeClr>
                </a:solidFill>
              </a:defRPr>
            </a:lvl1pPr>
          </a:lstStyle>
          <a:p>
            <a:pPr marL="0" lvl="0" algn="ctr"/>
            <a:r>
              <a:rPr lang="en-US" altLang="ko-KR" dirty="0"/>
              <a:t>Place Your Picture Here </a:t>
            </a:r>
          </a:p>
        </p:txBody>
      </p:sp>
    </p:spTree>
    <p:extLst>
      <p:ext uri="{BB962C8B-B14F-4D97-AF65-F5344CB8AC3E}">
        <p14:creationId xmlns:p14="http://schemas.microsoft.com/office/powerpoint/2010/main" val="3695333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7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312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3086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NG sets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332482"/>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PNG &amp; Shapes Layout</a:t>
            </a:r>
          </a:p>
        </p:txBody>
      </p:sp>
    </p:spTree>
    <p:extLst>
      <p:ext uri="{BB962C8B-B14F-4D97-AF65-F5344CB8AC3E}">
        <p14:creationId xmlns:p14="http://schemas.microsoft.com/office/powerpoint/2010/main" val="11204569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con sets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123478"/>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Icon Sets Layout</a:t>
            </a:r>
          </a:p>
        </p:txBody>
      </p:sp>
      <p:sp>
        <p:nvSpPr>
          <p:cNvPr id="3" name="Rounded Rectangle 2"/>
          <p:cNvSpPr/>
          <p:nvPr userDrawn="1"/>
        </p:nvSpPr>
        <p:spPr>
          <a:xfrm>
            <a:off x="354010" y="1131591"/>
            <a:ext cx="3560767" cy="5402561"/>
          </a:xfrm>
          <a:prstGeom prst="roundRect">
            <a:avLst>
              <a:gd name="adj" fmla="val 396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p>
        </p:txBody>
      </p:sp>
      <p:sp>
        <p:nvSpPr>
          <p:cNvPr id="4" name="Rounded Rectangle 3"/>
          <p:cNvSpPr/>
          <p:nvPr userDrawn="1"/>
        </p:nvSpPr>
        <p:spPr>
          <a:xfrm>
            <a:off x="531933" y="1347500"/>
            <a:ext cx="153868" cy="5015200"/>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bg1"/>
              </a:solidFill>
            </a:endParaRPr>
          </a:p>
        </p:txBody>
      </p:sp>
      <p:sp>
        <p:nvSpPr>
          <p:cNvPr id="5" name="Half Frame 4"/>
          <p:cNvSpPr/>
          <p:nvPr userDrawn="1"/>
        </p:nvSpPr>
        <p:spPr>
          <a:xfrm rot="5400000">
            <a:off x="3057177" y="1276653"/>
            <a:ext cx="685849" cy="685148"/>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tx1">
                  <a:lumMod val="85000"/>
                  <a:lumOff val="15000"/>
                </a:schemeClr>
              </a:solidFill>
            </a:endParaRPr>
          </a:p>
        </p:txBody>
      </p:sp>
      <p:sp>
        <p:nvSpPr>
          <p:cNvPr id="58" name="TextBox 57">
            <a:extLst>
              <a:ext uri="{FF2B5EF4-FFF2-40B4-BE49-F238E27FC236}">
                <a16:creationId xmlns:a16="http://schemas.microsoft.com/office/drawing/2014/main" id="{5644E8BB-F13A-4AE0-889E-633DE4143787}"/>
              </a:ext>
            </a:extLst>
          </p:cNvPr>
          <p:cNvSpPr txBox="1"/>
          <p:nvPr userDrawn="1"/>
        </p:nvSpPr>
        <p:spPr>
          <a:xfrm>
            <a:off x="711704" y="1637214"/>
            <a:ext cx="2232248" cy="523220"/>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Resize without losing quality</a:t>
            </a:r>
            <a:endParaRPr lang="ko-KR" altLang="en-US" sz="1400" b="1" dirty="0">
              <a:solidFill>
                <a:schemeClr val="bg1"/>
              </a:solidFill>
              <a:latin typeface="Arial" pitchFamily="34" charset="0"/>
              <a:cs typeface="Arial" pitchFamily="34" charset="0"/>
            </a:endParaRPr>
          </a:p>
        </p:txBody>
      </p:sp>
      <p:sp>
        <p:nvSpPr>
          <p:cNvPr id="59" name="TextBox 58">
            <a:extLst>
              <a:ext uri="{FF2B5EF4-FFF2-40B4-BE49-F238E27FC236}">
                <a16:creationId xmlns:a16="http://schemas.microsoft.com/office/drawing/2014/main" id="{F2CE2B8B-ED32-491A-95B2-D28904BC432C}"/>
              </a:ext>
            </a:extLst>
          </p:cNvPr>
          <p:cNvSpPr txBox="1"/>
          <p:nvPr userDrawn="1"/>
        </p:nvSpPr>
        <p:spPr>
          <a:xfrm>
            <a:off x="711704" y="2127463"/>
            <a:ext cx="2232248" cy="738664"/>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Change Fill Color &amp;</a:t>
            </a:r>
          </a:p>
          <a:p>
            <a:r>
              <a:rPr lang="en-US" altLang="ko-KR" sz="1400" b="1" dirty="0">
                <a:solidFill>
                  <a:schemeClr val="bg1"/>
                </a:solidFill>
                <a:latin typeface="Arial" pitchFamily="34" charset="0"/>
                <a:cs typeface="Arial" pitchFamily="34" charset="0"/>
              </a:rPr>
              <a:t>Line Color</a:t>
            </a:r>
            <a:endParaRPr lang="ko-KR" altLang="en-US" sz="1400" b="1" dirty="0">
              <a:solidFill>
                <a:schemeClr val="bg1"/>
              </a:solidFill>
              <a:latin typeface="Arial" pitchFamily="34" charset="0"/>
              <a:cs typeface="Arial" pitchFamily="34" charset="0"/>
            </a:endParaRPr>
          </a:p>
        </p:txBody>
      </p:sp>
      <p:sp>
        <p:nvSpPr>
          <p:cNvPr id="60" name="TextBox 59">
            <a:extLst>
              <a:ext uri="{FF2B5EF4-FFF2-40B4-BE49-F238E27FC236}">
                <a16:creationId xmlns:a16="http://schemas.microsoft.com/office/drawing/2014/main" id="{962A52DF-2523-4479-BFA3-B5ACE9887E1C}"/>
              </a:ext>
            </a:extLst>
          </p:cNvPr>
          <p:cNvSpPr txBox="1"/>
          <p:nvPr userDrawn="1"/>
        </p:nvSpPr>
        <p:spPr>
          <a:xfrm>
            <a:off x="721229" y="5808438"/>
            <a:ext cx="2232000" cy="307777"/>
          </a:xfrm>
          <a:prstGeom prst="rect">
            <a:avLst/>
          </a:prstGeom>
          <a:noFill/>
        </p:spPr>
        <p:txBody>
          <a:bodyPr wrap="square" rtlCol="0" anchor="ctr">
            <a:spAutoFit/>
          </a:bodyPr>
          <a:lstStyle/>
          <a:p>
            <a:r>
              <a:rPr lang="en-US" altLang="ko-KR" sz="1400" dirty="0">
                <a:solidFill>
                  <a:schemeClr val="bg1"/>
                </a:solidFill>
                <a:latin typeface="Arial" pitchFamily="34" charset="0"/>
                <a:cs typeface="Arial" pitchFamily="34" charset="0"/>
              </a:rPr>
              <a:t>www.allppt.com</a:t>
            </a:r>
            <a:endParaRPr lang="ko-KR" altLang="en-US" sz="1400" dirty="0">
              <a:solidFill>
                <a:schemeClr val="bg1"/>
              </a:solidFill>
              <a:latin typeface="Arial" pitchFamily="34" charset="0"/>
              <a:cs typeface="Arial" pitchFamily="34" charset="0"/>
            </a:endParaRPr>
          </a:p>
        </p:txBody>
      </p:sp>
      <p:sp>
        <p:nvSpPr>
          <p:cNvPr id="61" name="TextBox 60">
            <a:extLst>
              <a:ext uri="{FF2B5EF4-FFF2-40B4-BE49-F238E27FC236}">
                <a16:creationId xmlns:a16="http://schemas.microsoft.com/office/drawing/2014/main" id="{BAAC314F-E96A-4408-95DE-A70E9ED054AF}"/>
              </a:ext>
            </a:extLst>
          </p:cNvPr>
          <p:cNvSpPr txBox="1"/>
          <p:nvPr userDrawn="1"/>
        </p:nvSpPr>
        <p:spPr>
          <a:xfrm>
            <a:off x="721229" y="4450324"/>
            <a:ext cx="2717296" cy="1384995"/>
          </a:xfrm>
          <a:prstGeom prst="rect">
            <a:avLst/>
          </a:prstGeom>
          <a:noFill/>
        </p:spPr>
        <p:txBody>
          <a:bodyPr wrap="square" rtlCol="0" anchor="ctr">
            <a:spAutoFit/>
          </a:bodyPr>
          <a:lstStyle/>
          <a:p>
            <a:r>
              <a:rPr lang="en-US" altLang="ko-KR" sz="2800" b="1" dirty="0">
                <a:solidFill>
                  <a:schemeClr val="bg1"/>
                </a:solidFill>
                <a:latin typeface="+mn-lt"/>
                <a:ea typeface="+mn-ea"/>
                <a:cs typeface="Arial" pitchFamily="34" charset="0"/>
              </a:rPr>
              <a:t>FREE </a:t>
            </a:r>
          </a:p>
          <a:p>
            <a:r>
              <a:rPr lang="en-US" altLang="ko-KR" sz="2800" b="1" dirty="0">
                <a:solidFill>
                  <a:schemeClr val="bg1"/>
                </a:solidFill>
                <a:latin typeface="+mn-lt"/>
                <a:ea typeface="+mn-ea"/>
                <a:cs typeface="Arial" pitchFamily="34" charset="0"/>
              </a:rPr>
              <a:t>PPT TEMPLATES</a:t>
            </a:r>
          </a:p>
        </p:txBody>
      </p:sp>
    </p:spTree>
    <p:extLst>
      <p:ext uri="{BB962C8B-B14F-4D97-AF65-F5344CB8AC3E}">
        <p14:creationId xmlns:p14="http://schemas.microsoft.com/office/powerpoint/2010/main" val="33920018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Section Break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00110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CD19FB2-3AAB-4D03-B13A-2960828C78E3}" type="datetimeFigureOut">
              <a:rPr lang="en-US" smtClean="0"/>
              <a:t>2/23/2024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07431657"/>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916976-5D93-46E4-A98A-FAD63E4D0EA8}" type="datetimeFigureOut">
              <a:rPr lang="en-US" smtClean="0"/>
              <a:t>2/23/2024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651058485"/>
      </p:ext>
    </p:extLst>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39F4F5-F4D2-4D2A-AB60-88D37ADCB869}" type="datetimeFigureOut">
              <a:rPr lang="en-US" smtClean="0"/>
              <a:t>2/23/2024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205517677"/>
      </p:ext>
    </p:extLst>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D23BC6CE-6D1E-47E5-8859-F31AC5380EB2}" type="datetimeFigureOut">
              <a:rPr lang="en-US" smtClean="0"/>
              <a:t>2/23/2024</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331094606"/>
      </p:ext>
    </p:extLst>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B1B4E7C4-4DA4-404D-9965-B13F2DD7D8BF}" type="datetimeFigureOut">
              <a:rPr lang="en-US" smtClean="0"/>
              <a:t>2/23/2024</a:t>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37275283"/>
      </p:ext>
    </p:extLst>
  </p:cSld>
  <p:clrMapOvr>
    <a:masterClrMapping/>
  </p:clrMapOvr>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476FB7AA-4A53-424F-AD41-70827B6504BA}" type="datetimeFigureOut">
              <a:rPr lang="en-US" smtClean="0"/>
              <a:t>2/23/2024</a:t>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450151297"/>
      </p:ext>
    </p:extLst>
  </p:cSld>
  <p:clrMapOvr>
    <a:masterClrMapping/>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E7884882-FB12-4BC8-9960-9AD8104D7FAE}" type="datetimeFigureOut">
              <a:rPr lang="en-US" smtClean="0"/>
              <a:t>2/23/2024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428599800"/>
      </p:ext>
    </p:extLst>
  </p:cSld>
  <p:clrMapOvr>
    <a:masterClrMapping/>
  </p:clrMapOvr>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F7D1BD23-6E54-4D9D-AD88-A2813C73CC25}" type="datetimeFigureOut">
              <a:rPr lang="en-US" smtClean="0"/>
              <a:t>2/23/2024</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481897954"/>
      </p:ext>
    </p:extLst>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50000"/>
              <a:lumOff val="5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1471A834-4F3C-4AF9-9C74-05EC35A0F292}" type="datetimeFigureOut">
              <a:rPr lang="en-US" smtClean="0"/>
              <a:t>2/23/2024</a:t>
            </a:fld>
            <a:endParaRPr lang="en-US" dirty="0"/>
          </a:p>
        </p:txBody>
      </p:sp>
      <p:sp>
        <p:nvSpPr>
          <p:cNvPr id="9" name="Footer Placeholder 8"/>
          <p:cNvSpPr>
            <a:spLocks noGrp="1"/>
          </p:cNvSpPr>
          <p:nvPr>
            <p:ph type="ftr" sz="quarter" idx="11"/>
          </p:nvPr>
        </p:nvSpPr>
        <p:spPr>
          <a:xfrm>
            <a:off x="3499101" y="6356350"/>
            <a:ext cx="5911517" cy="365125"/>
          </a:xfrm>
        </p:spPr>
        <p:txBody>
          <a:bodyPr/>
          <a:lstStyle/>
          <a:p>
            <a:endParaRPr lang="en-US" dirty="0"/>
          </a:p>
        </p:txBody>
      </p:sp>
      <p:sp>
        <p:nvSpPr>
          <p:cNvPr id="10" name="Slide Number Placeholder 9"/>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536332859"/>
      </p:ext>
    </p:extLst>
  </p:cSld>
  <p:clrMapOvr>
    <a:masterClrMapping/>
  </p:clrMapOvr>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DED02AE-B9A4-47BD-AF8E-97E16144138B}" type="datetimeFigureOut">
              <a:rPr lang="en-US" smtClean="0"/>
              <a:t>2/23/2024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884084139"/>
      </p:ext>
    </p:extLst>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F0FD78B-DB02-4362-BCDC-98A55456977C}" type="datetimeFigureOut">
              <a:rPr lang="en-US" smtClean="0"/>
              <a:t>2/23/2024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96817506"/>
      </p:ext>
    </p:extLst>
  </p:cSld>
  <p:clrMapOvr>
    <a:masterClrMapping/>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Cover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997694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End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257786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99206-8460-00D6-B50E-9FB022CDB71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27A4019-D0F1-B0EA-B373-3E4DCBCBE9C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A0615E3-DD4B-7144-0B27-440C3E0CE694}"/>
              </a:ext>
            </a:extLst>
          </p:cNvPr>
          <p:cNvSpPr>
            <a:spLocks noGrp="1"/>
          </p:cNvSpPr>
          <p:nvPr>
            <p:ph type="dt" sz="half" idx="10"/>
          </p:nvPr>
        </p:nvSpPr>
        <p:spPr/>
        <p:txBody>
          <a:bodyPr/>
          <a:lstStyle/>
          <a:p>
            <a:fld id="{E5272DFF-BC94-4338-93EF-3E9F3211E955}" type="datetimeFigureOut">
              <a:rPr lang="en-US" smtClean="0"/>
              <a:t>2/23/2024</a:t>
            </a:fld>
            <a:endParaRPr lang="en-US"/>
          </a:p>
        </p:txBody>
      </p:sp>
      <p:sp>
        <p:nvSpPr>
          <p:cNvPr id="5" name="Footer Placeholder 4">
            <a:extLst>
              <a:ext uri="{FF2B5EF4-FFF2-40B4-BE49-F238E27FC236}">
                <a16:creationId xmlns:a16="http://schemas.microsoft.com/office/drawing/2014/main" id="{518046DD-B44C-DF72-44E9-F8A9BB1B20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6F05AC-4478-D9BD-ADED-407D6209BCC1}"/>
              </a:ext>
            </a:extLst>
          </p:cNvPr>
          <p:cNvSpPr>
            <a:spLocks noGrp="1"/>
          </p:cNvSpPr>
          <p:nvPr>
            <p:ph type="sldNum" sz="quarter" idx="12"/>
          </p:nvPr>
        </p:nvSpPr>
        <p:spPr/>
        <p:txBody>
          <a:bodyPr/>
          <a:lstStyle/>
          <a:p>
            <a:fld id="{7532B130-D234-4A7A-B146-E566CF851299}" type="slidenum">
              <a:rPr lang="en-US" smtClean="0"/>
              <a:t>‹#›</a:t>
            </a:fld>
            <a:endParaRPr lang="en-US"/>
          </a:p>
        </p:txBody>
      </p:sp>
    </p:spTree>
    <p:extLst>
      <p:ext uri="{BB962C8B-B14F-4D97-AF65-F5344CB8AC3E}">
        <p14:creationId xmlns:p14="http://schemas.microsoft.com/office/powerpoint/2010/main" val="814841869"/>
      </p:ext>
    </p:extLst>
  </p:cSld>
  <p:clrMapOvr>
    <a:masterClrMapping/>
  </p:clrMapOvr>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36662-FDE6-ED82-79F2-CE150205E3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12AC209-9C47-8DCE-41FE-F885ACE563D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1D2D20-3110-42F0-0613-86A45BB4CF01}"/>
              </a:ext>
            </a:extLst>
          </p:cNvPr>
          <p:cNvSpPr>
            <a:spLocks noGrp="1"/>
          </p:cNvSpPr>
          <p:nvPr>
            <p:ph type="dt" sz="half" idx="10"/>
          </p:nvPr>
        </p:nvSpPr>
        <p:spPr/>
        <p:txBody>
          <a:bodyPr/>
          <a:lstStyle/>
          <a:p>
            <a:fld id="{E5272DFF-BC94-4338-93EF-3E9F3211E955}" type="datetimeFigureOut">
              <a:rPr lang="en-US" smtClean="0"/>
              <a:t>2/23/2024</a:t>
            </a:fld>
            <a:endParaRPr lang="en-US"/>
          </a:p>
        </p:txBody>
      </p:sp>
      <p:sp>
        <p:nvSpPr>
          <p:cNvPr id="5" name="Footer Placeholder 4">
            <a:extLst>
              <a:ext uri="{FF2B5EF4-FFF2-40B4-BE49-F238E27FC236}">
                <a16:creationId xmlns:a16="http://schemas.microsoft.com/office/drawing/2014/main" id="{CF7444B6-2AD9-65D5-A7E8-70A446FD68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719B03-F644-38CD-C810-019EDF0D2E26}"/>
              </a:ext>
            </a:extLst>
          </p:cNvPr>
          <p:cNvSpPr>
            <a:spLocks noGrp="1"/>
          </p:cNvSpPr>
          <p:nvPr>
            <p:ph type="sldNum" sz="quarter" idx="12"/>
          </p:nvPr>
        </p:nvSpPr>
        <p:spPr/>
        <p:txBody>
          <a:bodyPr/>
          <a:lstStyle/>
          <a:p>
            <a:fld id="{7532B130-D234-4A7A-B146-E566CF851299}" type="slidenum">
              <a:rPr lang="en-US" smtClean="0"/>
              <a:t>‹#›</a:t>
            </a:fld>
            <a:endParaRPr lang="en-US"/>
          </a:p>
        </p:txBody>
      </p:sp>
    </p:spTree>
    <p:extLst>
      <p:ext uri="{BB962C8B-B14F-4D97-AF65-F5344CB8AC3E}">
        <p14:creationId xmlns:p14="http://schemas.microsoft.com/office/powerpoint/2010/main" val="447262723"/>
      </p:ext>
    </p:extLst>
  </p:cSld>
  <p:clrMapOvr>
    <a:masterClrMapping/>
  </p:clrMapOvr>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B06A7-012F-D755-51E1-BF498E3E44A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B01B276-FEAB-5F05-FA3A-C15F14988D3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145AD2E-5B2B-0D3E-1C42-4C827A58E2EF}"/>
              </a:ext>
            </a:extLst>
          </p:cNvPr>
          <p:cNvSpPr>
            <a:spLocks noGrp="1"/>
          </p:cNvSpPr>
          <p:nvPr>
            <p:ph type="dt" sz="half" idx="10"/>
          </p:nvPr>
        </p:nvSpPr>
        <p:spPr/>
        <p:txBody>
          <a:bodyPr/>
          <a:lstStyle/>
          <a:p>
            <a:fld id="{E5272DFF-BC94-4338-93EF-3E9F3211E955}" type="datetimeFigureOut">
              <a:rPr lang="en-US" smtClean="0"/>
              <a:t>2/23/2024</a:t>
            </a:fld>
            <a:endParaRPr lang="en-US"/>
          </a:p>
        </p:txBody>
      </p:sp>
      <p:sp>
        <p:nvSpPr>
          <p:cNvPr id="5" name="Footer Placeholder 4">
            <a:extLst>
              <a:ext uri="{FF2B5EF4-FFF2-40B4-BE49-F238E27FC236}">
                <a16:creationId xmlns:a16="http://schemas.microsoft.com/office/drawing/2014/main" id="{4BCECA22-489C-CB6E-8A53-2ED2493DB9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72B3AD-0303-9016-EC87-E6929DC98B90}"/>
              </a:ext>
            </a:extLst>
          </p:cNvPr>
          <p:cNvSpPr>
            <a:spLocks noGrp="1"/>
          </p:cNvSpPr>
          <p:nvPr>
            <p:ph type="sldNum" sz="quarter" idx="12"/>
          </p:nvPr>
        </p:nvSpPr>
        <p:spPr/>
        <p:txBody>
          <a:bodyPr/>
          <a:lstStyle/>
          <a:p>
            <a:fld id="{7532B130-D234-4A7A-B146-E566CF851299}" type="slidenum">
              <a:rPr lang="en-US" smtClean="0"/>
              <a:t>‹#›</a:t>
            </a:fld>
            <a:endParaRPr lang="en-US"/>
          </a:p>
        </p:txBody>
      </p:sp>
    </p:spTree>
    <p:extLst>
      <p:ext uri="{BB962C8B-B14F-4D97-AF65-F5344CB8AC3E}">
        <p14:creationId xmlns:p14="http://schemas.microsoft.com/office/powerpoint/2010/main" val="1525065431"/>
      </p:ext>
    </p:extLst>
  </p:cSld>
  <p:clrMapOvr>
    <a:masterClrMapping/>
  </p:clrMapOvr>
  <p:hf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16C31-5039-4F52-6A94-182320F6EA1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1D07CF-FD04-8C53-0E0A-DE37216283F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28F22DC-8F4F-4DC2-BBA1-86C18BCBBB4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BB322BE-366A-DB67-7708-082E083807A0}"/>
              </a:ext>
            </a:extLst>
          </p:cNvPr>
          <p:cNvSpPr>
            <a:spLocks noGrp="1"/>
          </p:cNvSpPr>
          <p:nvPr>
            <p:ph type="dt" sz="half" idx="10"/>
          </p:nvPr>
        </p:nvSpPr>
        <p:spPr/>
        <p:txBody>
          <a:bodyPr/>
          <a:lstStyle/>
          <a:p>
            <a:fld id="{E5272DFF-BC94-4338-93EF-3E9F3211E955}" type="datetimeFigureOut">
              <a:rPr lang="en-US" smtClean="0"/>
              <a:t>2/23/2024</a:t>
            </a:fld>
            <a:endParaRPr lang="en-US"/>
          </a:p>
        </p:txBody>
      </p:sp>
      <p:sp>
        <p:nvSpPr>
          <p:cNvPr id="6" name="Footer Placeholder 5">
            <a:extLst>
              <a:ext uri="{FF2B5EF4-FFF2-40B4-BE49-F238E27FC236}">
                <a16:creationId xmlns:a16="http://schemas.microsoft.com/office/drawing/2014/main" id="{91307393-B4E4-77FE-8865-BAD50C2374C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AF1BBA-A612-A7FA-7EE8-6019EAB4211C}"/>
              </a:ext>
            </a:extLst>
          </p:cNvPr>
          <p:cNvSpPr>
            <a:spLocks noGrp="1"/>
          </p:cNvSpPr>
          <p:nvPr>
            <p:ph type="sldNum" sz="quarter" idx="12"/>
          </p:nvPr>
        </p:nvSpPr>
        <p:spPr/>
        <p:txBody>
          <a:bodyPr/>
          <a:lstStyle/>
          <a:p>
            <a:fld id="{7532B130-D234-4A7A-B146-E566CF851299}" type="slidenum">
              <a:rPr lang="en-US" smtClean="0"/>
              <a:t>‹#›</a:t>
            </a:fld>
            <a:endParaRPr lang="en-US"/>
          </a:p>
        </p:txBody>
      </p:sp>
    </p:spTree>
    <p:extLst>
      <p:ext uri="{BB962C8B-B14F-4D97-AF65-F5344CB8AC3E}">
        <p14:creationId xmlns:p14="http://schemas.microsoft.com/office/powerpoint/2010/main" val="1193272091"/>
      </p:ext>
    </p:extLst>
  </p:cSld>
  <p:clrMapOvr>
    <a:masterClrMapping/>
  </p:clrMapOvr>
  <p:hf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8C7F0-A3EE-F8B0-97F6-D72FC087EF6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9F1D24F-008E-0F9D-D76F-035E0F616C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D3CABD4-1F7D-975B-325E-462CCB9C21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6CADB71-0FEA-68A8-DB5B-6F89FF87F32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305135B-2D01-855F-74F6-7F92680F2F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EB5E49D-3B83-B6F1-FB06-344EA86CAEAF}"/>
              </a:ext>
            </a:extLst>
          </p:cNvPr>
          <p:cNvSpPr>
            <a:spLocks noGrp="1"/>
          </p:cNvSpPr>
          <p:nvPr>
            <p:ph type="dt" sz="half" idx="10"/>
          </p:nvPr>
        </p:nvSpPr>
        <p:spPr/>
        <p:txBody>
          <a:bodyPr/>
          <a:lstStyle/>
          <a:p>
            <a:fld id="{E5272DFF-BC94-4338-93EF-3E9F3211E955}" type="datetimeFigureOut">
              <a:rPr lang="en-US" smtClean="0"/>
              <a:t>2/23/2024</a:t>
            </a:fld>
            <a:endParaRPr lang="en-US"/>
          </a:p>
        </p:txBody>
      </p:sp>
      <p:sp>
        <p:nvSpPr>
          <p:cNvPr id="8" name="Footer Placeholder 7">
            <a:extLst>
              <a:ext uri="{FF2B5EF4-FFF2-40B4-BE49-F238E27FC236}">
                <a16:creationId xmlns:a16="http://schemas.microsoft.com/office/drawing/2014/main" id="{1AF555A7-2308-9C9A-DC81-650F2638C0E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0281DB6-D0B0-FD0D-9731-B70F6810A11D}"/>
              </a:ext>
            </a:extLst>
          </p:cNvPr>
          <p:cNvSpPr>
            <a:spLocks noGrp="1"/>
          </p:cNvSpPr>
          <p:nvPr>
            <p:ph type="sldNum" sz="quarter" idx="12"/>
          </p:nvPr>
        </p:nvSpPr>
        <p:spPr/>
        <p:txBody>
          <a:bodyPr/>
          <a:lstStyle/>
          <a:p>
            <a:fld id="{7532B130-D234-4A7A-B146-E566CF851299}" type="slidenum">
              <a:rPr lang="en-US" smtClean="0"/>
              <a:t>‹#›</a:t>
            </a:fld>
            <a:endParaRPr lang="en-US"/>
          </a:p>
        </p:txBody>
      </p:sp>
    </p:spTree>
    <p:extLst>
      <p:ext uri="{BB962C8B-B14F-4D97-AF65-F5344CB8AC3E}">
        <p14:creationId xmlns:p14="http://schemas.microsoft.com/office/powerpoint/2010/main" val="3692946367"/>
      </p:ext>
    </p:extLst>
  </p:cSld>
  <p:clrMapOvr>
    <a:masterClrMapping/>
  </p:clrMapOvr>
  <p:hf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96095-7846-E079-F34F-BDADBD3B9F0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C47FD37-2796-6F79-5A6B-6F42F383DCBB}"/>
              </a:ext>
            </a:extLst>
          </p:cNvPr>
          <p:cNvSpPr>
            <a:spLocks noGrp="1"/>
          </p:cNvSpPr>
          <p:nvPr>
            <p:ph type="dt" sz="half" idx="10"/>
          </p:nvPr>
        </p:nvSpPr>
        <p:spPr/>
        <p:txBody>
          <a:bodyPr/>
          <a:lstStyle/>
          <a:p>
            <a:fld id="{E5272DFF-BC94-4338-93EF-3E9F3211E955}" type="datetimeFigureOut">
              <a:rPr lang="en-US" smtClean="0"/>
              <a:t>2/23/2024</a:t>
            </a:fld>
            <a:endParaRPr lang="en-US"/>
          </a:p>
        </p:txBody>
      </p:sp>
      <p:sp>
        <p:nvSpPr>
          <p:cNvPr id="4" name="Footer Placeholder 3">
            <a:extLst>
              <a:ext uri="{FF2B5EF4-FFF2-40B4-BE49-F238E27FC236}">
                <a16:creationId xmlns:a16="http://schemas.microsoft.com/office/drawing/2014/main" id="{B990DDB9-72CE-1B8E-7C2A-7B7EDCFF618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05F5916-345D-F56A-580F-137FB97EC5D3}"/>
              </a:ext>
            </a:extLst>
          </p:cNvPr>
          <p:cNvSpPr>
            <a:spLocks noGrp="1"/>
          </p:cNvSpPr>
          <p:nvPr>
            <p:ph type="sldNum" sz="quarter" idx="12"/>
          </p:nvPr>
        </p:nvSpPr>
        <p:spPr/>
        <p:txBody>
          <a:bodyPr/>
          <a:lstStyle/>
          <a:p>
            <a:fld id="{7532B130-D234-4A7A-B146-E566CF851299}" type="slidenum">
              <a:rPr lang="en-US" smtClean="0"/>
              <a:t>‹#›</a:t>
            </a:fld>
            <a:endParaRPr lang="en-US"/>
          </a:p>
        </p:txBody>
      </p:sp>
    </p:spTree>
    <p:extLst>
      <p:ext uri="{BB962C8B-B14F-4D97-AF65-F5344CB8AC3E}">
        <p14:creationId xmlns:p14="http://schemas.microsoft.com/office/powerpoint/2010/main" val="1274107578"/>
      </p:ext>
    </p:extLst>
  </p:cSld>
  <p:clrMapOvr>
    <a:masterClrMapping/>
  </p:clrMapOvr>
  <p:hf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102A62-A536-DB2B-1211-45E1E1F7B284}"/>
              </a:ext>
            </a:extLst>
          </p:cNvPr>
          <p:cNvSpPr>
            <a:spLocks noGrp="1"/>
          </p:cNvSpPr>
          <p:nvPr>
            <p:ph type="dt" sz="half" idx="10"/>
          </p:nvPr>
        </p:nvSpPr>
        <p:spPr/>
        <p:txBody>
          <a:bodyPr/>
          <a:lstStyle/>
          <a:p>
            <a:fld id="{83BD2977-BAD7-4E70-A4D0-E5BAB24E0522}" type="datetimeFigureOut">
              <a:rPr lang="en-US" smtClean="0"/>
              <a:t>2/23/2024</a:t>
            </a:fld>
            <a:endParaRPr lang="en-US"/>
          </a:p>
        </p:txBody>
      </p:sp>
      <p:sp>
        <p:nvSpPr>
          <p:cNvPr id="3" name="Footer Placeholder 2">
            <a:extLst>
              <a:ext uri="{FF2B5EF4-FFF2-40B4-BE49-F238E27FC236}">
                <a16:creationId xmlns:a16="http://schemas.microsoft.com/office/drawing/2014/main" id="{CD87773D-D367-D407-1FFE-1058CE09D38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592D8FF-D4F0-1841-0C2A-07C63A598F0D}"/>
              </a:ext>
            </a:extLst>
          </p:cNvPr>
          <p:cNvSpPr>
            <a:spLocks noGrp="1"/>
          </p:cNvSpPr>
          <p:nvPr>
            <p:ph type="sldNum" sz="quarter" idx="12"/>
          </p:nvPr>
        </p:nvSpPr>
        <p:spPr/>
        <p:txBody>
          <a:bodyPr/>
          <a:lstStyle/>
          <a:p>
            <a:fld id="{C74172C3-1072-48F9-95A3-D3042937BE95}" type="slidenum">
              <a:rPr lang="en-US" smtClean="0"/>
              <a:t>‹#›</a:t>
            </a:fld>
            <a:endParaRPr lang="en-US"/>
          </a:p>
        </p:txBody>
      </p:sp>
    </p:spTree>
    <p:extLst>
      <p:ext uri="{BB962C8B-B14F-4D97-AF65-F5344CB8AC3E}">
        <p14:creationId xmlns:p14="http://schemas.microsoft.com/office/powerpoint/2010/main" val="369660029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9CD6B-D1B2-FA84-10D0-9EE8BA67ED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CDD43EE-7288-B23D-25CC-4C9AC9CD44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B750D57-94D9-BDE4-BBFB-66DF685425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4A6258-38A9-2DAC-BD5B-2A1835CBB538}"/>
              </a:ext>
            </a:extLst>
          </p:cNvPr>
          <p:cNvSpPr>
            <a:spLocks noGrp="1"/>
          </p:cNvSpPr>
          <p:nvPr>
            <p:ph type="dt" sz="half" idx="10"/>
          </p:nvPr>
        </p:nvSpPr>
        <p:spPr/>
        <p:txBody>
          <a:bodyPr/>
          <a:lstStyle/>
          <a:p>
            <a:fld id="{E5272DFF-BC94-4338-93EF-3E9F3211E955}" type="datetimeFigureOut">
              <a:rPr lang="en-US" smtClean="0"/>
              <a:t>2/23/2024</a:t>
            </a:fld>
            <a:endParaRPr lang="en-US"/>
          </a:p>
        </p:txBody>
      </p:sp>
      <p:sp>
        <p:nvSpPr>
          <p:cNvPr id="6" name="Footer Placeholder 5">
            <a:extLst>
              <a:ext uri="{FF2B5EF4-FFF2-40B4-BE49-F238E27FC236}">
                <a16:creationId xmlns:a16="http://schemas.microsoft.com/office/drawing/2014/main" id="{945FCEA7-1C94-DAC7-ECA6-4AB6C6821F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C7C053-3A37-5674-12C1-C879C796F973}"/>
              </a:ext>
            </a:extLst>
          </p:cNvPr>
          <p:cNvSpPr>
            <a:spLocks noGrp="1"/>
          </p:cNvSpPr>
          <p:nvPr>
            <p:ph type="sldNum" sz="quarter" idx="12"/>
          </p:nvPr>
        </p:nvSpPr>
        <p:spPr/>
        <p:txBody>
          <a:bodyPr/>
          <a:lstStyle/>
          <a:p>
            <a:fld id="{7532B130-D234-4A7A-B146-E566CF851299}" type="slidenum">
              <a:rPr lang="en-US" smtClean="0"/>
              <a:t>‹#›</a:t>
            </a:fld>
            <a:endParaRPr lang="en-US"/>
          </a:p>
        </p:txBody>
      </p:sp>
    </p:spTree>
    <p:extLst>
      <p:ext uri="{BB962C8B-B14F-4D97-AF65-F5344CB8AC3E}">
        <p14:creationId xmlns:p14="http://schemas.microsoft.com/office/powerpoint/2010/main" val="1930635182"/>
      </p:ext>
    </p:extLst>
  </p:cSld>
  <p:clrMapOvr>
    <a:masterClrMapping/>
  </p:clrMapOvr>
  <p:hf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9FD71-BF81-B766-D55F-C4A5964C4C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1FA2890-D359-AE5D-FCA6-B0BBC11EE6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76D6E80-4093-A30A-240E-E317894688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9C2E81-8381-D547-57B2-FA5C333871D0}"/>
              </a:ext>
            </a:extLst>
          </p:cNvPr>
          <p:cNvSpPr>
            <a:spLocks noGrp="1"/>
          </p:cNvSpPr>
          <p:nvPr>
            <p:ph type="dt" sz="half" idx="10"/>
          </p:nvPr>
        </p:nvSpPr>
        <p:spPr/>
        <p:txBody>
          <a:bodyPr/>
          <a:lstStyle/>
          <a:p>
            <a:fld id="{E5272DFF-BC94-4338-93EF-3E9F3211E955}" type="datetimeFigureOut">
              <a:rPr lang="en-US" smtClean="0"/>
              <a:t>2/23/2024</a:t>
            </a:fld>
            <a:endParaRPr lang="en-US"/>
          </a:p>
        </p:txBody>
      </p:sp>
      <p:sp>
        <p:nvSpPr>
          <p:cNvPr id="6" name="Footer Placeholder 5">
            <a:extLst>
              <a:ext uri="{FF2B5EF4-FFF2-40B4-BE49-F238E27FC236}">
                <a16:creationId xmlns:a16="http://schemas.microsoft.com/office/drawing/2014/main" id="{06AB69CD-3DC2-3237-BA56-0BDA2E3545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2F3604-19EA-FDF8-88F9-FFC46E960653}"/>
              </a:ext>
            </a:extLst>
          </p:cNvPr>
          <p:cNvSpPr>
            <a:spLocks noGrp="1"/>
          </p:cNvSpPr>
          <p:nvPr>
            <p:ph type="sldNum" sz="quarter" idx="12"/>
          </p:nvPr>
        </p:nvSpPr>
        <p:spPr/>
        <p:txBody>
          <a:bodyPr/>
          <a:lstStyle/>
          <a:p>
            <a:fld id="{7532B130-D234-4A7A-B146-E566CF851299}" type="slidenum">
              <a:rPr lang="en-US" smtClean="0"/>
              <a:t>‹#›</a:t>
            </a:fld>
            <a:endParaRPr lang="en-US"/>
          </a:p>
        </p:txBody>
      </p:sp>
    </p:spTree>
    <p:extLst>
      <p:ext uri="{BB962C8B-B14F-4D97-AF65-F5344CB8AC3E}">
        <p14:creationId xmlns:p14="http://schemas.microsoft.com/office/powerpoint/2010/main" val="256202246"/>
      </p:ext>
    </p:extLst>
  </p:cSld>
  <p:clrMapOvr>
    <a:masterClrMapping/>
  </p:clrMapOvr>
  <p:hf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E5A1B-8712-2D01-BA31-CC0D5A7DB80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09D8EC7-3974-E8BF-91DB-0CB0B5538D3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FC307D-CA4D-A943-0FA7-14B9A4810898}"/>
              </a:ext>
            </a:extLst>
          </p:cNvPr>
          <p:cNvSpPr>
            <a:spLocks noGrp="1"/>
          </p:cNvSpPr>
          <p:nvPr>
            <p:ph type="dt" sz="half" idx="10"/>
          </p:nvPr>
        </p:nvSpPr>
        <p:spPr/>
        <p:txBody>
          <a:bodyPr/>
          <a:lstStyle/>
          <a:p>
            <a:fld id="{E5272DFF-BC94-4338-93EF-3E9F3211E955}" type="datetimeFigureOut">
              <a:rPr lang="en-US" smtClean="0"/>
              <a:t>2/23/2024</a:t>
            </a:fld>
            <a:endParaRPr lang="en-US"/>
          </a:p>
        </p:txBody>
      </p:sp>
      <p:sp>
        <p:nvSpPr>
          <p:cNvPr id="5" name="Footer Placeholder 4">
            <a:extLst>
              <a:ext uri="{FF2B5EF4-FFF2-40B4-BE49-F238E27FC236}">
                <a16:creationId xmlns:a16="http://schemas.microsoft.com/office/drawing/2014/main" id="{99E5B3EE-285F-7FEC-623E-292614FEB5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0D25F7-2534-DB43-ED03-B47CCE45874F}"/>
              </a:ext>
            </a:extLst>
          </p:cNvPr>
          <p:cNvSpPr>
            <a:spLocks noGrp="1"/>
          </p:cNvSpPr>
          <p:nvPr>
            <p:ph type="sldNum" sz="quarter" idx="12"/>
          </p:nvPr>
        </p:nvSpPr>
        <p:spPr/>
        <p:txBody>
          <a:bodyPr/>
          <a:lstStyle/>
          <a:p>
            <a:fld id="{7532B130-D234-4A7A-B146-E566CF851299}" type="slidenum">
              <a:rPr lang="en-US" smtClean="0"/>
              <a:t>‹#›</a:t>
            </a:fld>
            <a:endParaRPr lang="en-US"/>
          </a:p>
        </p:txBody>
      </p:sp>
    </p:spTree>
    <p:extLst>
      <p:ext uri="{BB962C8B-B14F-4D97-AF65-F5344CB8AC3E}">
        <p14:creationId xmlns:p14="http://schemas.microsoft.com/office/powerpoint/2010/main" val="3999888578"/>
      </p:ext>
    </p:extLst>
  </p:cSld>
  <p:clrMapOvr>
    <a:masterClrMapping/>
  </p:clrMapOvr>
  <p:hf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6816944-CE8E-9870-5FAC-BC73D19457A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D8A337E-8BAA-662C-C0A3-3C5754EE5FB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8D80F0-FDA8-2027-1958-5CCA84BC258E}"/>
              </a:ext>
            </a:extLst>
          </p:cNvPr>
          <p:cNvSpPr>
            <a:spLocks noGrp="1"/>
          </p:cNvSpPr>
          <p:nvPr>
            <p:ph type="dt" sz="half" idx="10"/>
          </p:nvPr>
        </p:nvSpPr>
        <p:spPr/>
        <p:txBody>
          <a:bodyPr/>
          <a:lstStyle/>
          <a:p>
            <a:fld id="{E5272DFF-BC94-4338-93EF-3E9F3211E955}" type="datetimeFigureOut">
              <a:rPr lang="en-US" smtClean="0"/>
              <a:t>2/23/2024</a:t>
            </a:fld>
            <a:endParaRPr lang="en-US"/>
          </a:p>
        </p:txBody>
      </p:sp>
      <p:sp>
        <p:nvSpPr>
          <p:cNvPr id="5" name="Footer Placeholder 4">
            <a:extLst>
              <a:ext uri="{FF2B5EF4-FFF2-40B4-BE49-F238E27FC236}">
                <a16:creationId xmlns:a16="http://schemas.microsoft.com/office/drawing/2014/main" id="{F1A801E4-AA6A-7E18-3BE0-7D87DDA00A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89DF07-CA42-B006-A619-F297430E593C}"/>
              </a:ext>
            </a:extLst>
          </p:cNvPr>
          <p:cNvSpPr>
            <a:spLocks noGrp="1"/>
          </p:cNvSpPr>
          <p:nvPr>
            <p:ph type="sldNum" sz="quarter" idx="12"/>
          </p:nvPr>
        </p:nvSpPr>
        <p:spPr/>
        <p:txBody>
          <a:bodyPr/>
          <a:lstStyle/>
          <a:p>
            <a:fld id="{7532B130-D234-4A7A-B146-E566CF851299}" type="slidenum">
              <a:rPr lang="en-US" smtClean="0"/>
              <a:t>‹#›</a:t>
            </a:fld>
            <a:endParaRPr lang="en-US"/>
          </a:p>
        </p:txBody>
      </p:sp>
    </p:spTree>
    <p:extLst>
      <p:ext uri="{BB962C8B-B14F-4D97-AF65-F5344CB8AC3E}">
        <p14:creationId xmlns:p14="http://schemas.microsoft.com/office/powerpoint/2010/main" val="3754452988"/>
      </p:ext>
    </p:extLst>
  </p:cSld>
  <p:clrMapOvr>
    <a:masterClrMapping/>
  </p:clrMapOvr>
  <p:hf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Contents slide layout">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381720980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ver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414465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End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87719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slideLayout" Target="../slideLayouts/slideLayout33.xml"/><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theme" Target="../theme/theme3.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47.xml"/><Relationship Id="rId1" Type="http://schemas.openxmlformats.org/officeDocument/2006/relationships/slideLayout" Target="../slideLayouts/slideLayout4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79952719"/>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 id="2147483691" r:id="rId16"/>
    <p:sldLayoutId id="2147483692" r:id="rId17"/>
    <p:sldLayoutId id="2147483693" r:id="rId18"/>
    <p:sldLayoutId id="2147483694" r:id="rId19"/>
    <p:sldLayoutId id="2147483715" r:id="rId20"/>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bg2">
                    <a:lumMod val="40000"/>
                    <a:lumOff val="60000"/>
                  </a:schemeClr>
                </a:solidFill>
              </a:defRPr>
            </a:lvl1pPr>
          </a:lstStyle>
          <a:p>
            <a:fld id="{62D6E202-B606-4609-B914-27C9371A1F6D}" type="datetime1">
              <a:rPr lang="en-US" smtClean="0"/>
              <a:t>2/23/2024</a:t>
            </a:fld>
            <a:endParaRPr lang="en-US" dirty="0"/>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bg2">
                    <a:lumMod val="40000"/>
                    <a:lumOff val="60000"/>
                  </a:schemeClr>
                </a:solidFill>
              </a:defRPr>
            </a:lvl1pPr>
          </a:lstStyle>
          <a:p>
            <a:endParaRPr lang="en-US" dirty="0"/>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1839494378"/>
      </p:ext>
    </p:extLst>
  </p:cSld>
  <p:clrMap bg1="dk1" tx1="lt1" bg2="dk2" tx2="lt2" accent1="accent1" accent2="accent2" accent3="accent3" accent4="accent4" accent5="accent5" accent6="accent6" hlink="hlink" folHlink="folHlink"/>
  <p:sldLayoutIdLst>
    <p:sldLayoutId id="2147483792" r:id="rId1"/>
    <p:sldLayoutId id="2147483793" r:id="rId2"/>
    <p:sldLayoutId id="2147483794" r:id="rId3"/>
    <p:sldLayoutId id="2147483795" r:id="rId4"/>
    <p:sldLayoutId id="2147483796" r:id="rId5"/>
    <p:sldLayoutId id="2147483797" r:id="rId6"/>
    <p:sldLayoutId id="2147483798" r:id="rId7"/>
    <p:sldLayoutId id="2147483799" r:id="rId8"/>
    <p:sldLayoutId id="2147483800" r:id="rId9"/>
    <p:sldLayoutId id="2147483801" r:id="rId10"/>
    <p:sldLayoutId id="2147483802" r:id="rId11"/>
    <p:sldLayoutId id="2147483803" r:id="rId12"/>
    <p:sldLayoutId id="2147483739" r:id="rId13"/>
  </p:sldLayoutIdLst>
  <p:hf sldNum="0"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tabLst>
          <a:tab pos="1143000" algn="l"/>
        </a:tabLst>
        <a:defRPr sz="2000" kern="1200">
          <a:solidFill>
            <a:schemeClr val="bg2">
              <a:lumMod val="20000"/>
              <a:lumOff val="80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800" kern="1200">
          <a:solidFill>
            <a:schemeClr val="bg2">
              <a:lumMod val="20000"/>
              <a:lumOff val="80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600" kern="1200">
          <a:solidFill>
            <a:schemeClr val="bg2">
              <a:lumMod val="20000"/>
              <a:lumOff val="80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400" kern="1200">
          <a:solidFill>
            <a:schemeClr val="bg2">
              <a:lumMod val="20000"/>
              <a:lumOff val="80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400" kern="1200">
          <a:solidFill>
            <a:schemeClr val="bg2">
              <a:lumMod val="20000"/>
              <a:lumOff val="80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400" kern="1200">
          <a:solidFill>
            <a:schemeClr val="bg2">
              <a:lumMod val="20000"/>
              <a:lumOff val="80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400" kern="1200">
          <a:solidFill>
            <a:schemeClr val="bg2">
              <a:lumMod val="20000"/>
              <a:lumOff val="80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400" kern="1200">
          <a:solidFill>
            <a:schemeClr val="bg2">
              <a:lumMod val="20000"/>
              <a:lumOff val="80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400" kern="1200">
          <a:solidFill>
            <a:schemeClr val="bg2">
              <a:lumMod val="20000"/>
              <a:lumOff val="80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5DB26B9-CF91-4120-2E1D-52CB209D5A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E0E7314-32FB-1C9C-A65A-601DCB8373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F0DE24-8B9E-95DD-4684-EECEDA4FE7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272DFF-BC94-4338-93EF-3E9F3211E955}" type="datetimeFigureOut">
              <a:rPr lang="en-US" smtClean="0"/>
              <a:t>2/23/2024</a:t>
            </a:fld>
            <a:endParaRPr lang="en-US"/>
          </a:p>
        </p:txBody>
      </p:sp>
      <p:sp>
        <p:nvSpPr>
          <p:cNvPr id="5" name="Footer Placeholder 4">
            <a:extLst>
              <a:ext uri="{FF2B5EF4-FFF2-40B4-BE49-F238E27FC236}">
                <a16:creationId xmlns:a16="http://schemas.microsoft.com/office/drawing/2014/main" id="{03A5D63F-9216-846C-4D9A-F6148A78E8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417DBD8-7659-0E34-2310-DEC8BC7E293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32B130-D234-4A7A-B146-E566CF851299}" type="slidenum">
              <a:rPr lang="en-US" smtClean="0"/>
              <a:t>‹#›</a:t>
            </a:fld>
            <a:endParaRPr lang="en-US"/>
          </a:p>
        </p:txBody>
      </p:sp>
    </p:spTree>
    <p:extLst>
      <p:ext uri="{BB962C8B-B14F-4D97-AF65-F5344CB8AC3E}">
        <p14:creationId xmlns:p14="http://schemas.microsoft.com/office/powerpoint/2010/main" val="268686009"/>
      </p:ext>
    </p:extLst>
  </p:cSld>
  <p:clrMap bg1="lt1" tx1="dk1" bg2="lt2" tx2="dk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36" r:id="rId5"/>
    <p:sldLayoutId id="2147483837" r:id="rId6"/>
    <p:sldLayoutId id="2147483838" r:id="rId7"/>
    <p:sldLayoutId id="2147483839" r:id="rId8"/>
    <p:sldLayoutId id="2147483840" r:id="rId9"/>
    <p:sldLayoutId id="2147483841" r:id="rId10"/>
    <p:sldLayoutId id="2147483842" r:id="rId11"/>
    <p:sldLayoutId id="2147483843"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70351445"/>
      </p:ext>
    </p:extLst>
  </p:cSld>
  <p:clrMap bg1="lt1" tx1="dk1" bg2="lt2" tx2="dk2" accent1="accent1" accent2="accent2" accent3="accent3" accent4="accent4" accent5="accent5" accent6="accent6" hlink="hlink" folHlink="folHlink"/>
  <p:sldLayoutIdLst>
    <p:sldLayoutId id="2147483857" r:id="rId1"/>
    <p:sldLayoutId id="2147483858"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xml.rels><?xml version="1.0" encoding="UTF-8" standalone="yes"?>
<Relationships xmlns="http://schemas.openxmlformats.org/package/2006/relationships"><Relationship Id="rId3" Type="http://schemas.openxmlformats.org/officeDocument/2006/relationships/hyperlink" Target="https://man7.org/linux/man-pages/man1/cd.1p.html" TargetMode="External"/><Relationship Id="rId7" Type="http://schemas.openxmlformats.org/officeDocument/2006/relationships/hyperlink" Target="https://man7.org/linux/man-pages/man1/find.1.html" TargetMode="External"/><Relationship Id="rId2" Type="http://schemas.openxmlformats.org/officeDocument/2006/relationships/hyperlink" Target="https://man7.org/linux/man-pages/man1/ls.1.html" TargetMode="External"/><Relationship Id="rId1" Type="http://schemas.openxmlformats.org/officeDocument/2006/relationships/slideLayout" Target="../slideLayouts/slideLayout45.xml"/><Relationship Id="rId6" Type="http://schemas.openxmlformats.org/officeDocument/2006/relationships/hyperlink" Target="https://man7.org/linux/man-pages/man1/du.1.html" TargetMode="External"/><Relationship Id="rId5" Type="http://schemas.openxmlformats.org/officeDocument/2006/relationships/hyperlink" Target="https://man7.org/linux/man-pages/man1/file.1.html" TargetMode="External"/><Relationship Id="rId4" Type="http://schemas.openxmlformats.org/officeDocument/2006/relationships/hyperlink" Target="https://man7.org/linux/man-pages/man1/cat.1.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5.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5.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5.xml"/></Relationships>
</file>

<file path=ppt/slides/_rels/slide7.xml.rels><?xml version="1.0" encoding="UTF-8" standalone="yes"?>
<Relationships xmlns="http://schemas.openxmlformats.org/package/2006/relationships"><Relationship Id="rId8" Type="http://schemas.openxmlformats.org/officeDocument/2006/relationships/hyperlink" Target="https://man7.org/linux/man-pages/man1/grep.1.html" TargetMode="External"/><Relationship Id="rId3" Type="http://schemas.openxmlformats.org/officeDocument/2006/relationships/hyperlink" Target="https://man7.org/linux/man-pages/man1/cd.1p.html" TargetMode="External"/><Relationship Id="rId7" Type="http://schemas.openxmlformats.org/officeDocument/2006/relationships/hyperlink" Target="https://man7.org/linux/man-pages/man1/find.1.html" TargetMode="External"/><Relationship Id="rId2" Type="http://schemas.openxmlformats.org/officeDocument/2006/relationships/hyperlink" Target="https://man7.org/linux/man-pages/man1/ls.1.html" TargetMode="External"/><Relationship Id="rId1" Type="http://schemas.openxmlformats.org/officeDocument/2006/relationships/slideLayout" Target="../slideLayouts/slideLayout45.xml"/><Relationship Id="rId6" Type="http://schemas.openxmlformats.org/officeDocument/2006/relationships/hyperlink" Target="https://man7.org/linux/man-pages/man1/du.1.html" TargetMode="External"/><Relationship Id="rId5" Type="http://schemas.openxmlformats.org/officeDocument/2006/relationships/hyperlink" Target="https://man7.org/linux/man-pages/man1/file.1.html" TargetMode="External"/><Relationship Id="rId4" Type="http://schemas.openxmlformats.org/officeDocument/2006/relationships/hyperlink" Target="https://man7.org/linux/man-pages/man1/cat.1.htm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5.xml"/></Relationships>
</file>

<file path=ppt/slides/_rels/slide10.xml.rels><?xml version="1.0" encoding="UTF-8" standalone="yes"?>
<Relationships xmlns="http://schemas.openxmlformats.org/package/2006/relationships"><Relationship Id="rId2" Type="http://schemas.openxmlformats.org/officeDocument/2006/relationships/hyperlink" Target="https://man7.org/linux/man-pages/man1/man.1.html" TargetMode="External"/><Relationship Id="rId1" Type="http://schemas.openxmlformats.org/officeDocument/2006/relationships/slideLayout" Target="../slideLayouts/slideLayout45.xm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5.xml"/></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5.xml"/></Relationships>
</file>

<file path=ppt/slides/_rels/slide13.xml.rels><?xml version="1.0" encoding="UTF-8" standalone="yes"?>
<Relationships xmlns="http://schemas.openxmlformats.org/package/2006/relationships"><Relationship Id="rId2" Type="http://schemas.openxmlformats.org/officeDocument/2006/relationships/hyperlink" Target="http://www.liamdelahunty.com/tips/linux_remove_duplicate_lines_with_uniq.php" TargetMode="External"/><Relationship Id="rId1" Type="http://schemas.openxmlformats.org/officeDocument/2006/relationships/slideLayout" Target="../slideLayouts/slideLayout4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5.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FC3BC02C-0015-4AC2-A25D-BF4D5CAE3F32}"/>
              </a:ext>
            </a:extLst>
          </p:cNvPr>
          <p:cNvSpPr txBox="1"/>
          <p:nvPr/>
        </p:nvSpPr>
        <p:spPr>
          <a:xfrm>
            <a:off x="68826" y="2196054"/>
            <a:ext cx="5319252" cy="3416320"/>
          </a:xfrm>
          <a:prstGeom prst="rect">
            <a:avLst/>
          </a:prstGeom>
          <a:noFill/>
        </p:spPr>
        <p:txBody>
          <a:bodyPr wrap="square" rtlCol="0" anchor="ctr">
            <a:spAutoFit/>
          </a:bodyPr>
          <a:lstStyle/>
          <a:p>
            <a:pPr algn="l" fontAlgn="base"/>
            <a:r>
              <a:rPr lang="en-US" sz="5400" b="1" i="0" dirty="0">
                <a:effectLst/>
                <a:latin typeface="Source Sans 3"/>
              </a:rPr>
              <a:t>Bandit –</a:t>
            </a:r>
          </a:p>
          <a:p>
            <a:pPr algn="l" fontAlgn="base"/>
            <a:r>
              <a:rPr lang="en-US" sz="5400" b="1" i="0" dirty="0">
                <a:effectLst/>
                <a:latin typeface="Source Sans 3"/>
              </a:rPr>
              <a:t>A Wargame For Linux Beginners</a:t>
            </a:r>
          </a:p>
          <a:p>
            <a:pPr algn="l" fontAlgn="base"/>
            <a:r>
              <a:rPr lang="en-US" sz="5400" b="1" dirty="0">
                <a:latin typeface="Source Sans 3"/>
              </a:rPr>
              <a:t>Lab-2</a:t>
            </a:r>
            <a:endParaRPr lang="en-US" sz="5400" b="1" i="0" dirty="0">
              <a:effectLst/>
              <a:latin typeface="Source Sans 3"/>
            </a:endParaRPr>
          </a:p>
        </p:txBody>
      </p:sp>
    </p:spTree>
    <p:extLst>
      <p:ext uri="{BB962C8B-B14F-4D97-AF65-F5344CB8AC3E}">
        <p14:creationId xmlns:p14="http://schemas.microsoft.com/office/powerpoint/2010/main" val="22210132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F774096-A7BF-81EA-D51E-673C6883B339}"/>
              </a:ext>
            </a:extLst>
          </p:cNvPr>
          <p:cNvSpPr txBox="1"/>
          <p:nvPr/>
        </p:nvSpPr>
        <p:spPr>
          <a:xfrm>
            <a:off x="344129" y="796864"/>
            <a:ext cx="6096000" cy="677108"/>
          </a:xfrm>
          <a:prstGeom prst="rect">
            <a:avLst/>
          </a:prstGeom>
          <a:noFill/>
        </p:spPr>
        <p:txBody>
          <a:bodyPr wrap="square">
            <a:spAutoFit/>
          </a:bodyPr>
          <a:lstStyle/>
          <a:p>
            <a:pPr algn="l"/>
            <a:r>
              <a:rPr lang="en-US" sz="2000" b="1" i="0" dirty="0">
                <a:solidFill>
                  <a:srgbClr val="FF0000"/>
                </a:solidFill>
                <a:effectLst/>
                <a:latin typeface="sohne"/>
              </a:rPr>
              <a:t>LEVEL 5 TO 6</a:t>
            </a:r>
          </a:p>
          <a:p>
            <a:endParaRPr lang="ar-EG" dirty="0"/>
          </a:p>
        </p:txBody>
      </p:sp>
      <p:sp>
        <p:nvSpPr>
          <p:cNvPr id="6" name="TextBox 5">
            <a:extLst>
              <a:ext uri="{FF2B5EF4-FFF2-40B4-BE49-F238E27FC236}">
                <a16:creationId xmlns:a16="http://schemas.microsoft.com/office/drawing/2014/main" id="{3B9A9B1D-78F7-1F13-69DE-E69F4FA9D557}"/>
              </a:ext>
            </a:extLst>
          </p:cNvPr>
          <p:cNvSpPr txBox="1"/>
          <p:nvPr/>
        </p:nvSpPr>
        <p:spPr>
          <a:xfrm>
            <a:off x="344129" y="1315431"/>
            <a:ext cx="11592232" cy="2554545"/>
          </a:xfrm>
          <a:prstGeom prst="rect">
            <a:avLst/>
          </a:prstGeom>
          <a:noFill/>
        </p:spPr>
        <p:txBody>
          <a:bodyPr wrap="square">
            <a:spAutoFit/>
          </a:bodyPr>
          <a:lstStyle/>
          <a:p>
            <a:pPr algn="just"/>
            <a:r>
              <a:rPr lang="en-US" sz="2000" b="1" i="0" dirty="0">
                <a:solidFill>
                  <a:srgbClr val="242424"/>
                </a:solidFill>
                <a:effectLst/>
                <a:latin typeface="sohne"/>
              </a:rPr>
              <a:t>Level Goal</a:t>
            </a:r>
          </a:p>
          <a:p>
            <a:pPr algn="l"/>
            <a:r>
              <a:rPr lang="en-US" sz="2000" b="0" i="0" dirty="0">
                <a:solidFill>
                  <a:srgbClr val="000000"/>
                </a:solidFill>
                <a:effectLst/>
                <a:latin typeface="Pontano Sans"/>
              </a:rPr>
              <a:t>The password for the next level is stored in a file somewhere under the </a:t>
            </a:r>
            <a:r>
              <a:rPr lang="en-US" sz="2000" b="1" i="0" dirty="0">
                <a:solidFill>
                  <a:srgbClr val="000000"/>
                </a:solidFill>
                <a:effectLst/>
                <a:latin typeface="Pontano Sans"/>
              </a:rPr>
              <a:t>inhere</a:t>
            </a:r>
            <a:r>
              <a:rPr lang="en-US" sz="2000" b="0" i="0" dirty="0">
                <a:solidFill>
                  <a:srgbClr val="000000"/>
                </a:solidFill>
                <a:effectLst/>
                <a:latin typeface="Pontano Sans"/>
              </a:rPr>
              <a:t> directory and has all of the following properties:</a:t>
            </a:r>
          </a:p>
          <a:p>
            <a:pPr algn="l"/>
            <a:br>
              <a:rPr lang="en-US" sz="2000" b="0" i="0" dirty="0">
                <a:solidFill>
                  <a:srgbClr val="000000"/>
                </a:solidFill>
                <a:effectLst/>
                <a:latin typeface="Pontano Sans"/>
              </a:rPr>
            </a:br>
            <a:r>
              <a:rPr lang="en-US" sz="2000" b="0" i="0" u="none" strike="noStrike" dirty="0">
                <a:solidFill>
                  <a:srgbClr val="000000"/>
                </a:solidFill>
                <a:effectLst/>
                <a:latin typeface="Pontano Sans"/>
              </a:rPr>
              <a:t>human-readable</a:t>
            </a:r>
          </a:p>
          <a:p>
            <a:pPr algn="l"/>
            <a:r>
              <a:rPr lang="en-US" sz="2000" b="0" i="0" u="none" strike="noStrike" dirty="0">
                <a:solidFill>
                  <a:srgbClr val="000000"/>
                </a:solidFill>
                <a:effectLst/>
                <a:latin typeface="Pontano Sans"/>
              </a:rPr>
              <a:t>1033 bytes in size</a:t>
            </a:r>
          </a:p>
          <a:p>
            <a:pPr algn="l"/>
            <a:r>
              <a:rPr lang="en-US" sz="2000" b="0" i="0" u="none" strike="noStrike" dirty="0">
                <a:solidFill>
                  <a:srgbClr val="000000"/>
                </a:solidFill>
                <a:effectLst/>
                <a:latin typeface="Pontano Sans"/>
              </a:rPr>
              <a:t>not executable</a:t>
            </a:r>
          </a:p>
          <a:p>
            <a:endParaRPr lang="en-US" sz="2000" b="0" i="0" dirty="0">
              <a:solidFill>
                <a:srgbClr val="242424"/>
              </a:solidFill>
              <a:effectLst/>
              <a:latin typeface="source-serif-pro"/>
            </a:endParaRPr>
          </a:p>
        </p:txBody>
      </p:sp>
      <p:sp>
        <p:nvSpPr>
          <p:cNvPr id="3" name="TextBox 2">
            <a:extLst>
              <a:ext uri="{FF2B5EF4-FFF2-40B4-BE49-F238E27FC236}">
                <a16:creationId xmlns:a16="http://schemas.microsoft.com/office/drawing/2014/main" id="{479ACB61-3B2A-31E3-B5D5-D8C8161CEC0F}"/>
              </a:ext>
            </a:extLst>
          </p:cNvPr>
          <p:cNvSpPr txBox="1"/>
          <p:nvPr/>
        </p:nvSpPr>
        <p:spPr>
          <a:xfrm>
            <a:off x="344129" y="3869976"/>
            <a:ext cx="6096000" cy="830997"/>
          </a:xfrm>
          <a:prstGeom prst="rect">
            <a:avLst/>
          </a:prstGeom>
          <a:noFill/>
        </p:spPr>
        <p:txBody>
          <a:bodyPr wrap="square">
            <a:spAutoFit/>
          </a:bodyPr>
          <a:lstStyle/>
          <a:p>
            <a:pPr algn="l"/>
            <a:r>
              <a:rPr lang="en-US" sz="2400" b="0" i="0" dirty="0">
                <a:solidFill>
                  <a:srgbClr val="FF0000"/>
                </a:solidFill>
                <a:effectLst/>
                <a:latin typeface="Pontano Sans"/>
              </a:rPr>
              <a:t>Commands you may need to solve this level</a:t>
            </a:r>
          </a:p>
          <a:p>
            <a:pPr algn="l"/>
            <a:r>
              <a:rPr lang="en-US" sz="2400" b="0" i="0" u="none" strike="noStrike" dirty="0">
                <a:solidFill>
                  <a:srgbClr val="999999"/>
                </a:solidFill>
                <a:effectLst/>
                <a:latin typeface="Pontano Sans"/>
                <a:hlinkClick r:id="rId2"/>
              </a:rPr>
              <a:t>ls</a:t>
            </a:r>
            <a:r>
              <a:rPr lang="en-US" sz="2400" b="0" i="0" dirty="0">
                <a:solidFill>
                  <a:srgbClr val="000000"/>
                </a:solidFill>
                <a:effectLst/>
                <a:latin typeface="Pontano Sans"/>
              </a:rPr>
              <a:t> , </a:t>
            </a:r>
            <a:r>
              <a:rPr lang="en-US" sz="2400" b="0" i="0" u="none" strike="noStrike" dirty="0">
                <a:solidFill>
                  <a:srgbClr val="999999"/>
                </a:solidFill>
                <a:effectLst/>
                <a:latin typeface="Pontano Sans"/>
                <a:hlinkClick r:id="rId3"/>
              </a:rPr>
              <a:t>cd</a:t>
            </a:r>
            <a:r>
              <a:rPr lang="en-US" sz="2400" b="0" i="0" dirty="0">
                <a:solidFill>
                  <a:srgbClr val="000000"/>
                </a:solidFill>
                <a:effectLst/>
                <a:latin typeface="Pontano Sans"/>
              </a:rPr>
              <a:t> , </a:t>
            </a:r>
            <a:r>
              <a:rPr lang="en-US" sz="2400" b="0" i="0" u="none" strike="noStrike" dirty="0">
                <a:solidFill>
                  <a:srgbClr val="999999"/>
                </a:solidFill>
                <a:effectLst/>
                <a:latin typeface="Pontano Sans"/>
                <a:hlinkClick r:id="rId4"/>
              </a:rPr>
              <a:t>cat</a:t>
            </a:r>
            <a:r>
              <a:rPr lang="en-US" sz="2400" b="0" i="0" dirty="0">
                <a:solidFill>
                  <a:srgbClr val="000000"/>
                </a:solidFill>
                <a:effectLst/>
                <a:latin typeface="Pontano Sans"/>
              </a:rPr>
              <a:t> , </a:t>
            </a:r>
            <a:r>
              <a:rPr lang="en-US" sz="2400" b="0" i="0" u="none" strike="noStrike" dirty="0">
                <a:solidFill>
                  <a:srgbClr val="999999"/>
                </a:solidFill>
                <a:effectLst/>
                <a:latin typeface="Pontano Sans"/>
                <a:hlinkClick r:id="rId5"/>
              </a:rPr>
              <a:t>file</a:t>
            </a:r>
            <a:r>
              <a:rPr lang="en-US" sz="2400" b="0" i="0" dirty="0">
                <a:solidFill>
                  <a:srgbClr val="000000"/>
                </a:solidFill>
                <a:effectLst/>
                <a:latin typeface="Pontano Sans"/>
              </a:rPr>
              <a:t> , </a:t>
            </a:r>
            <a:r>
              <a:rPr lang="en-US" sz="2400" b="0" i="0" u="none" strike="noStrike" dirty="0">
                <a:solidFill>
                  <a:srgbClr val="999999"/>
                </a:solidFill>
                <a:effectLst/>
                <a:latin typeface="Pontano Sans"/>
                <a:hlinkClick r:id="rId6"/>
              </a:rPr>
              <a:t>du</a:t>
            </a:r>
            <a:r>
              <a:rPr lang="en-US" sz="2400" b="0" i="0" dirty="0">
                <a:solidFill>
                  <a:srgbClr val="000000"/>
                </a:solidFill>
                <a:effectLst/>
                <a:latin typeface="Pontano Sans"/>
              </a:rPr>
              <a:t> , </a:t>
            </a:r>
            <a:r>
              <a:rPr lang="en-US" sz="2400" b="0" i="0" u="none" strike="noStrike" dirty="0">
                <a:solidFill>
                  <a:srgbClr val="999999"/>
                </a:solidFill>
                <a:effectLst/>
                <a:latin typeface="Pontano Sans"/>
                <a:hlinkClick r:id="rId7"/>
              </a:rPr>
              <a:t>find</a:t>
            </a:r>
            <a:endParaRPr lang="en-US" sz="2400" b="0" i="0" dirty="0">
              <a:solidFill>
                <a:srgbClr val="000000"/>
              </a:solidFill>
              <a:effectLst/>
              <a:latin typeface="Pontano Sans"/>
            </a:endParaRPr>
          </a:p>
        </p:txBody>
      </p:sp>
    </p:spTree>
    <p:extLst>
      <p:ext uri="{BB962C8B-B14F-4D97-AF65-F5344CB8AC3E}">
        <p14:creationId xmlns:p14="http://schemas.microsoft.com/office/powerpoint/2010/main" val="11457892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735F7F3-C1B5-4B60-A00A-4EB618DDFB5A}"/>
              </a:ext>
            </a:extLst>
          </p:cNvPr>
          <p:cNvSpPr>
            <a:spLocks noGrp="1"/>
          </p:cNvSpPr>
          <p:nvPr>
            <p:ph type="body" sz="quarter" idx="10"/>
          </p:nvPr>
        </p:nvSpPr>
        <p:spPr/>
        <p:txBody>
          <a:bodyPr>
            <a:normAutofit/>
          </a:bodyPr>
          <a:lstStyle/>
          <a:p>
            <a:pPr fontAlgn="base"/>
            <a:r>
              <a:rPr lang="en-US" sz="3200" b="1" i="0" dirty="0">
                <a:solidFill>
                  <a:srgbClr val="273239"/>
                </a:solidFill>
                <a:effectLst/>
                <a:latin typeface="Source Sans 3"/>
              </a:rPr>
              <a:t>Bandit – A Wargame For Linux Beginners</a:t>
            </a:r>
          </a:p>
        </p:txBody>
      </p:sp>
      <p:sp>
        <p:nvSpPr>
          <p:cNvPr id="4" name="TextBox 3">
            <a:extLst>
              <a:ext uri="{FF2B5EF4-FFF2-40B4-BE49-F238E27FC236}">
                <a16:creationId xmlns:a16="http://schemas.microsoft.com/office/drawing/2014/main" id="{13D1B00E-B422-3F11-9B50-6ECA88D9F667}"/>
              </a:ext>
            </a:extLst>
          </p:cNvPr>
          <p:cNvSpPr txBox="1"/>
          <p:nvPr/>
        </p:nvSpPr>
        <p:spPr>
          <a:xfrm>
            <a:off x="167148" y="1397675"/>
            <a:ext cx="11729577" cy="1569660"/>
          </a:xfrm>
          <a:prstGeom prst="rect">
            <a:avLst/>
          </a:prstGeom>
          <a:noFill/>
        </p:spPr>
        <p:txBody>
          <a:bodyPr wrap="square">
            <a:spAutoFit/>
          </a:bodyPr>
          <a:lstStyle/>
          <a:p>
            <a:pPr algn="l"/>
            <a:r>
              <a:rPr lang="en-US" sz="2400" b="0" i="0" dirty="0">
                <a:solidFill>
                  <a:srgbClr val="242424"/>
                </a:solidFill>
                <a:effectLst/>
                <a:latin typeface="source-serif-pro"/>
              </a:rPr>
              <a:t>The password for the next level is contained within a file that meets specific criteria: it’s 1033 bytes in size, it’s meant for human readability rather than program execution, and it’s located within the “inhere” directory. This directory contains 19 more directories, each of which contains files with identical names.</a:t>
            </a:r>
          </a:p>
        </p:txBody>
      </p:sp>
      <p:sp>
        <p:nvSpPr>
          <p:cNvPr id="6" name="TextBox 5">
            <a:extLst>
              <a:ext uri="{FF2B5EF4-FFF2-40B4-BE49-F238E27FC236}">
                <a16:creationId xmlns:a16="http://schemas.microsoft.com/office/drawing/2014/main" id="{11FF59E5-BB51-4DBA-A54B-2284F9657546}"/>
              </a:ext>
            </a:extLst>
          </p:cNvPr>
          <p:cNvSpPr txBox="1"/>
          <p:nvPr/>
        </p:nvSpPr>
        <p:spPr>
          <a:xfrm>
            <a:off x="5638800" y="2974258"/>
            <a:ext cx="65" cy="276999"/>
          </a:xfrm>
          <a:prstGeom prst="rect">
            <a:avLst/>
          </a:prstGeom>
          <a:noFill/>
        </p:spPr>
        <p:txBody>
          <a:bodyPr wrap="none" lIns="0" tIns="0" rIns="0" bIns="0" rtlCol="1">
            <a:spAutoFit/>
          </a:bodyPr>
          <a:lstStyle/>
          <a:p>
            <a:endParaRPr lang="ar-EG" dirty="0"/>
          </a:p>
        </p:txBody>
      </p:sp>
      <p:sp>
        <p:nvSpPr>
          <p:cNvPr id="7" name="TextBox 6">
            <a:extLst>
              <a:ext uri="{FF2B5EF4-FFF2-40B4-BE49-F238E27FC236}">
                <a16:creationId xmlns:a16="http://schemas.microsoft.com/office/drawing/2014/main" id="{227F13FF-B30C-A66F-2783-2E9DD87539A2}"/>
              </a:ext>
            </a:extLst>
          </p:cNvPr>
          <p:cNvSpPr txBox="1"/>
          <p:nvPr/>
        </p:nvSpPr>
        <p:spPr>
          <a:xfrm>
            <a:off x="323529" y="3238967"/>
            <a:ext cx="1390124" cy="523220"/>
          </a:xfrm>
          <a:prstGeom prst="rect">
            <a:avLst/>
          </a:prstGeom>
          <a:noFill/>
        </p:spPr>
        <p:txBody>
          <a:bodyPr wrap="none" rtlCol="1">
            <a:spAutoFit/>
          </a:bodyPr>
          <a:lstStyle/>
          <a:p>
            <a:r>
              <a:rPr lang="en-US" sz="2800" dirty="0">
                <a:solidFill>
                  <a:srgbClr val="FF0000"/>
                </a:solidFill>
              </a:rPr>
              <a:t>Solution</a:t>
            </a:r>
            <a:endParaRPr lang="ar-EG" sz="2800" dirty="0">
              <a:solidFill>
                <a:srgbClr val="FF0000"/>
              </a:solidFill>
            </a:endParaRPr>
          </a:p>
        </p:txBody>
      </p:sp>
      <p:sp>
        <p:nvSpPr>
          <p:cNvPr id="10" name="TextBox 9">
            <a:extLst>
              <a:ext uri="{FF2B5EF4-FFF2-40B4-BE49-F238E27FC236}">
                <a16:creationId xmlns:a16="http://schemas.microsoft.com/office/drawing/2014/main" id="{900EC34C-9A53-36CD-6E2C-D102205A639B}"/>
              </a:ext>
            </a:extLst>
          </p:cNvPr>
          <p:cNvSpPr txBox="1"/>
          <p:nvPr/>
        </p:nvSpPr>
        <p:spPr>
          <a:xfrm>
            <a:off x="323528" y="3890666"/>
            <a:ext cx="11494713" cy="2308324"/>
          </a:xfrm>
          <a:prstGeom prst="rect">
            <a:avLst/>
          </a:prstGeom>
          <a:noFill/>
        </p:spPr>
        <p:txBody>
          <a:bodyPr wrap="square">
            <a:spAutoFit/>
          </a:bodyPr>
          <a:lstStyle/>
          <a:p>
            <a:r>
              <a:rPr lang="ar-EG" sz="2400" dirty="0" err="1"/>
              <a:t>An</a:t>
            </a:r>
            <a:r>
              <a:rPr lang="ar-EG" sz="2400" dirty="0"/>
              <a:t> </a:t>
            </a:r>
            <a:r>
              <a:rPr lang="ar-EG" sz="2400" dirty="0" err="1"/>
              <a:t>alternative</a:t>
            </a:r>
            <a:r>
              <a:rPr lang="ar-EG" sz="2400" dirty="0"/>
              <a:t> </a:t>
            </a:r>
            <a:r>
              <a:rPr lang="ar-EG" sz="2400" dirty="0" err="1"/>
              <a:t>approach</a:t>
            </a:r>
            <a:r>
              <a:rPr lang="ar-EG" sz="2400" dirty="0"/>
              <a:t> </a:t>
            </a:r>
            <a:r>
              <a:rPr lang="ar-EG" sz="2400" dirty="0" err="1"/>
              <a:t>is</a:t>
            </a:r>
            <a:r>
              <a:rPr lang="ar-EG" sz="2400" dirty="0"/>
              <a:t> </a:t>
            </a:r>
            <a:r>
              <a:rPr lang="ar-EG" sz="2400" dirty="0" err="1"/>
              <a:t>available</a:t>
            </a:r>
            <a:r>
              <a:rPr lang="ar-EG" sz="2400" dirty="0"/>
              <a:t>, </a:t>
            </a:r>
            <a:r>
              <a:rPr lang="ar-EG" sz="2400" dirty="0" err="1"/>
              <a:t>where</a:t>
            </a:r>
            <a:r>
              <a:rPr lang="ar-EG" sz="2400" dirty="0"/>
              <a:t> the “</a:t>
            </a:r>
            <a:r>
              <a:rPr lang="ar-EG" sz="2400" dirty="0" err="1"/>
              <a:t>find</a:t>
            </a:r>
            <a:r>
              <a:rPr lang="ar-EG" sz="2400" dirty="0"/>
              <a:t>” </a:t>
            </a:r>
            <a:r>
              <a:rPr lang="ar-EG" sz="2400" dirty="0" err="1"/>
              <a:t>command</a:t>
            </a:r>
            <a:r>
              <a:rPr lang="ar-EG" sz="2400" dirty="0"/>
              <a:t> </a:t>
            </a:r>
            <a:r>
              <a:rPr lang="ar-EG" sz="2400" dirty="0" err="1"/>
              <a:t>is</a:t>
            </a:r>
            <a:r>
              <a:rPr lang="ar-EG" sz="2400" dirty="0"/>
              <a:t> </a:t>
            </a:r>
            <a:r>
              <a:rPr lang="ar-EG" sz="2400" dirty="0" err="1"/>
              <a:t>employed</a:t>
            </a:r>
            <a:r>
              <a:rPr lang="ar-EG" sz="2400" dirty="0"/>
              <a:t> </a:t>
            </a:r>
            <a:r>
              <a:rPr lang="ar-EG" sz="2400" dirty="0" err="1"/>
              <a:t>to</a:t>
            </a:r>
            <a:r>
              <a:rPr lang="ar-EG" sz="2400" dirty="0"/>
              <a:t> </a:t>
            </a:r>
            <a:r>
              <a:rPr lang="ar-EG" sz="2400" dirty="0" err="1"/>
              <a:t>locate</a:t>
            </a:r>
            <a:r>
              <a:rPr lang="ar-EG" sz="2400" dirty="0"/>
              <a:t> the </a:t>
            </a:r>
            <a:r>
              <a:rPr lang="ar-EG" sz="2400" dirty="0" err="1"/>
              <a:t>required</a:t>
            </a:r>
            <a:r>
              <a:rPr lang="ar-EG" sz="2400" dirty="0"/>
              <a:t> password </a:t>
            </a:r>
            <a:r>
              <a:rPr lang="ar-EG" sz="2400" dirty="0" err="1"/>
              <a:t>file</a:t>
            </a:r>
            <a:r>
              <a:rPr lang="ar-EG" sz="2400" dirty="0"/>
              <a:t>. The </a:t>
            </a:r>
            <a:r>
              <a:rPr lang="ar-EG" sz="2400" dirty="0" err="1"/>
              <a:t>command</a:t>
            </a:r>
            <a:r>
              <a:rPr lang="ar-EG" sz="2400" dirty="0"/>
              <a:t> “</a:t>
            </a:r>
            <a:r>
              <a:rPr lang="ar-EG" sz="2400" dirty="0" err="1"/>
              <a:t>find</a:t>
            </a:r>
            <a:r>
              <a:rPr lang="ar-EG" sz="2400" dirty="0"/>
              <a:t> . -</a:t>
            </a:r>
            <a:r>
              <a:rPr lang="ar-EG" sz="2400" dirty="0" err="1"/>
              <a:t>type</a:t>
            </a:r>
            <a:r>
              <a:rPr lang="ar-EG" sz="2400" dirty="0"/>
              <a:t> f -</a:t>
            </a:r>
            <a:r>
              <a:rPr lang="ar-EG" sz="2400" dirty="0" err="1"/>
              <a:t>size</a:t>
            </a:r>
            <a:r>
              <a:rPr lang="ar-EG" sz="2400" dirty="0"/>
              <a:t> 1033c” </a:t>
            </a:r>
            <a:r>
              <a:rPr lang="ar-EG" sz="2400" dirty="0" err="1"/>
              <a:t>is</a:t>
            </a:r>
            <a:r>
              <a:rPr lang="ar-EG" sz="2400" dirty="0"/>
              <a:t> </a:t>
            </a:r>
            <a:r>
              <a:rPr lang="ar-EG" sz="2400" dirty="0" err="1"/>
              <a:t>utilized</a:t>
            </a:r>
            <a:r>
              <a:rPr lang="ar-EG" sz="2400" dirty="0"/>
              <a:t>, </a:t>
            </a:r>
            <a:r>
              <a:rPr lang="ar-EG" sz="2400" dirty="0" err="1"/>
              <a:t>and</a:t>
            </a:r>
            <a:r>
              <a:rPr lang="ar-EG" sz="2400" dirty="0"/>
              <a:t> </a:t>
            </a:r>
            <a:r>
              <a:rPr lang="ar-EG" sz="2400" dirty="0" err="1"/>
              <a:t>it</a:t>
            </a:r>
            <a:r>
              <a:rPr lang="ar-EG" sz="2400" dirty="0"/>
              <a:t> </a:t>
            </a:r>
            <a:r>
              <a:rPr lang="ar-EG" sz="2400" dirty="0" err="1"/>
              <a:t>essentially</a:t>
            </a:r>
            <a:r>
              <a:rPr lang="ar-EG" sz="2400" dirty="0"/>
              <a:t> </a:t>
            </a:r>
            <a:r>
              <a:rPr lang="ar-EG" sz="2400" dirty="0" err="1"/>
              <a:t>instructs</a:t>
            </a:r>
            <a:r>
              <a:rPr lang="ar-EG" sz="2400" dirty="0"/>
              <a:t> the </a:t>
            </a:r>
            <a:r>
              <a:rPr lang="ar-EG" sz="2400" dirty="0" err="1"/>
              <a:t>computer</a:t>
            </a:r>
            <a:r>
              <a:rPr lang="ar-EG" sz="2400" dirty="0"/>
              <a:t> </a:t>
            </a:r>
            <a:r>
              <a:rPr lang="ar-EG" sz="2400" dirty="0" err="1"/>
              <a:t>to</a:t>
            </a:r>
            <a:r>
              <a:rPr lang="ar-EG" sz="2400" dirty="0"/>
              <a:t> </a:t>
            </a:r>
            <a:r>
              <a:rPr lang="ar-EG" sz="2400" dirty="0" err="1"/>
              <a:t>search</a:t>
            </a:r>
            <a:r>
              <a:rPr lang="ar-EG" sz="2400" dirty="0"/>
              <a:t> </a:t>
            </a:r>
            <a:r>
              <a:rPr lang="ar-EG" sz="2400" dirty="0" err="1"/>
              <a:t>within</a:t>
            </a:r>
            <a:r>
              <a:rPr lang="ar-EG" sz="2400" dirty="0"/>
              <a:t> the “</a:t>
            </a:r>
            <a:r>
              <a:rPr lang="ar-EG" sz="2400" dirty="0" err="1"/>
              <a:t>inhere</a:t>
            </a:r>
            <a:r>
              <a:rPr lang="ar-EG" sz="2400" dirty="0"/>
              <a:t>” </a:t>
            </a:r>
            <a:r>
              <a:rPr lang="ar-EG" sz="2400" dirty="0" err="1"/>
              <a:t>directory</a:t>
            </a:r>
            <a:r>
              <a:rPr lang="ar-EG" sz="2400" dirty="0"/>
              <a:t> </a:t>
            </a:r>
            <a:r>
              <a:rPr lang="ar-EG" sz="2400" dirty="0" err="1"/>
              <a:t>and</a:t>
            </a:r>
            <a:r>
              <a:rPr lang="ar-EG" sz="2400" dirty="0"/>
              <a:t> </a:t>
            </a:r>
            <a:r>
              <a:rPr lang="ar-EG" sz="2400" dirty="0" err="1"/>
              <a:t>its</a:t>
            </a:r>
            <a:r>
              <a:rPr lang="ar-EG" sz="2400" dirty="0"/>
              <a:t> </a:t>
            </a:r>
            <a:r>
              <a:rPr lang="ar-EG" sz="2400" dirty="0" err="1"/>
              <a:t>subdirectories</a:t>
            </a:r>
            <a:r>
              <a:rPr lang="ar-EG" sz="2400" dirty="0"/>
              <a:t> for </a:t>
            </a:r>
            <a:r>
              <a:rPr lang="ar-EG" sz="2400" dirty="0" err="1"/>
              <a:t>files</a:t>
            </a:r>
            <a:r>
              <a:rPr lang="ar-EG" sz="2400" dirty="0"/>
              <a:t> </a:t>
            </a:r>
            <a:r>
              <a:rPr lang="ar-EG" sz="2400" dirty="0" err="1"/>
              <a:t>that</a:t>
            </a:r>
            <a:r>
              <a:rPr lang="ar-EG" sz="2400" dirty="0"/>
              <a:t> </a:t>
            </a:r>
            <a:r>
              <a:rPr lang="ar-EG" sz="2400" dirty="0" err="1"/>
              <a:t>match</a:t>
            </a:r>
            <a:r>
              <a:rPr lang="ar-EG" sz="2400" dirty="0"/>
              <a:t> the </a:t>
            </a:r>
            <a:r>
              <a:rPr lang="ar-EG" sz="2400" dirty="0" err="1"/>
              <a:t>criteria</a:t>
            </a:r>
            <a:r>
              <a:rPr lang="ar-EG" sz="2400" dirty="0"/>
              <a:t> </a:t>
            </a:r>
            <a:r>
              <a:rPr lang="ar-EG" sz="2400" dirty="0" err="1"/>
              <a:t>of</a:t>
            </a:r>
            <a:r>
              <a:rPr lang="ar-EG" sz="2400" dirty="0"/>
              <a:t> </a:t>
            </a:r>
            <a:r>
              <a:rPr lang="ar-EG" sz="2400" dirty="0" err="1"/>
              <a:t>being</a:t>
            </a:r>
            <a:r>
              <a:rPr lang="ar-EG" sz="2400" dirty="0"/>
              <a:t> </a:t>
            </a:r>
            <a:r>
              <a:rPr lang="ar-EG" sz="2400" dirty="0" err="1"/>
              <a:t>exactly</a:t>
            </a:r>
            <a:r>
              <a:rPr lang="ar-EG" sz="2400" dirty="0"/>
              <a:t> 1033 </a:t>
            </a:r>
            <a:r>
              <a:rPr lang="ar-EG" sz="2400" dirty="0" err="1"/>
              <a:t>bytes</a:t>
            </a:r>
            <a:r>
              <a:rPr lang="ar-EG" sz="2400" dirty="0"/>
              <a:t> </a:t>
            </a:r>
            <a:r>
              <a:rPr lang="ar-EG" sz="2400" dirty="0" err="1"/>
              <a:t>in</a:t>
            </a:r>
            <a:r>
              <a:rPr lang="ar-EG" sz="2400" dirty="0"/>
              <a:t> </a:t>
            </a:r>
            <a:r>
              <a:rPr lang="ar-EG" sz="2400" dirty="0" err="1"/>
              <a:t>size</a:t>
            </a:r>
            <a:r>
              <a:rPr lang="ar-EG" sz="2400" dirty="0"/>
              <a:t> </a:t>
            </a:r>
            <a:r>
              <a:rPr lang="ar-EG" sz="2400" dirty="0" err="1"/>
              <a:t>and</a:t>
            </a:r>
            <a:r>
              <a:rPr lang="ar-EG" sz="2400" dirty="0"/>
              <a:t> </a:t>
            </a:r>
            <a:r>
              <a:rPr lang="ar-EG" sz="2400" dirty="0" err="1"/>
              <a:t>not</a:t>
            </a:r>
            <a:r>
              <a:rPr lang="ar-EG" sz="2400" dirty="0"/>
              <a:t> </a:t>
            </a:r>
            <a:r>
              <a:rPr lang="ar-EG" sz="2400" dirty="0" err="1"/>
              <a:t>being</a:t>
            </a:r>
            <a:r>
              <a:rPr lang="ar-EG" sz="2400" dirty="0"/>
              <a:t> </a:t>
            </a:r>
            <a:r>
              <a:rPr lang="ar-EG" sz="2400" dirty="0" err="1"/>
              <a:t>directories</a:t>
            </a:r>
            <a:r>
              <a:rPr lang="ar-EG" sz="2400" dirty="0"/>
              <a:t>.</a:t>
            </a:r>
          </a:p>
          <a:p>
            <a:endParaRPr lang="ar-EG" sz="2400" dirty="0"/>
          </a:p>
        </p:txBody>
      </p:sp>
      <p:sp>
        <p:nvSpPr>
          <p:cNvPr id="12" name="Rectangle 2">
            <a:extLst>
              <a:ext uri="{FF2B5EF4-FFF2-40B4-BE49-F238E27FC236}">
                <a16:creationId xmlns:a16="http://schemas.microsoft.com/office/drawing/2014/main" id="{B1AF93F1-27F9-0D68-A2DF-F6779ADEDE83}"/>
              </a:ext>
            </a:extLst>
          </p:cNvPr>
          <p:cNvSpPr>
            <a:spLocks noChangeArrowheads="1"/>
          </p:cNvSpPr>
          <p:nvPr/>
        </p:nvSpPr>
        <p:spPr bwMode="auto">
          <a:xfrm>
            <a:off x="403122" y="6129741"/>
            <a:ext cx="475881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ar-EG" altLang="ar-EG" sz="2400" b="1" i="1" u="none" strike="noStrike" cap="none" normalizeH="0" baseline="0" dirty="0" err="1">
                <a:ln>
                  <a:noFill/>
                </a:ln>
                <a:solidFill>
                  <a:srgbClr val="242424"/>
                </a:solidFill>
                <a:effectLst/>
                <a:latin typeface="source-serif-pro"/>
              </a:rPr>
              <a:t>find</a:t>
            </a:r>
            <a:r>
              <a:rPr kumimoji="0" lang="ar-EG" altLang="ar-EG" sz="2400" b="1" i="1" u="none" strike="noStrike" cap="none" normalizeH="0" baseline="0" dirty="0">
                <a:ln>
                  <a:noFill/>
                </a:ln>
                <a:solidFill>
                  <a:srgbClr val="242424"/>
                </a:solidFill>
                <a:effectLst/>
                <a:latin typeface="source-serif-pro"/>
              </a:rPr>
              <a:t> . -</a:t>
            </a:r>
            <a:r>
              <a:rPr kumimoji="0" lang="ar-EG" altLang="ar-EG" sz="2400" b="1" i="1" u="none" strike="noStrike" cap="none" normalizeH="0" baseline="0" dirty="0" err="1">
                <a:ln>
                  <a:noFill/>
                </a:ln>
                <a:solidFill>
                  <a:srgbClr val="242424"/>
                </a:solidFill>
                <a:effectLst/>
                <a:latin typeface="source-serif-pro"/>
              </a:rPr>
              <a:t>type</a:t>
            </a:r>
            <a:r>
              <a:rPr kumimoji="0" lang="ar-EG" altLang="ar-EG" sz="2400" b="1" i="1" u="none" strike="noStrike" cap="none" normalizeH="0" baseline="0" dirty="0">
                <a:ln>
                  <a:noFill/>
                </a:ln>
                <a:solidFill>
                  <a:srgbClr val="242424"/>
                </a:solidFill>
                <a:effectLst/>
                <a:latin typeface="source-serif-pro"/>
              </a:rPr>
              <a:t> f -</a:t>
            </a:r>
            <a:r>
              <a:rPr kumimoji="0" lang="ar-EG" altLang="ar-EG" sz="2400" b="1" i="1" u="none" strike="noStrike" cap="none" normalizeH="0" baseline="0" dirty="0" err="1">
                <a:ln>
                  <a:noFill/>
                </a:ln>
                <a:solidFill>
                  <a:srgbClr val="242424"/>
                </a:solidFill>
                <a:effectLst/>
                <a:latin typeface="source-serif-pro"/>
              </a:rPr>
              <a:t>size</a:t>
            </a:r>
            <a:r>
              <a:rPr kumimoji="0" lang="ar-EG" altLang="ar-EG" sz="2400" b="1" i="1" u="none" strike="noStrike" cap="none" normalizeH="0" baseline="0" dirty="0">
                <a:ln>
                  <a:noFill/>
                </a:ln>
                <a:solidFill>
                  <a:srgbClr val="242424"/>
                </a:solidFill>
                <a:effectLst/>
                <a:latin typeface="source-serif-pro"/>
              </a:rPr>
              <a:t> 1033c</a:t>
            </a:r>
            <a:endParaRPr kumimoji="0" lang="ar-EG" altLang="ar-EG" sz="11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6246955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DAECA04-EB53-6FEA-C7D7-CF1C463BF6EA}"/>
              </a:ext>
            </a:extLst>
          </p:cNvPr>
          <p:cNvSpPr txBox="1"/>
          <p:nvPr/>
        </p:nvSpPr>
        <p:spPr>
          <a:xfrm>
            <a:off x="294967" y="460871"/>
            <a:ext cx="11572567" cy="707886"/>
          </a:xfrm>
          <a:prstGeom prst="rect">
            <a:avLst/>
          </a:prstGeom>
          <a:noFill/>
        </p:spPr>
        <p:txBody>
          <a:bodyPr wrap="square">
            <a:spAutoFit/>
          </a:bodyPr>
          <a:lstStyle/>
          <a:p>
            <a:pPr algn="l"/>
            <a:r>
              <a:rPr lang="en-US" sz="2000" b="0" i="0" dirty="0">
                <a:solidFill>
                  <a:srgbClr val="000000"/>
                </a:solidFill>
                <a:effectLst/>
                <a:latin typeface="Raleway" panose="020F0502020204030204" pitchFamily="2" charset="0"/>
              </a:rPr>
              <a:t>To start I "</a:t>
            </a:r>
            <a:r>
              <a:rPr lang="en-US" sz="2000" b="0" i="0" dirty="0">
                <a:solidFill>
                  <a:srgbClr val="FF0000"/>
                </a:solidFill>
                <a:effectLst/>
                <a:latin typeface="Raleway" panose="020F0502020204030204" pitchFamily="2" charset="0"/>
              </a:rPr>
              <a:t>cd</a:t>
            </a:r>
            <a:r>
              <a:rPr lang="en-US" sz="2000" b="0" i="0" dirty="0">
                <a:solidFill>
                  <a:srgbClr val="000000"/>
                </a:solidFill>
                <a:effectLst/>
                <a:latin typeface="Raleway" panose="020F0502020204030204" pitchFamily="2" charset="0"/>
              </a:rPr>
              <a:t>" into the inhere folder and ran "</a:t>
            </a:r>
            <a:r>
              <a:rPr lang="en-US" sz="2000" b="0" i="0" dirty="0">
                <a:solidFill>
                  <a:srgbClr val="FF0000"/>
                </a:solidFill>
                <a:effectLst/>
                <a:latin typeface="Raleway" panose="020F0502020204030204" pitchFamily="2" charset="0"/>
              </a:rPr>
              <a:t>ls</a:t>
            </a:r>
            <a:r>
              <a:rPr lang="en-US" sz="2000" b="0" i="0" dirty="0">
                <a:solidFill>
                  <a:srgbClr val="000000"/>
                </a:solidFill>
                <a:effectLst/>
                <a:latin typeface="Raleway" panose="020F0502020204030204" pitchFamily="2" charset="0"/>
              </a:rPr>
              <a:t>" to see the files and folders and noticed that there were a bunch of folder and inside those folders a couple of files.</a:t>
            </a:r>
          </a:p>
        </p:txBody>
      </p:sp>
      <p:pic>
        <p:nvPicPr>
          <p:cNvPr id="7" name="Picture 6">
            <a:extLst>
              <a:ext uri="{FF2B5EF4-FFF2-40B4-BE49-F238E27FC236}">
                <a16:creationId xmlns:a16="http://schemas.microsoft.com/office/drawing/2014/main" id="{91D47BF3-5A93-E4A6-B098-4FF291260FFF}"/>
              </a:ext>
            </a:extLst>
          </p:cNvPr>
          <p:cNvPicPr>
            <a:picLocks noChangeAspect="1"/>
          </p:cNvPicPr>
          <p:nvPr/>
        </p:nvPicPr>
        <p:blipFill>
          <a:blip r:embed="rId2"/>
          <a:stretch>
            <a:fillRect/>
          </a:stretch>
        </p:blipFill>
        <p:spPr>
          <a:xfrm>
            <a:off x="421146" y="1631460"/>
            <a:ext cx="10307488" cy="3058527"/>
          </a:xfrm>
          <a:prstGeom prst="rect">
            <a:avLst/>
          </a:prstGeom>
        </p:spPr>
      </p:pic>
      <p:sp>
        <p:nvSpPr>
          <p:cNvPr id="9" name="TextBox 8">
            <a:extLst>
              <a:ext uri="{FF2B5EF4-FFF2-40B4-BE49-F238E27FC236}">
                <a16:creationId xmlns:a16="http://schemas.microsoft.com/office/drawing/2014/main" id="{458971E9-3C77-5EFD-DE85-F16819AC0843}"/>
              </a:ext>
            </a:extLst>
          </p:cNvPr>
          <p:cNvSpPr txBox="1"/>
          <p:nvPr/>
        </p:nvSpPr>
        <p:spPr>
          <a:xfrm>
            <a:off x="294967" y="4892676"/>
            <a:ext cx="11572566" cy="1323439"/>
          </a:xfrm>
          <a:prstGeom prst="rect">
            <a:avLst/>
          </a:prstGeom>
          <a:noFill/>
        </p:spPr>
        <p:txBody>
          <a:bodyPr wrap="square">
            <a:spAutoFit/>
          </a:bodyPr>
          <a:lstStyle/>
          <a:p>
            <a:pPr algn="l"/>
            <a:r>
              <a:rPr lang="en-US" sz="2000" b="0" i="0" dirty="0">
                <a:solidFill>
                  <a:srgbClr val="000000"/>
                </a:solidFill>
                <a:effectLst/>
                <a:latin typeface="Raleway" pitchFamily="2" charset="0"/>
              </a:rPr>
              <a:t>To make my life easier and not have to read every file I tried to "find" a way to look for the specific file with the properties given. I looked through the manual page of the find command and looked for ways of pointing out the properties of the file. I found the </a:t>
            </a:r>
            <a:r>
              <a:rPr lang="en-US" sz="2000" b="0" i="0" dirty="0">
                <a:solidFill>
                  <a:srgbClr val="FF0000"/>
                </a:solidFill>
                <a:effectLst/>
                <a:latin typeface="Raleway" pitchFamily="2" charset="0"/>
              </a:rPr>
              <a:t>-size, -type, and -executable</a:t>
            </a:r>
            <a:r>
              <a:rPr lang="en-US" sz="2000" b="0" i="0" dirty="0">
                <a:solidFill>
                  <a:srgbClr val="000000"/>
                </a:solidFill>
                <a:effectLst/>
                <a:latin typeface="Raleway" pitchFamily="2" charset="0"/>
              </a:rPr>
              <a:t> options.</a:t>
            </a:r>
          </a:p>
        </p:txBody>
      </p:sp>
    </p:spTree>
    <p:extLst>
      <p:ext uri="{BB962C8B-B14F-4D97-AF65-F5344CB8AC3E}">
        <p14:creationId xmlns:p14="http://schemas.microsoft.com/office/powerpoint/2010/main" val="20585484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3D1789BC-9F50-037E-089B-E8FAFC173D38}"/>
              </a:ext>
            </a:extLst>
          </p:cNvPr>
          <p:cNvGrpSpPr/>
          <p:nvPr/>
        </p:nvGrpSpPr>
        <p:grpSpPr>
          <a:xfrm>
            <a:off x="1332270" y="0"/>
            <a:ext cx="8962104" cy="6857998"/>
            <a:chOff x="988141" y="1"/>
            <a:chExt cx="8962104" cy="6857998"/>
          </a:xfrm>
        </p:grpSpPr>
        <p:grpSp>
          <p:nvGrpSpPr>
            <p:cNvPr id="2" name="Group 1">
              <a:extLst>
                <a:ext uri="{FF2B5EF4-FFF2-40B4-BE49-F238E27FC236}">
                  <a16:creationId xmlns:a16="http://schemas.microsoft.com/office/drawing/2014/main" id="{FB43ACDC-F207-3A4C-E2E5-F15FC09FF9FC}"/>
                </a:ext>
              </a:extLst>
            </p:cNvPr>
            <p:cNvGrpSpPr/>
            <p:nvPr/>
          </p:nvGrpSpPr>
          <p:grpSpPr>
            <a:xfrm>
              <a:off x="988141" y="1"/>
              <a:ext cx="8962104" cy="5270090"/>
              <a:chOff x="722670" y="231058"/>
              <a:chExt cx="8962104" cy="6395884"/>
            </a:xfrm>
          </p:grpSpPr>
          <p:pic>
            <p:nvPicPr>
              <p:cNvPr id="3074" name="Picture 2">
                <a:extLst>
                  <a:ext uri="{FF2B5EF4-FFF2-40B4-BE49-F238E27FC236}">
                    <a16:creationId xmlns:a16="http://schemas.microsoft.com/office/drawing/2014/main" id="{88CA3F51-D7CE-FBC7-FBD0-CB0E2621C5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2670" y="3045542"/>
                <a:ext cx="8962104" cy="3581400"/>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2236092D-F320-50C6-FEB4-1F28AE0A19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2670" y="231058"/>
                <a:ext cx="8962103" cy="2814484"/>
              </a:xfrm>
              <a:prstGeom prst="rect">
                <a:avLst/>
              </a:prstGeom>
              <a:noFill/>
              <a:extLst>
                <a:ext uri="{909E8E84-426E-40DD-AFC4-6F175D3DCCD1}">
                  <a14:hiddenFill xmlns:a14="http://schemas.microsoft.com/office/drawing/2010/main">
                    <a:solidFill>
                      <a:srgbClr val="FFFFFF"/>
                    </a:solidFill>
                  </a14:hiddenFill>
                </a:ext>
              </a:extLst>
            </p:spPr>
          </p:pic>
        </p:grpSp>
        <p:pic>
          <p:nvPicPr>
            <p:cNvPr id="3080" name="Picture 8">
              <a:extLst>
                <a:ext uri="{FF2B5EF4-FFF2-40B4-BE49-F238E27FC236}">
                  <a16:creationId xmlns:a16="http://schemas.microsoft.com/office/drawing/2014/main" id="{0BC45155-EA04-603B-FD78-59A431E3C1B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8141" y="5270091"/>
              <a:ext cx="8962102" cy="1587908"/>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750954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07833EE-5F2A-E633-D9D4-83F2F52C78E6}"/>
              </a:ext>
            </a:extLst>
          </p:cNvPr>
          <p:cNvSpPr txBox="1"/>
          <p:nvPr/>
        </p:nvSpPr>
        <p:spPr>
          <a:xfrm>
            <a:off x="285135" y="410863"/>
            <a:ext cx="11582399" cy="1884940"/>
          </a:xfrm>
          <a:prstGeom prst="rect">
            <a:avLst/>
          </a:prstGeom>
          <a:noFill/>
        </p:spPr>
        <p:txBody>
          <a:bodyPr wrap="square">
            <a:spAutoFit/>
          </a:bodyPr>
          <a:lstStyle/>
          <a:p>
            <a:pPr algn="l">
              <a:lnSpc>
                <a:spcPct val="150000"/>
              </a:lnSpc>
            </a:pPr>
            <a:r>
              <a:rPr lang="en-US" sz="2000" b="0" i="0" dirty="0">
                <a:solidFill>
                  <a:srgbClr val="000000"/>
                </a:solidFill>
                <a:effectLst/>
                <a:latin typeface="Raleway" pitchFamily="2" charset="0"/>
              </a:rPr>
              <a:t>I put them together with the properties given and I ran the "find" command below:</a:t>
            </a:r>
          </a:p>
          <a:p>
            <a:pPr algn="l">
              <a:lnSpc>
                <a:spcPct val="150000"/>
              </a:lnSpc>
            </a:pPr>
            <a:r>
              <a:rPr lang="en-US" sz="2000" b="0" i="1" dirty="0">
                <a:solidFill>
                  <a:srgbClr val="FF0000"/>
                </a:solidFill>
                <a:effectLst/>
                <a:latin typeface="Raleway" pitchFamily="2" charset="0"/>
              </a:rPr>
              <a:t>find -type f -size 1033c ! -executable</a:t>
            </a:r>
            <a:endParaRPr lang="en-US" sz="2000" b="0" i="0" dirty="0">
              <a:solidFill>
                <a:srgbClr val="FF0000"/>
              </a:solidFill>
              <a:effectLst/>
              <a:latin typeface="Raleway" pitchFamily="2" charset="0"/>
            </a:endParaRPr>
          </a:p>
          <a:p>
            <a:pPr algn="l">
              <a:lnSpc>
                <a:spcPct val="150000"/>
              </a:lnSpc>
            </a:pPr>
            <a:r>
              <a:rPr lang="en-US" sz="2000" b="0" i="0" dirty="0">
                <a:solidFill>
                  <a:srgbClr val="000000"/>
                </a:solidFill>
                <a:effectLst/>
                <a:latin typeface="Raleway" pitchFamily="2" charset="0"/>
              </a:rPr>
              <a:t>It looks for a file that is size 1033 bytes and it is not executable. The output was ./maybehere07/.file2 and then I read the file I see that the password is</a:t>
            </a:r>
          </a:p>
        </p:txBody>
      </p:sp>
      <p:sp>
        <p:nvSpPr>
          <p:cNvPr id="5" name="TextBox 4">
            <a:extLst>
              <a:ext uri="{FF2B5EF4-FFF2-40B4-BE49-F238E27FC236}">
                <a16:creationId xmlns:a16="http://schemas.microsoft.com/office/drawing/2014/main" id="{8353D82F-511C-F10D-03C2-B0EEE85E4EB5}"/>
              </a:ext>
            </a:extLst>
          </p:cNvPr>
          <p:cNvSpPr txBox="1"/>
          <p:nvPr/>
        </p:nvSpPr>
        <p:spPr>
          <a:xfrm>
            <a:off x="359031" y="4181932"/>
            <a:ext cx="7378956" cy="830997"/>
          </a:xfrm>
          <a:prstGeom prst="rect">
            <a:avLst/>
          </a:prstGeom>
          <a:noFill/>
        </p:spPr>
        <p:txBody>
          <a:bodyPr wrap="square">
            <a:spAutoFit/>
          </a:bodyPr>
          <a:lstStyle/>
          <a:p>
            <a:r>
              <a:rPr lang="en-US" sz="2400" dirty="0"/>
              <a:t>Username : </a:t>
            </a:r>
            <a:r>
              <a:rPr lang="en-US" sz="2400" dirty="0">
                <a:solidFill>
                  <a:srgbClr val="FF0000"/>
                </a:solidFill>
              </a:rPr>
              <a:t>bandit6</a:t>
            </a:r>
            <a:endParaRPr lang="ar-EG" sz="2400" dirty="0">
              <a:solidFill>
                <a:srgbClr val="FF0000"/>
              </a:solidFill>
            </a:endParaRPr>
          </a:p>
          <a:p>
            <a:r>
              <a:rPr lang="en-US" sz="2400" dirty="0"/>
              <a:t>Password: </a:t>
            </a:r>
            <a:r>
              <a:rPr lang="ar-EG" sz="2400" dirty="0">
                <a:solidFill>
                  <a:srgbClr val="FF0000"/>
                </a:solidFill>
              </a:rPr>
              <a:t>P4L4vucdmLnm8I7Vl7jG1ApGSfjYKqJU</a:t>
            </a:r>
          </a:p>
        </p:txBody>
      </p:sp>
      <p:pic>
        <p:nvPicPr>
          <p:cNvPr id="4098" name="Picture 2">
            <a:extLst>
              <a:ext uri="{FF2B5EF4-FFF2-40B4-BE49-F238E27FC236}">
                <a16:creationId xmlns:a16="http://schemas.microsoft.com/office/drawing/2014/main" id="{AE935285-4A2C-4240-1C99-A32B16EFC9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9031" y="2431021"/>
            <a:ext cx="10966836" cy="7054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16918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DF38902-6A90-3A90-1F7D-FA1A840BB5C3}"/>
              </a:ext>
            </a:extLst>
          </p:cNvPr>
          <p:cNvSpPr txBox="1"/>
          <p:nvPr/>
        </p:nvSpPr>
        <p:spPr>
          <a:xfrm>
            <a:off x="176981" y="687862"/>
            <a:ext cx="11690554" cy="400110"/>
          </a:xfrm>
          <a:prstGeom prst="rect">
            <a:avLst/>
          </a:prstGeom>
          <a:noFill/>
        </p:spPr>
        <p:txBody>
          <a:bodyPr wrap="square">
            <a:spAutoFit/>
          </a:bodyPr>
          <a:lstStyle/>
          <a:p>
            <a:pPr algn="l"/>
            <a:r>
              <a:rPr lang="en-US" sz="2000" b="1" i="0" dirty="0">
                <a:solidFill>
                  <a:srgbClr val="FF0000"/>
                </a:solidFill>
                <a:effectLst/>
                <a:latin typeface="sohne"/>
              </a:rPr>
              <a:t>LEVEL 6 TO 7</a:t>
            </a:r>
          </a:p>
        </p:txBody>
      </p:sp>
      <p:sp>
        <p:nvSpPr>
          <p:cNvPr id="3" name="TextBox 2">
            <a:extLst>
              <a:ext uri="{FF2B5EF4-FFF2-40B4-BE49-F238E27FC236}">
                <a16:creationId xmlns:a16="http://schemas.microsoft.com/office/drawing/2014/main" id="{E9ABCBAB-8998-F4EC-CFB5-6E836F0EFD25}"/>
              </a:ext>
            </a:extLst>
          </p:cNvPr>
          <p:cNvSpPr txBox="1"/>
          <p:nvPr/>
        </p:nvSpPr>
        <p:spPr>
          <a:xfrm>
            <a:off x="176980" y="1264573"/>
            <a:ext cx="11867535" cy="3539430"/>
          </a:xfrm>
          <a:prstGeom prst="rect">
            <a:avLst/>
          </a:prstGeom>
          <a:noFill/>
        </p:spPr>
        <p:txBody>
          <a:bodyPr wrap="square">
            <a:spAutoFit/>
          </a:bodyPr>
          <a:lstStyle/>
          <a:p>
            <a:pPr algn="l"/>
            <a:r>
              <a:rPr lang="en-US" sz="2800" b="0" i="0" dirty="0">
                <a:solidFill>
                  <a:srgbClr val="FF0000"/>
                </a:solidFill>
                <a:effectLst/>
                <a:latin typeface="Pontano Sans"/>
              </a:rPr>
              <a:t>Level Goal</a:t>
            </a:r>
          </a:p>
          <a:p>
            <a:pPr algn="l"/>
            <a:r>
              <a:rPr lang="en-US" sz="2800" b="0" i="0" dirty="0">
                <a:solidFill>
                  <a:srgbClr val="000000"/>
                </a:solidFill>
                <a:effectLst/>
                <a:latin typeface="Pontano Sans"/>
              </a:rPr>
              <a:t>The password for the next level is stored </a:t>
            </a:r>
            <a:r>
              <a:rPr lang="en-US" sz="2800" b="1" i="0" dirty="0">
                <a:solidFill>
                  <a:srgbClr val="000000"/>
                </a:solidFill>
                <a:effectLst/>
                <a:latin typeface="Pontano Sans"/>
              </a:rPr>
              <a:t>somewhere on the server</a:t>
            </a:r>
            <a:r>
              <a:rPr lang="en-US" sz="2800" b="0" i="0" dirty="0">
                <a:solidFill>
                  <a:srgbClr val="000000"/>
                </a:solidFill>
                <a:effectLst/>
                <a:latin typeface="Pontano Sans"/>
              </a:rPr>
              <a:t> and has all of the following properties:</a:t>
            </a:r>
          </a:p>
          <a:p>
            <a:pPr algn="l"/>
            <a:r>
              <a:rPr lang="en-US" sz="2800" b="0" i="0" u="none" strike="noStrike" dirty="0">
                <a:solidFill>
                  <a:srgbClr val="000000"/>
                </a:solidFill>
                <a:effectLst/>
                <a:latin typeface="Pontano Sans"/>
              </a:rPr>
              <a:t>owned by user bandit7</a:t>
            </a:r>
          </a:p>
          <a:p>
            <a:pPr algn="l"/>
            <a:r>
              <a:rPr lang="en-US" sz="2800" b="0" i="0" u="none" strike="noStrike" dirty="0">
                <a:solidFill>
                  <a:srgbClr val="000000"/>
                </a:solidFill>
                <a:effectLst/>
                <a:latin typeface="Pontano Sans"/>
              </a:rPr>
              <a:t>owned by group bandit6</a:t>
            </a:r>
          </a:p>
          <a:p>
            <a:pPr algn="l"/>
            <a:r>
              <a:rPr lang="en-US" sz="2800" b="0" i="0" u="none" strike="noStrike" dirty="0">
                <a:solidFill>
                  <a:srgbClr val="000000"/>
                </a:solidFill>
                <a:effectLst/>
                <a:latin typeface="Pontano Sans"/>
              </a:rPr>
              <a:t>33 bytes in size</a:t>
            </a:r>
          </a:p>
          <a:p>
            <a:pPr algn="l"/>
            <a:r>
              <a:rPr lang="en-US" sz="2800" b="0" i="0" dirty="0">
                <a:solidFill>
                  <a:srgbClr val="FF0000"/>
                </a:solidFill>
                <a:effectLst/>
                <a:latin typeface="Pontano Sans"/>
              </a:rPr>
              <a:t>Commands you may need to solve this level</a:t>
            </a:r>
          </a:p>
          <a:p>
            <a:pPr algn="l"/>
            <a:r>
              <a:rPr lang="en-US" sz="2800" b="0" i="0" u="none" strike="noStrike" dirty="0">
                <a:solidFill>
                  <a:srgbClr val="999999"/>
                </a:solidFill>
                <a:effectLst/>
                <a:latin typeface="Pontano Sans"/>
                <a:hlinkClick r:id="rId2"/>
              </a:rPr>
              <a:t>ls</a:t>
            </a:r>
            <a:r>
              <a:rPr lang="en-US" sz="2800" b="0" i="0" dirty="0">
                <a:solidFill>
                  <a:srgbClr val="000000"/>
                </a:solidFill>
                <a:effectLst/>
                <a:latin typeface="Pontano Sans"/>
              </a:rPr>
              <a:t> , </a:t>
            </a:r>
            <a:r>
              <a:rPr lang="en-US" sz="2800" b="0" i="0" u="none" strike="noStrike" dirty="0">
                <a:solidFill>
                  <a:srgbClr val="999999"/>
                </a:solidFill>
                <a:effectLst/>
                <a:latin typeface="Pontano Sans"/>
                <a:hlinkClick r:id="rId3"/>
              </a:rPr>
              <a:t>cd</a:t>
            </a:r>
            <a:r>
              <a:rPr lang="en-US" sz="2800" b="0" i="0" dirty="0">
                <a:solidFill>
                  <a:srgbClr val="000000"/>
                </a:solidFill>
                <a:effectLst/>
                <a:latin typeface="Pontano Sans"/>
              </a:rPr>
              <a:t> , </a:t>
            </a:r>
            <a:r>
              <a:rPr lang="en-US" sz="2800" b="0" i="0" u="none" strike="noStrike" dirty="0">
                <a:solidFill>
                  <a:srgbClr val="999999"/>
                </a:solidFill>
                <a:effectLst/>
                <a:latin typeface="Pontano Sans"/>
                <a:hlinkClick r:id="rId4"/>
              </a:rPr>
              <a:t>cat</a:t>
            </a:r>
            <a:r>
              <a:rPr lang="en-US" sz="2800" b="0" i="0" dirty="0">
                <a:solidFill>
                  <a:srgbClr val="000000"/>
                </a:solidFill>
                <a:effectLst/>
                <a:latin typeface="Pontano Sans"/>
              </a:rPr>
              <a:t> , </a:t>
            </a:r>
            <a:r>
              <a:rPr lang="en-US" sz="2800" b="0" i="0" u="none" strike="noStrike" dirty="0">
                <a:solidFill>
                  <a:srgbClr val="999999"/>
                </a:solidFill>
                <a:effectLst/>
                <a:latin typeface="Pontano Sans"/>
                <a:hlinkClick r:id="rId5"/>
              </a:rPr>
              <a:t>file</a:t>
            </a:r>
            <a:r>
              <a:rPr lang="en-US" sz="2800" b="0" i="0" dirty="0">
                <a:solidFill>
                  <a:srgbClr val="000000"/>
                </a:solidFill>
                <a:effectLst/>
                <a:latin typeface="Pontano Sans"/>
              </a:rPr>
              <a:t> , </a:t>
            </a:r>
            <a:r>
              <a:rPr lang="en-US" sz="2800" b="0" i="0" u="none" strike="noStrike" dirty="0">
                <a:solidFill>
                  <a:srgbClr val="999999"/>
                </a:solidFill>
                <a:effectLst/>
                <a:latin typeface="Pontano Sans"/>
                <a:hlinkClick r:id="rId6"/>
              </a:rPr>
              <a:t>du</a:t>
            </a:r>
            <a:r>
              <a:rPr lang="en-US" sz="2800" b="0" i="0" dirty="0">
                <a:solidFill>
                  <a:srgbClr val="000000"/>
                </a:solidFill>
                <a:effectLst/>
                <a:latin typeface="Pontano Sans"/>
              </a:rPr>
              <a:t> , </a:t>
            </a:r>
            <a:r>
              <a:rPr lang="en-US" sz="2800" b="0" i="0" u="none" strike="noStrike" dirty="0">
                <a:solidFill>
                  <a:srgbClr val="999999"/>
                </a:solidFill>
                <a:effectLst/>
                <a:latin typeface="Pontano Sans"/>
                <a:hlinkClick r:id="rId7"/>
              </a:rPr>
              <a:t>find</a:t>
            </a:r>
            <a:r>
              <a:rPr lang="en-US" sz="2800" b="0" i="0" dirty="0">
                <a:solidFill>
                  <a:srgbClr val="000000"/>
                </a:solidFill>
                <a:effectLst/>
                <a:latin typeface="Pontano Sans"/>
              </a:rPr>
              <a:t> , </a:t>
            </a:r>
            <a:r>
              <a:rPr lang="en-US" sz="2800" b="0" i="0" u="none" strike="noStrike" dirty="0">
                <a:solidFill>
                  <a:srgbClr val="999999"/>
                </a:solidFill>
                <a:effectLst/>
                <a:latin typeface="Pontano Sans"/>
                <a:hlinkClick r:id="rId8"/>
              </a:rPr>
              <a:t>grep</a:t>
            </a:r>
            <a:endParaRPr lang="en-US" sz="2800" b="0" i="0" dirty="0">
              <a:solidFill>
                <a:srgbClr val="000000"/>
              </a:solidFill>
              <a:effectLst/>
              <a:latin typeface="Pontano Sans"/>
            </a:endParaRPr>
          </a:p>
        </p:txBody>
      </p:sp>
      <p:sp>
        <p:nvSpPr>
          <p:cNvPr id="6" name="TextBox 5">
            <a:extLst>
              <a:ext uri="{FF2B5EF4-FFF2-40B4-BE49-F238E27FC236}">
                <a16:creationId xmlns:a16="http://schemas.microsoft.com/office/drawing/2014/main" id="{C6816A8B-C1F5-69E9-5897-AA375D642461}"/>
              </a:ext>
            </a:extLst>
          </p:cNvPr>
          <p:cNvSpPr txBox="1"/>
          <p:nvPr/>
        </p:nvSpPr>
        <p:spPr>
          <a:xfrm>
            <a:off x="176979" y="5131762"/>
            <a:ext cx="11759381" cy="830997"/>
          </a:xfrm>
          <a:prstGeom prst="rect">
            <a:avLst/>
          </a:prstGeom>
          <a:noFill/>
        </p:spPr>
        <p:txBody>
          <a:bodyPr wrap="square">
            <a:spAutoFit/>
          </a:bodyPr>
          <a:lstStyle/>
          <a:p>
            <a:r>
              <a:rPr lang="en-US" sz="2400" b="0" i="0" dirty="0">
                <a:solidFill>
                  <a:srgbClr val="242424"/>
                </a:solidFill>
                <a:effectLst/>
                <a:latin typeface="source-serif-pro"/>
              </a:rPr>
              <a:t>To locate a file meeting the specified criteria (owned by user “bandit7,” owned by group “bandit6,” and 33 bytes in size), the following “find” command was employed:</a:t>
            </a:r>
            <a:endParaRPr lang="ar-EG" sz="2400" dirty="0"/>
          </a:p>
        </p:txBody>
      </p:sp>
    </p:spTree>
    <p:extLst>
      <p:ext uri="{BB962C8B-B14F-4D97-AF65-F5344CB8AC3E}">
        <p14:creationId xmlns:p14="http://schemas.microsoft.com/office/powerpoint/2010/main" val="32714923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0C8E0BD-5322-B547-99D3-A958CEED6E30}"/>
              </a:ext>
            </a:extLst>
          </p:cNvPr>
          <p:cNvSpPr txBox="1"/>
          <p:nvPr/>
        </p:nvSpPr>
        <p:spPr>
          <a:xfrm>
            <a:off x="393289" y="411710"/>
            <a:ext cx="11592233" cy="707886"/>
          </a:xfrm>
          <a:prstGeom prst="rect">
            <a:avLst/>
          </a:prstGeom>
          <a:noFill/>
        </p:spPr>
        <p:txBody>
          <a:bodyPr wrap="square">
            <a:spAutoFit/>
          </a:bodyPr>
          <a:lstStyle/>
          <a:p>
            <a:pPr algn="l"/>
            <a:r>
              <a:rPr lang="en-US" sz="2000" b="0" i="0" dirty="0">
                <a:effectLst/>
                <a:latin typeface="Raleway" pitchFamily="2" charset="0"/>
              </a:rPr>
              <a:t>For this part I used the find command below to find a file owned by user bandit7, owned by group bandit6 and 33 bytes of size.</a:t>
            </a:r>
          </a:p>
        </p:txBody>
      </p:sp>
      <p:sp>
        <p:nvSpPr>
          <p:cNvPr id="9" name="TextBox 8">
            <a:extLst>
              <a:ext uri="{FF2B5EF4-FFF2-40B4-BE49-F238E27FC236}">
                <a16:creationId xmlns:a16="http://schemas.microsoft.com/office/drawing/2014/main" id="{2B5D2B2F-8694-18D7-97AE-C3EFD298AD14}"/>
              </a:ext>
            </a:extLst>
          </p:cNvPr>
          <p:cNvSpPr txBox="1"/>
          <p:nvPr/>
        </p:nvSpPr>
        <p:spPr>
          <a:xfrm>
            <a:off x="393289" y="1445793"/>
            <a:ext cx="9409472" cy="400110"/>
          </a:xfrm>
          <a:prstGeom prst="rect">
            <a:avLst/>
          </a:prstGeom>
          <a:noFill/>
        </p:spPr>
        <p:txBody>
          <a:bodyPr wrap="square">
            <a:spAutoFit/>
          </a:bodyPr>
          <a:lstStyle/>
          <a:p>
            <a:pPr algn="l"/>
            <a:r>
              <a:rPr lang="en-US" sz="2000" b="1" i="1" dirty="0">
                <a:solidFill>
                  <a:srgbClr val="000000"/>
                </a:solidFill>
                <a:effectLst/>
                <a:latin typeface="Raleway" pitchFamily="2" charset="0"/>
              </a:rPr>
              <a:t>find / -user bandit7 -group bandit6 -size 33c 2&gt;/dev/null</a:t>
            </a:r>
            <a:endParaRPr lang="ar-EG" sz="2000" b="1" dirty="0"/>
          </a:p>
        </p:txBody>
      </p:sp>
      <p:sp>
        <p:nvSpPr>
          <p:cNvPr id="11" name="TextBox 10">
            <a:extLst>
              <a:ext uri="{FF2B5EF4-FFF2-40B4-BE49-F238E27FC236}">
                <a16:creationId xmlns:a16="http://schemas.microsoft.com/office/drawing/2014/main" id="{30FB5CE6-7661-3A52-E21D-E7F7C4D97E37}"/>
              </a:ext>
            </a:extLst>
          </p:cNvPr>
          <p:cNvSpPr txBox="1"/>
          <p:nvPr/>
        </p:nvSpPr>
        <p:spPr>
          <a:xfrm>
            <a:off x="462115" y="2301200"/>
            <a:ext cx="11228440" cy="2215991"/>
          </a:xfrm>
          <a:prstGeom prst="rect">
            <a:avLst/>
          </a:prstGeom>
          <a:noFill/>
        </p:spPr>
        <p:txBody>
          <a:bodyPr wrap="square">
            <a:spAutoFit/>
          </a:bodyPr>
          <a:lstStyle/>
          <a:p>
            <a:pPr algn="l"/>
            <a:r>
              <a:rPr lang="en-US" b="1" i="1" dirty="0">
                <a:solidFill>
                  <a:srgbClr val="FF0000"/>
                </a:solidFill>
                <a:effectLst/>
                <a:latin typeface="Raleway" pitchFamily="2" charset="0"/>
              </a:rPr>
              <a:t>Explain:</a:t>
            </a:r>
          </a:p>
          <a:p>
            <a:pPr algn="l"/>
            <a:r>
              <a:rPr lang="en-US" sz="2400" b="0" i="1" dirty="0">
                <a:solidFill>
                  <a:srgbClr val="FF0000"/>
                </a:solidFill>
                <a:effectLst/>
                <a:latin typeface="Raleway" pitchFamily="2" charset="0"/>
              </a:rPr>
              <a:t>/</a:t>
            </a:r>
            <a:r>
              <a:rPr lang="en-US" sz="2400" b="0" i="1" dirty="0">
                <a:solidFill>
                  <a:srgbClr val="000000"/>
                </a:solidFill>
                <a:effectLst/>
                <a:latin typeface="Raleway" pitchFamily="2" charset="0"/>
              </a:rPr>
              <a:t> from root folder</a:t>
            </a:r>
            <a:endParaRPr lang="en-US" sz="2400" b="0" i="0" dirty="0">
              <a:solidFill>
                <a:srgbClr val="000000"/>
              </a:solidFill>
              <a:effectLst/>
              <a:latin typeface="Raleway" pitchFamily="2" charset="0"/>
            </a:endParaRPr>
          </a:p>
          <a:p>
            <a:pPr algn="l"/>
            <a:r>
              <a:rPr lang="en-US" sz="2400" b="0" i="1" dirty="0">
                <a:solidFill>
                  <a:srgbClr val="FF0000"/>
                </a:solidFill>
                <a:effectLst/>
                <a:latin typeface="Raleway" pitchFamily="2" charset="0"/>
              </a:rPr>
              <a:t>-user </a:t>
            </a:r>
            <a:r>
              <a:rPr lang="en-US" sz="2400" b="0" i="1" dirty="0">
                <a:solidFill>
                  <a:srgbClr val="000000"/>
                </a:solidFill>
                <a:effectLst/>
                <a:latin typeface="Raleway" pitchFamily="2" charset="0"/>
              </a:rPr>
              <a:t>the owner of the file.</a:t>
            </a:r>
            <a:endParaRPr lang="en-US" sz="2400" b="0" i="0" dirty="0">
              <a:solidFill>
                <a:srgbClr val="000000"/>
              </a:solidFill>
              <a:effectLst/>
              <a:latin typeface="Raleway" pitchFamily="2" charset="0"/>
            </a:endParaRPr>
          </a:p>
          <a:p>
            <a:pPr algn="l"/>
            <a:r>
              <a:rPr lang="en-US" sz="2400" b="0" i="1" dirty="0">
                <a:solidFill>
                  <a:srgbClr val="FF0000"/>
                </a:solidFill>
                <a:effectLst/>
                <a:latin typeface="Raleway" pitchFamily="2" charset="0"/>
              </a:rPr>
              <a:t>-group </a:t>
            </a:r>
            <a:r>
              <a:rPr lang="en-US" sz="2400" b="0" i="1" dirty="0">
                <a:solidFill>
                  <a:srgbClr val="000000"/>
                </a:solidFill>
                <a:effectLst/>
                <a:latin typeface="Raleway" pitchFamily="2" charset="0"/>
              </a:rPr>
              <a:t>the group owner of the file.</a:t>
            </a:r>
            <a:endParaRPr lang="en-US" sz="2400" b="0" i="0" dirty="0">
              <a:solidFill>
                <a:srgbClr val="000000"/>
              </a:solidFill>
              <a:effectLst/>
              <a:latin typeface="Raleway" pitchFamily="2" charset="0"/>
            </a:endParaRPr>
          </a:p>
          <a:p>
            <a:pPr algn="l"/>
            <a:r>
              <a:rPr lang="en-US" sz="2400" b="0" i="1" dirty="0">
                <a:solidFill>
                  <a:srgbClr val="FF0000"/>
                </a:solidFill>
                <a:effectLst/>
                <a:latin typeface="Raleway" pitchFamily="2" charset="0"/>
              </a:rPr>
              <a:t>-size </a:t>
            </a:r>
            <a:r>
              <a:rPr lang="en-US" sz="2400" b="0" i="1" dirty="0">
                <a:solidFill>
                  <a:srgbClr val="000000"/>
                </a:solidFill>
                <a:effectLst/>
                <a:latin typeface="Raleway" pitchFamily="2" charset="0"/>
              </a:rPr>
              <a:t>the size of the file.</a:t>
            </a:r>
            <a:endParaRPr lang="en-US" sz="2400" b="0" i="0" dirty="0">
              <a:solidFill>
                <a:srgbClr val="000000"/>
              </a:solidFill>
              <a:effectLst/>
              <a:latin typeface="Raleway" pitchFamily="2" charset="0"/>
            </a:endParaRPr>
          </a:p>
          <a:p>
            <a:pPr algn="l"/>
            <a:r>
              <a:rPr lang="en-US" sz="2400" b="0" i="1" dirty="0">
                <a:solidFill>
                  <a:srgbClr val="FF0000"/>
                </a:solidFill>
                <a:effectLst/>
                <a:latin typeface="Raleway" pitchFamily="2" charset="0"/>
              </a:rPr>
              <a:t>2&gt;/dev/null </a:t>
            </a:r>
            <a:r>
              <a:rPr lang="en-US" sz="2400" b="0" i="1" dirty="0">
                <a:solidFill>
                  <a:srgbClr val="000000"/>
                </a:solidFill>
                <a:effectLst/>
                <a:latin typeface="Raleway" pitchFamily="2" charset="0"/>
              </a:rPr>
              <a:t>redirects error messages to null so that they do not show on </a:t>
            </a:r>
            <a:r>
              <a:rPr lang="en-US" sz="2400" b="0" i="1" dirty="0" err="1">
                <a:solidFill>
                  <a:srgbClr val="000000"/>
                </a:solidFill>
                <a:effectLst/>
                <a:latin typeface="Raleway" pitchFamily="2" charset="0"/>
              </a:rPr>
              <a:t>stdout</a:t>
            </a:r>
            <a:r>
              <a:rPr lang="en-US" sz="2400" b="0" i="1" dirty="0">
                <a:solidFill>
                  <a:srgbClr val="000000"/>
                </a:solidFill>
                <a:effectLst/>
                <a:latin typeface="Raleway" pitchFamily="2" charset="0"/>
              </a:rPr>
              <a:t>.</a:t>
            </a:r>
            <a:endParaRPr lang="en-US" sz="2400" b="0" i="0" dirty="0">
              <a:solidFill>
                <a:srgbClr val="000000"/>
              </a:solidFill>
              <a:effectLst/>
              <a:latin typeface="Raleway" pitchFamily="2" charset="0"/>
            </a:endParaRPr>
          </a:p>
        </p:txBody>
      </p:sp>
      <p:sp>
        <p:nvSpPr>
          <p:cNvPr id="13" name="TextBox 12">
            <a:extLst>
              <a:ext uri="{FF2B5EF4-FFF2-40B4-BE49-F238E27FC236}">
                <a16:creationId xmlns:a16="http://schemas.microsoft.com/office/drawing/2014/main" id="{E4F4C554-1D40-048B-77B9-1C2F7FF354E5}"/>
              </a:ext>
            </a:extLst>
          </p:cNvPr>
          <p:cNvSpPr txBox="1"/>
          <p:nvPr/>
        </p:nvSpPr>
        <p:spPr>
          <a:xfrm>
            <a:off x="422785" y="4649322"/>
            <a:ext cx="11267770" cy="646331"/>
          </a:xfrm>
          <a:prstGeom prst="rect">
            <a:avLst/>
          </a:prstGeom>
          <a:noFill/>
        </p:spPr>
        <p:txBody>
          <a:bodyPr wrap="square">
            <a:spAutoFit/>
          </a:bodyPr>
          <a:lstStyle/>
          <a:p>
            <a:r>
              <a:rPr lang="en-US" i="0" dirty="0">
                <a:solidFill>
                  <a:srgbClr val="000000"/>
                </a:solidFill>
                <a:effectLst/>
                <a:latin typeface="Raleway" pitchFamily="2" charset="0"/>
              </a:rPr>
              <a:t>With that command we found the file in the following directory: </a:t>
            </a:r>
            <a:r>
              <a:rPr lang="en-US" i="0" dirty="0">
                <a:solidFill>
                  <a:srgbClr val="FF0000"/>
                </a:solidFill>
                <a:effectLst/>
                <a:latin typeface="Raleway" pitchFamily="2" charset="0"/>
              </a:rPr>
              <a:t>/var/lib/</a:t>
            </a:r>
            <a:r>
              <a:rPr lang="en-US" i="0" dirty="0" err="1">
                <a:solidFill>
                  <a:srgbClr val="FF0000"/>
                </a:solidFill>
                <a:effectLst/>
                <a:latin typeface="Raleway" pitchFamily="2" charset="0"/>
              </a:rPr>
              <a:t>dpkg</a:t>
            </a:r>
            <a:r>
              <a:rPr lang="en-US" i="0" dirty="0">
                <a:solidFill>
                  <a:srgbClr val="FF0000"/>
                </a:solidFill>
                <a:effectLst/>
                <a:latin typeface="Raleway" pitchFamily="2" charset="0"/>
              </a:rPr>
              <a:t>/info/bandit7.password</a:t>
            </a:r>
            <a:r>
              <a:rPr lang="en-US" i="0" dirty="0">
                <a:solidFill>
                  <a:srgbClr val="000000"/>
                </a:solidFill>
                <a:effectLst/>
                <a:latin typeface="Raleway" pitchFamily="2" charset="0"/>
              </a:rPr>
              <a:t>. When I read the file, I found that the password is</a:t>
            </a:r>
            <a:endParaRPr lang="ar-EG" dirty="0"/>
          </a:p>
        </p:txBody>
      </p:sp>
      <p:sp>
        <p:nvSpPr>
          <p:cNvPr id="15" name="TextBox 14">
            <a:extLst>
              <a:ext uri="{FF2B5EF4-FFF2-40B4-BE49-F238E27FC236}">
                <a16:creationId xmlns:a16="http://schemas.microsoft.com/office/drawing/2014/main" id="{C90C37A5-CB1E-1864-BCEA-5F017EEEF93B}"/>
              </a:ext>
            </a:extLst>
          </p:cNvPr>
          <p:cNvSpPr txBox="1"/>
          <p:nvPr/>
        </p:nvSpPr>
        <p:spPr>
          <a:xfrm>
            <a:off x="462115" y="5514129"/>
            <a:ext cx="6096000" cy="707886"/>
          </a:xfrm>
          <a:prstGeom prst="rect">
            <a:avLst/>
          </a:prstGeom>
          <a:noFill/>
        </p:spPr>
        <p:txBody>
          <a:bodyPr wrap="square">
            <a:spAutoFit/>
          </a:bodyPr>
          <a:lstStyle/>
          <a:p>
            <a:r>
              <a:rPr lang="en-US" sz="2000" dirty="0"/>
              <a:t>Username: </a:t>
            </a:r>
            <a:r>
              <a:rPr lang="en-US" sz="2000" dirty="0">
                <a:solidFill>
                  <a:srgbClr val="FF0000"/>
                </a:solidFill>
              </a:rPr>
              <a:t>bandit7</a:t>
            </a:r>
            <a:endParaRPr lang="ar-EG" sz="2000" dirty="0">
              <a:solidFill>
                <a:srgbClr val="FF0000"/>
              </a:solidFill>
            </a:endParaRPr>
          </a:p>
          <a:p>
            <a:r>
              <a:rPr lang="en-US" sz="2000" dirty="0"/>
              <a:t>Password : </a:t>
            </a:r>
            <a:r>
              <a:rPr lang="ar-EG" sz="2000" dirty="0">
                <a:solidFill>
                  <a:srgbClr val="FF0000"/>
                </a:solidFill>
              </a:rPr>
              <a:t>z7WtoNQU2XfjmMtWA8u5rN4vzqu4v99S</a:t>
            </a:r>
          </a:p>
        </p:txBody>
      </p:sp>
    </p:spTree>
    <p:extLst>
      <p:ext uri="{BB962C8B-B14F-4D97-AF65-F5344CB8AC3E}">
        <p14:creationId xmlns:p14="http://schemas.microsoft.com/office/powerpoint/2010/main" val="12858393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21EACF6-9D49-84F6-CC4F-93E01ECB32A7}"/>
              </a:ext>
            </a:extLst>
          </p:cNvPr>
          <p:cNvPicPr>
            <a:picLocks noChangeAspect="1"/>
          </p:cNvPicPr>
          <p:nvPr/>
        </p:nvPicPr>
        <p:blipFill>
          <a:blip r:embed="rId2"/>
          <a:stretch>
            <a:fillRect/>
          </a:stretch>
        </p:blipFill>
        <p:spPr>
          <a:xfrm>
            <a:off x="400053" y="475392"/>
            <a:ext cx="11392100" cy="2002338"/>
          </a:xfrm>
          <a:prstGeom prst="rect">
            <a:avLst/>
          </a:prstGeom>
        </p:spPr>
      </p:pic>
      <p:sp>
        <p:nvSpPr>
          <p:cNvPr id="2" name="TextBox 1">
            <a:extLst>
              <a:ext uri="{FF2B5EF4-FFF2-40B4-BE49-F238E27FC236}">
                <a16:creationId xmlns:a16="http://schemas.microsoft.com/office/drawing/2014/main" id="{CE6DA32D-A503-A9E2-DCE3-D2FEAE92B4F3}"/>
              </a:ext>
            </a:extLst>
          </p:cNvPr>
          <p:cNvSpPr txBox="1"/>
          <p:nvPr/>
        </p:nvSpPr>
        <p:spPr>
          <a:xfrm>
            <a:off x="609600" y="3038168"/>
            <a:ext cx="461986" cy="369332"/>
          </a:xfrm>
          <a:prstGeom prst="rect">
            <a:avLst/>
          </a:prstGeom>
          <a:noFill/>
        </p:spPr>
        <p:txBody>
          <a:bodyPr wrap="none" rtlCol="1">
            <a:spAutoFit/>
          </a:bodyPr>
          <a:lstStyle/>
          <a:p>
            <a:r>
              <a:rPr lang="en-US" dirty="0"/>
              <a:t>OR</a:t>
            </a:r>
            <a:endParaRPr lang="ar-EG" dirty="0"/>
          </a:p>
        </p:txBody>
      </p:sp>
      <p:pic>
        <p:nvPicPr>
          <p:cNvPr id="3" name="Picture 2">
            <a:extLst>
              <a:ext uri="{FF2B5EF4-FFF2-40B4-BE49-F238E27FC236}">
                <a16:creationId xmlns:a16="http://schemas.microsoft.com/office/drawing/2014/main" id="{2D15B861-E09A-0A1D-8D16-74842721DF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0053" y="3672970"/>
            <a:ext cx="11392100" cy="1847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49974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26FA168-9746-F42F-17A6-C8638A63B089}"/>
              </a:ext>
            </a:extLst>
          </p:cNvPr>
          <p:cNvSpPr txBox="1"/>
          <p:nvPr/>
        </p:nvSpPr>
        <p:spPr>
          <a:xfrm>
            <a:off x="186813" y="452735"/>
            <a:ext cx="6096000" cy="461665"/>
          </a:xfrm>
          <a:prstGeom prst="rect">
            <a:avLst/>
          </a:prstGeom>
          <a:noFill/>
        </p:spPr>
        <p:txBody>
          <a:bodyPr wrap="square">
            <a:spAutoFit/>
          </a:bodyPr>
          <a:lstStyle/>
          <a:p>
            <a:pPr algn="l"/>
            <a:r>
              <a:rPr lang="en-US" sz="2400" b="1" i="0" dirty="0">
                <a:solidFill>
                  <a:srgbClr val="FF0000"/>
                </a:solidFill>
                <a:effectLst/>
                <a:latin typeface="sohne"/>
              </a:rPr>
              <a:t>Bandit Level 7 → Level 8</a:t>
            </a:r>
          </a:p>
        </p:txBody>
      </p:sp>
      <p:sp>
        <p:nvSpPr>
          <p:cNvPr id="3" name="TextBox 2">
            <a:extLst>
              <a:ext uri="{FF2B5EF4-FFF2-40B4-BE49-F238E27FC236}">
                <a16:creationId xmlns:a16="http://schemas.microsoft.com/office/drawing/2014/main" id="{2CEA8453-736D-A9A0-AD1F-B4D1C0AD66C4}"/>
              </a:ext>
            </a:extLst>
          </p:cNvPr>
          <p:cNvSpPr txBox="1"/>
          <p:nvPr/>
        </p:nvSpPr>
        <p:spPr>
          <a:xfrm>
            <a:off x="363794" y="1297462"/>
            <a:ext cx="11444748" cy="1200329"/>
          </a:xfrm>
          <a:prstGeom prst="rect">
            <a:avLst/>
          </a:prstGeom>
          <a:noFill/>
        </p:spPr>
        <p:txBody>
          <a:bodyPr wrap="square">
            <a:spAutoFit/>
          </a:bodyPr>
          <a:lstStyle/>
          <a:p>
            <a:pPr algn="l"/>
            <a:r>
              <a:rPr lang="en-US" sz="2400" b="0" i="0" dirty="0">
                <a:solidFill>
                  <a:srgbClr val="000000"/>
                </a:solidFill>
                <a:effectLst/>
                <a:latin typeface="Pontano Sans"/>
              </a:rPr>
              <a:t>The password for the next level is stored in the file </a:t>
            </a:r>
            <a:r>
              <a:rPr lang="en-US" sz="2400" b="1" i="0" dirty="0">
                <a:solidFill>
                  <a:srgbClr val="000000"/>
                </a:solidFill>
                <a:effectLst/>
                <a:latin typeface="Pontano Sans"/>
              </a:rPr>
              <a:t>data.txt</a:t>
            </a:r>
            <a:r>
              <a:rPr lang="en-US" sz="2400" b="0" i="0" dirty="0">
                <a:solidFill>
                  <a:srgbClr val="000000"/>
                </a:solidFill>
                <a:effectLst/>
                <a:latin typeface="Pontano Sans"/>
              </a:rPr>
              <a:t> next to the word </a:t>
            </a:r>
            <a:r>
              <a:rPr lang="en-US" sz="2400" b="1" i="0" dirty="0">
                <a:solidFill>
                  <a:srgbClr val="000000"/>
                </a:solidFill>
                <a:effectLst/>
                <a:latin typeface="Pontano Sans"/>
              </a:rPr>
              <a:t>millionth</a:t>
            </a:r>
            <a:endParaRPr lang="en-US" sz="2400" b="0" i="0" dirty="0">
              <a:solidFill>
                <a:srgbClr val="000000"/>
              </a:solidFill>
              <a:effectLst/>
              <a:latin typeface="Pontano Sans"/>
            </a:endParaRPr>
          </a:p>
          <a:p>
            <a:pPr algn="l"/>
            <a:r>
              <a:rPr lang="en-US" sz="2400" b="0" i="0" dirty="0">
                <a:solidFill>
                  <a:srgbClr val="FF0000"/>
                </a:solidFill>
                <a:effectLst/>
                <a:latin typeface="Pontano Sans"/>
              </a:rPr>
              <a:t>Commands you may need to solve this level</a:t>
            </a:r>
          </a:p>
          <a:p>
            <a:pPr algn="l"/>
            <a:r>
              <a:rPr lang="en-US" sz="2400" b="0" i="0" u="none" strike="noStrike" dirty="0">
                <a:solidFill>
                  <a:srgbClr val="999999"/>
                </a:solidFill>
                <a:effectLst/>
                <a:latin typeface="Pontano Sans"/>
                <a:hlinkClick r:id="rId2"/>
              </a:rPr>
              <a:t>man</a:t>
            </a:r>
            <a:r>
              <a:rPr lang="en-US" sz="2400" b="0" i="0" dirty="0">
                <a:solidFill>
                  <a:srgbClr val="000000"/>
                </a:solidFill>
                <a:effectLst/>
                <a:latin typeface="Pontano Sans"/>
              </a:rPr>
              <a:t>, grep, sort, </a:t>
            </a:r>
            <a:r>
              <a:rPr lang="en-US" sz="2400" b="0" i="0" dirty="0" err="1">
                <a:solidFill>
                  <a:srgbClr val="000000"/>
                </a:solidFill>
                <a:effectLst/>
                <a:latin typeface="Pontano Sans"/>
              </a:rPr>
              <a:t>uniq</a:t>
            </a:r>
            <a:r>
              <a:rPr lang="en-US" sz="2400" b="0" i="0" dirty="0">
                <a:solidFill>
                  <a:srgbClr val="000000"/>
                </a:solidFill>
                <a:effectLst/>
                <a:latin typeface="Pontano Sans"/>
              </a:rPr>
              <a:t>, strings, base64, tr, tar, </a:t>
            </a:r>
            <a:r>
              <a:rPr lang="en-US" sz="2400" b="0" i="0" dirty="0" err="1">
                <a:solidFill>
                  <a:srgbClr val="000000"/>
                </a:solidFill>
                <a:effectLst/>
                <a:latin typeface="Pontano Sans"/>
              </a:rPr>
              <a:t>gzip</a:t>
            </a:r>
            <a:r>
              <a:rPr lang="en-US" sz="2400" b="0" i="0" dirty="0">
                <a:solidFill>
                  <a:srgbClr val="000000"/>
                </a:solidFill>
                <a:effectLst/>
                <a:latin typeface="Pontano Sans"/>
              </a:rPr>
              <a:t>, bzip2, </a:t>
            </a:r>
            <a:r>
              <a:rPr lang="en-US" sz="2400" b="0" i="0" dirty="0" err="1">
                <a:solidFill>
                  <a:srgbClr val="000000"/>
                </a:solidFill>
                <a:effectLst/>
                <a:latin typeface="Pontano Sans"/>
              </a:rPr>
              <a:t>xxd</a:t>
            </a:r>
            <a:endParaRPr lang="en-US" sz="2400" b="0" i="0" dirty="0">
              <a:solidFill>
                <a:srgbClr val="000000"/>
              </a:solidFill>
              <a:effectLst/>
              <a:latin typeface="Pontano Sans"/>
            </a:endParaRPr>
          </a:p>
        </p:txBody>
      </p:sp>
      <p:sp>
        <p:nvSpPr>
          <p:cNvPr id="5" name="Rectangle 1">
            <a:extLst>
              <a:ext uri="{FF2B5EF4-FFF2-40B4-BE49-F238E27FC236}">
                <a16:creationId xmlns:a16="http://schemas.microsoft.com/office/drawing/2014/main" id="{9700BAC9-10C1-E9E1-1041-EC4C09228176}"/>
              </a:ext>
            </a:extLst>
          </p:cNvPr>
          <p:cNvSpPr>
            <a:spLocks noChangeArrowheads="1"/>
          </p:cNvSpPr>
          <p:nvPr/>
        </p:nvSpPr>
        <p:spPr bwMode="auto">
          <a:xfrm>
            <a:off x="265471" y="2880853"/>
            <a:ext cx="11543071" cy="280269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ar-EG" altLang="ar-EG" sz="2400" b="0" i="0" u="none" strike="noStrike" cap="none" normalizeH="0" baseline="0" dirty="0">
                <a:ln>
                  <a:noFill/>
                </a:ln>
                <a:solidFill>
                  <a:srgbClr val="242424"/>
                </a:solidFill>
                <a:effectLst/>
                <a:latin typeface="source-serif-pro"/>
              </a:rPr>
              <a:t>The password for the </a:t>
            </a:r>
            <a:r>
              <a:rPr kumimoji="0" lang="ar-EG" altLang="ar-EG" sz="2400" b="0" i="0" u="none" strike="noStrike" cap="none" normalizeH="0" baseline="0" dirty="0" err="1">
                <a:ln>
                  <a:noFill/>
                </a:ln>
                <a:solidFill>
                  <a:srgbClr val="242424"/>
                </a:solidFill>
                <a:effectLst/>
                <a:latin typeface="source-serif-pro"/>
              </a:rPr>
              <a:t>next</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level</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is</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located</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in</a:t>
            </a:r>
            <a:r>
              <a:rPr kumimoji="0" lang="ar-EG" altLang="ar-EG" sz="2400" b="0" i="0" u="none" strike="noStrike" cap="none" normalizeH="0" baseline="0" dirty="0">
                <a:ln>
                  <a:noFill/>
                </a:ln>
                <a:solidFill>
                  <a:srgbClr val="242424"/>
                </a:solidFill>
                <a:effectLst/>
                <a:latin typeface="source-serif-pro"/>
              </a:rPr>
              <a:t> the</a:t>
            </a:r>
            <a:r>
              <a:rPr kumimoji="0" lang="ar-EG" altLang="ar-EG" sz="2400" b="1" i="0" u="none" strike="noStrike" cap="none" normalizeH="0" baseline="0" dirty="0">
                <a:ln>
                  <a:noFill/>
                </a:ln>
                <a:solidFill>
                  <a:srgbClr val="242424"/>
                </a:solidFill>
                <a:effectLst/>
                <a:latin typeface="source-serif-pro"/>
              </a:rPr>
              <a:t> “data.txt”</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file</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next</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to</a:t>
            </a:r>
            <a:r>
              <a:rPr kumimoji="0" lang="ar-EG" altLang="ar-EG" sz="2400" b="0" i="0" u="none" strike="noStrike" cap="none" normalizeH="0" baseline="0" dirty="0">
                <a:ln>
                  <a:noFill/>
                </a:ln>
                <a:solidFill>
                  <a:srgbClr val="242424"/>
                </a:solidFill>
                <a:effectLst/>
                <a:latin typeface="source-serif-pro"/>
              </a:rPr>
              <a:t> the </a:t>
            </a:r>
            <a:r>
              <a:rPr kumimoji="0" lang="ar-EG" altLang="ar-EG" sz="2400" b="0" i="0" u="none" strike="noStrike" cap="none" normalizeH="0" baseline="0" dirty="0" err="1">
                <a:ln>
                  <a:noFill/>
                </a:ln>
                <a:solidFill>
                  <a:srgbClr val="242424"/>
                </a:solidFill>
                <a:effectLst/>
                <a:latin typeface="source-serif-pro"/>
              </a:rPr>
              <a:t>word</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millionth</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Although</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attempting</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to</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manually</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read</a:t>
            </a:r>
            <a:r>
              <a:rPr kumimoji="0" lang="ar-EG" altLang="ar-EG" sz="2400" b="0" i="0" u="none" strike="noStrike" cap="none" normalizeH="0" baseline="0" dirty="0">
                <a:ln>
                  <a:noFill/>
                </a:ln>
                <a:solidFill>
                  <a:srgbClr val="242424"/>
                </a:solidFill>
                <a:effectLst/>
                <a:latin typeface="source-serif-pro"/>
              </a:rPr>
              <a:t> the </a:t>
            </a:r>
            <a:r>
              <a:rPr kumimoji="0" lang="ar-EG" altLang="ar-EG" sz="2400" b="0" i="0" u="none" strike="noStrike" cap="none" normalizeH="0" baseline="0" dirty="0" err="1">
                <a:ln>
                  <a:noFill/>
                </a:ln>
                <a:solidFill>
                  <a:srgbClr val="242424"/>
                </a:solidFill>
                <a:effectLst/>
                <a:latin typeface="source-serif-pro"/>
              </a:rPr>
              <a:t>contents</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of</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this</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file</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is</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impractical</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due</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to</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its</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size</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an</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alternative</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command</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called</a:t>
            </a:r>
            <a:r>
              <a:rPr kumimoji="0" lang="ar-EG" altLang="ar-EG" sz="2400" b="0" i="0" u="none" strike="noStrike" cap="none" normalizeH="0" baseline="0" dirty="0">
                <a:ln>
                  <a:noFill/>
                </a:ln>
                <a:solidFill>
                  <a:srgbClr val="242424"/>
                </a:solidFill>
                <a:effectLst/>
                <a:latin typeface="source-serif-pro"/>
              </a:rPr>
              <a:t> </a:t>
            </a:r>
            <a:r>
              <a:rPr kumimoji="0" lang="ar-EG" altLang="ar-EG" sz="2400" b="1" i="0" u="none" strike="noStrike" cap="none" normalizeH="0" baseline="0" dirty="0">
                <a:ln>
                  <a:noFill/>
                </a:ln>
                <a:solidFill>
                  <a:srgbClr val="242424"/>
                </a:solidFill>
                <a:effectLst/>
                <a:latin typeface="source-serif-pro"/>
              </a:rPr>
              <a:t>“</a:t>
            </a:r>
            <a:r>
              <a:rPr kumimoji="0" lang="ar-EG" altLang="ar-EG" sz="2400" b="1" i="0" u="none" strike="noStrike" cap="none" normalizeH="0" baseline="0" dirty="0" err="1">
                <a:ln>
                  <a:noFill/>
                </a:ln>
                <a:solidFill>
                  <a:srgbClr val="242424"/>
                </a:solidFill>
                <a:effectLst/>
                <a:latin typeface="source-serif-pro"/>
              </a:rPr>
              <a:t>grep</a:t>
            </a:r>
            <a:r>
              <a:rPr kumimoji="0" lang="ar-EG" altLang="ar-EG" sz="2400" b="1" i="0" u="none" strike="noStrike" cap="none" normalizeH="0" baseline="0" dirty="0">
                <a:ln>
                  <a:noFill/>
                </a:ln>
                <a:solidFill>
                  <a:srgbClr val="242424"/>
                </a:solidFill>
                <a:effectLst/>
                <a:latin typeface="source-serif-pro"/>
              </a:rPr>
              <a:t>”</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is</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employed</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to</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identify</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and</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print</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all</a:t>
            </a:r>
            <a:r>
              <a:rPr kumimoji="0" lang="ar-EG" altLang="ar-EG" sz="2400" b="0" i="0" u="none" strike="noStrike" cap="none" normalizeH="0" baseline="0" dirty="0">
                <a:ln>
                  <a:noFill/>
                </a:ln>
                <a:solidFill>
                  <a:srgbClr val="242424"/>
                </a:solidFill>
                <a:effectLst/>
                <a:latin typeface="source-serif-pro"/>
              </a:rPr>
              <a:t> the lines </a:t>
            </a:r>
            <a:r>
              <a:rPr kumimoji="0" lang="ar-EG" altLang="ar-EG" sz="2400" b="0" i="0" u="none" strike="noStrike" cap="none" normalizeH="0" baseline="0" dirty="0" err="1">
                <a:ln>
                  <a:noFill/>
                </a:ln>
                <a:solidFill>
                  <a:srgbClr val="242424"/>
                </a:solidFill>
                <a:effectLst/>
                <a:latin typeface="source-serif-pro"/>
              </a:rPr>
              <a:t>within</a:t>
            </a:r>
            <a:r>
              <a:rPr kumimoji="0" lang="ar-EG" altLang="ar-EG" sz="2400" b="0" i="0" u="none" strike="noStrike" cap="none" normalizeH="0" baseline="0" dirty="0">
                <a:ln>
                  <a:noFill/>
                </a:ln>
                <a:solidFill>
                  <a:srgbClr val="242424"/>
                </a:solidFill>
                <a:effectLst/>
                <a:latin typeface="source-serif-pro"/>
              </a:rPr>
              <a:t> the “data.txt” </a:t>
            </a:r>
            <a:r>
              <a:rPr kumimoji="0" lang="ar-EG" altLang="ar-EG" sz="2400" b="0" i="0" u="none" strike="noStrike" cap="none" normalizeH="0" baseline="0" dirty="0" err="1">
                <a:ln>
                  <a:noFill/>
                </a:ln>
                <a:solidFill>
                  <a:srgbClr val="242424"/>
                </a:solidFill>
                <a:effectLst/>
                <a:latin typeface="source-serif-pro"/>
              </a:rPr>
              <a:t>file</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that</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include</a:t>
            </a:r>
            <a:r>
              <a:rPr kumimoji="0" lang="ar-EG" altLang="ar-EG" sz="2400" b="0" i="0" u="none" strike="noStrike" cap="none" normalizeH="0" baseline="0" dirty="0">
                <a:ln>
                  <a:noFill/>
                </a:ln>
                <a:solidFill>
                  <a:srgbClr val="242424"/>
                </a:solidFill>
                <a:effectLst/>
                <a:latin typeface="source-serif-pro"/>
              </a:rPr>
              <a:t> the </a:t>
            </a:r>
            <a:r>
              <a:rPr kumimoji="0" lang="ar-EG" altLang="ar-EG" sz="2400" b="0" i="0" u="none" strike="noStrike" cap="none" normalizeH="0" baseline="0" dirty="0" err="1">
                <a:ln>
                  <a:noFill/>
                </a:ln>
                <a:solidFill>
                  <a:srgbClr val="242424"/>
                </a:solidFill>
                <a:effectLst/>
                <a:latin typeface="source-serif-pro"/>
              </a:rPr>
              <a:t>word</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millionth</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Consequently</a:t>
            </a:r>
            <a:r>
              <a:rPr kumimoji="0" lang="ar-EG" altLang="ar-EG" sz="2400" b="0" i="0" u="none" strike="noStrike" cap="none" normalizeH="0" baseline="0" dirty="0">
                <a:ln>
                  <a:noFill/>
                </a:ln>
                <a:solidFill>
                  <a:srgbClr val="242424"/>
                </a:solidFill>
                <a:effectLst/>
                <a:latin typeface="source-serif-pro"/>
              </a:rPr>
              <a:t>, the password for bandit8 </a:t>
            </a:r>
            <a:r>
              <a:rPr kumimoji="0" lang="ar-EG" altLang="ar-EG" sz="2400" b="0" i="0" u="none" strike="noStrike" cap="none" normalizeH="0" baseline="0" dirty="0" err="1">
                <a:ln>
                  <a:noFill/>
                </a:ln>
                <a:solidFill>
                  <a:srgbClr val="242424"/>
                </a:solidFill>
                <a:effectLst/>
                <a:latin typeface="source-serif-pro"/>
              </a:rPr>
              <a:t>is</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now</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obtained</a:t>
            </a:r>
            <a:r>
              <a:rPr kumimoji="0" lang="ar-EG" altLang="ar-EG" sz="2400" b="0" i="0" u="none" strike="noStrike" cap="none" normalizeH="0" baseline="0" dirty="0">
                <a:ln>
                  <a:noFill/>
                </a:ln>
                <a:solidFill>
                  <a:srgbClr val="242424"/>
                </a:solidFill>
                <a:effectLst/>
                <a:latin typeface="source-serif-pro"/>
              </a:rPr>
              <a:t>.</a:t>
            </a:r>
            <a:endParaRPr kumimoji="0" lang="ar-EG" altLang="ar-EG" sz="11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3477985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E3D9928-5E39-1D87-752C-3871391A1E30}"/>
              </a:ext>
            </a:extLst>
          </p:cNvPr>
          <p:cNvSpPr txBox="1"/>
          <p:nvPr/>
        </p:nvSpPr>
        <p:spPr>
          <a:xfrm>
            <a:off x="383458" y="2212711"/>
            <a:ext cx="6096000" cy="523220"/>
          </a:xfrm>
          <a:prstGeom prst="rect">
            <a:avLst/>
          </a:prstGeom>
          <a:noFill/>
        </p:spPr>
        <p:txBody>
          <a:bodyPr wrap="square">
            <a:spAutoFit/>
          </a:bodyPr>
          <a:lstStyle/>
          <a:p>
            <a:pPr algn="l"/>
            <a:r>
              <a:rPr lang="en-US" sz="2800" b="0" i="1" dirty="0">
                <a:solidFill>
                  <a:srgbClr val="FF0000"/>
                </a:solidFill>
                <a:effectLst/>
                <a:latin typeface="Raleway" pitchFamily="2" charset="0"/>
              </a:rPr>
              <a:t>cat data.txt | grep millionth</a:t>
            </a:r>
            <a:endParaRPr lang="en-US" sz="2800" b="0" i="0" dirty="0">
              <a:solidFill>
                <a:srgbClr val="FF0000"/>
              </a:solidFill>
              <a:effectLst/>
              <a:latin typeface="Raleway" pitchFamily="2" charset="0"/>
            </a:endParaRPr>
          </a:p>
        </p:txBody>
      </p:sp>
      <p:sp>
        <p:nvSpPr>
          <p:cNvPr id="5" name="TextBox 4">
            <a:extLst>
              <a:ext uri="{FF2B5EF4-FFF2-40B4-BE49-F238E27FC236}">
                <a16:creationId xmlns:a16="http://schemas.microsoft.com/office/drawing/2014/main" id="{84FB6AD5-9179-2D35-AD2B-B28DFF14C24B}"/>
              </a:ext>
            </a:extLst>
          </p:cNvPr>
          <p:cNvSpPr txBox="1"/>
          <p:nvPr/>
        </p:nvSpPr>
        <p:spPr>
          <a:xfrm>
            <a:off x="383458" y="2890288"/>
            <a:ext cx="9950245" cy="369332"/>
          </a:xfrm>
          <a:prstGeom prst="rect">
            <a:avLst/>
          </a:prstGeom>
          <a:noFill/>
        </p:spPr>
        <p:txBody>
          <a:bodyPr wrap="square">
            <a:spAutoFit/>
          </a:bodyPr>
          <a:lstStyle/>
          <a:p>
            <a:pPr algn="l"/>
            <a:r>
              <a:rPr lang="en-US" b="1" i="0" dirty="0">
                <a:solidFill>
                  <a:srgbClr val="000000"/>
                </a:solidFill>
                <a:effectLst/>
                <a:latin typeface="Raleway" pitchFamily="2" charset="0"/>
              </a:rPr>
              <a:t>The command only return 1 line and it contained the password:</a:t>
            </a:r>
          </a:p>
        </p:txBody>
      </p:sp>
      <p:sp>
        <p:nvSpPr>
          <p:cNvPr id="7" name="TextBox 6">
            <a:extLst>
              <a:ext uri="{FF2B5EF4-FFF2-40B4-BE49-F238E27FC236}">
                <a16:creationId xmlns:a16="http://schemas.microsoft.com/office/drawing/2014/main" id="{A2DDEF40-0E78-7D67-50D9-CD5F8DC16AD1}"/>
              </a:ext>
            </a:extLst>
          </p:cNvPr>
          <p:cNvSpPr txBox="1"/>
          <p:nvPr/>
        </p:nvSpPr>
        <p:spPr>
          <a:xfrm>
            <a:off x="383458" y="329662"/>
            <a:ext cx="11425084" cy="1705660"/>
          </a:xfrm>
          <a:prstGeom prst="rect">
            <a:avLst/>
          </a:prstGeom>
          <a:noFill/>
        </p:spPr>
        <p:txBody>
          <a:bodyPr wrap="square">
            <a:spAutoFit/>
          </a:bodyPr>
          <a:lstStyle/>
          <a:p>
            <a:pPr algn="l">
              <a:lnSpc>
                <a:spcPct val="150000"/>
              </a:lnSpc>
            </a:pPr>
            <a:r>
              <a:rPr lang="en-US" b="0" i="0" dirty="0">
                <a:solidFill>
                  <a:srgbClr val="000000"/>
                </a:solidFill>
                <a:effectLst/>
                <a:latin typeface="Raleway" pitchFamily="2" charset="0"/>
              </a:rPr>
              <a:t>When I logged into the profile I saw the data.txt file and when I read it a bunch of lines came up and it looked like all of the lines had the same structure. It was a word followed by some spaces and then a possible password. The hint was that the password is next to the word millionth, so I used the command below to read the file and then </a:t>
            </a:r>
            <a:r>
              <a:rPr lang="en-US" b="0" i="0" dirty="0">
                <a:solidFill>
                  <a:srgbClr val="FF0000"/>
                </a:solidFill>
                <a:effectLst/>
                <a:latin typeface="Raleway" pitchFamily="2" charset="0"/>
              </a:rPr>
              <a:t>grep</a:t>
            </a:r>
            <a:r>
              <a:rPr lang="en-US" b="0" i="0" dirty="0">
                <a:solidFill>
                  <a:srgbClr val="000000"/>
                </a:solidFill>
                <a:effectLst/>
                <a:latin typeface="Raleway" pitchFamily="2" charset="0"/>
              </a:rPr>
              <a:t> the word millionth.</a:t>
            </a:r>
          </a:p>
        </p:txBody>
      </p:sp>
      <p:pic>
        <p:nvPicPr>
          <p:cNvPr id="9" name="Picture 8">
            <a:extLst>
              <a:ext uri="{FF2B5EF4-FFF2-40B4-BE49-F238E27FC236}">
                <a16:creationId xmlns:a16="http://schemas.microsoft.com/office/drawing/2014/main" id="{44458A44-7A2C-3FBE-7A15-3A1EEFBB881C}"/>
              </a:ext>
            </a:extLst>
          </p:cNvPr>
          <p:cNvPicPr>
            <a:picLocks noChangeAspect="1"/>
          </p:cNvPicPr>
          <p:nvPr/>
        </p:nvPicPr>
        <p:blipFill>
          <a:blip r:embed="rId2"/>
          <a:stretch>
            <a:fillRect/>
          </a:stretch>
        </p:blipFill>
        <p:spPr>
          <a:xfrm>
            <a:off x="383458" y="3259620"/>
            <a:ext cx="6184489" cy="3353091"/>
          </a:xfrm>
          <a:prstGeom prst="rect">
            <a:avLst/>
          </a:prstGeom>
        </p:spPr>
      </p:pic>
      <p:sp>
        <p:nvSpPr>
          <p:cNvPr id="11" name="TextBox 10">
            <a:extLst>
              <a:ext uri="{FF2B5EF4-FFF2-40B4-BE49-F238E27FC236}">
                <a16:creationId xmlns:a16="http://schemas.microsoft.com/office/drawing/2014/main" id="{9F841E26-9B0C-B810-C69F-E057075F4F1D}"/>
              </a:ext>
            </a:extLst>
          </p:cNvPr>
          <p:cNvSpPr txBox="1"/>
          <p:nvPr/>
        </p:nvSpPr>
        <p:spPr>
          <a:xfrm>
            <a:off x="6823587" y="5567205"/>
            <a:ext cx="5171768" cy="646331"/>
          </a:xfrm>
          <a:prstGeom prst="rect">
            <a:avLst/>
          </a:prstGeom>
          <a:noFill/>
        </p:spPr>
        <p:txBody>
          <a:bodyPr wrap="square">
            <a:spAutoFit/>
          </a:bodyPr>
          <a:lstStyle/>
          <a:p>
            <a:r>
              <a:rPr lang="en-US" dirty="0"/>
              <a:t>Username: </a:t>
            </a:r>
            <a:r>
              <a:rPr lang="en-US" dirty="0">
                <a:solidFill>
                  <a:srgbClr val="FF0000"/>
                </a:solidFill>
              </a:rPr>
              <a:t>bandit8</a:t>
            </a:r>
            <a:endParaRPr lang="ar-EG" dirty="0">
              <a:solidFill>
                <a:srgbClr val="FF0000"/>
              </a:solidFill>
            </a:endParaRPr>
          </a:p>
          <a:p>
            <a:r>
              <a:rPr lang="en-US" dirty="0"/>
              <a:t>Password : </a:t>
            </a:r>
            <a:r>
              <a:rPr lang="ar-EG" dirty="0">
                <a:solidFill>
                  <a:srgbClr val="FF0000"/>
                </a:solidFill>
              </a:rPr>
              <a:t>TESKZC0XvTetK0S9xNwm25STk5iWrBvP</a:t>
            </a:r>
          </a:p>
        </p:txBody>
      </p:sp>
    </p:spTree>
    <p:extLst>
      <p:ext uri="{BB962C8B-B14F-4D97-AF65-F5344CB8AC3E}">
        <p14:creationId xmlns:p14="http://schemas.microsoft.com/office/powerpoint/2010/main" val="26494558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D45C226-D477-07A0-EDF7-D9B7282B6CA3}"/>
              </a:ext>
            </a:extLst>
          </p:cNvPr>
          <p:cNvSpPr txBox="1"/>
          <p:nvPr/>
        </p:nvSpPr>
        <p:spPr>
          <a:xfrm>
            <a:off x="186813" y="452735"/>
            <a:ext cx="6096000" cy="461665"/>
          </a:xfrm>
          <a:prstGeom prst="rect">
            <a:avLst/>
          </a:prstGeom>
          <a:noFill/>
        </p:spPr>
        <p:txBody>
          <a:bodyPr wrap="square">
            <a:spAutoFit/>
          </a:bodyPr>
          <a:lstStyle/>
          <a:p>
            <a:pPr algn="l"/>
            <a:r>
              <a:rPr lang="en-US" sz="2400" b="1" i="0" dirty="0">
                <a:solidFill>
                  <a:srgbClr val="FF0000"/>
                </a:solidFill>
                <a:effectLst/>
                <a:latin typeface="sohne"/>
              </a:rPr>
              <a:t>Bandit Level 8 → Level 9</a:t>
            </a:r>
          </a:p>
        </p:txBody>
      </p:sp>
      <p:sp>
        <p:nvSpPr>
          <p:cNvPr id="7" name="TextBox 6">
            <a:extLst>
              <a:ext uri="{FF2B5EF4-FFF2-40B4-BE49-F238E27FC236}">
                <a16:creationId xmlns:a16="http://schemas.microsoft.com/office/drawing/2014/main" id="{C046853C-28E8-B0F8-6106-D9FB84D595C4}"/>
              </a:ext>
            </a:extLst>
          </p:cNvPr>
          <p:cNvSpPr txBox="1"/>
          <p:nvPr/>
        </p:nvSpPr>
        <p:spPr>
          <a:xfrm>
            <a:off x="186813" y="1149130"/>
            <a:ext cx="11346426" cy="2246769"/>
          </a:xfrm>
          <a:prstGeom prst="rect">
            <a:avLst/>
          </a:prstGeom>
          <a:noFill/>
        </p:spPr>
        <p:txBody>
          <a:bodyPr wrap="square">
            <a:spAutoFit/>
          </a:bodyPr>
          <a:lstStyle/>
          <a:p>
            <a:pPr algn="l"/>
            <a:r>
              <a:rPr lang="en-US" sz="2800" b="1" i="0" dirty="0">
                <a:solidFill>
                  <a:srgbClr val="FF0000"/>
                </a:solidFill>
                <a:effectLst/>
                <a:latin typeface="sohne"/>
              </a:rPr>
              <a:t>Level Goal</a:t>
            </a:r>
          </a:p>
          <a:p>
            <a:pPr algn="l"/>
            <a:r>
              <a:rPr lang="en-US" sz="2800" b="0" i="0" dirty="0">
                <a:solidFill>
                  <a:srgbClr val="242424"/>
                </a:solidFill>
                <a:effectLst/>
                <a:latin typeface="source-serif-pro"/>
              </a:rPr>
              <a:t>The password for the next level is stored in the file </a:t>
            </a:r>
            <a:r>
              <a:rPr lang="en-US" sz="2800" b="1" i="0" dirty="0">
                <a:solidFill>
                  <a:srgbClr val="242424"/>
                </a:solidFill>
                <a:effectLst/>
                <a:latin typeface="source-serif-pro"/>
              </a:rPr>
              <a:t>data.txt</a:t>
            </a:r>
            <a:r>
              <a:rPr lang="en-US" sz="2800" b="0" i="0" dirty="0">
                <a:solidFill>
                  <a:srgbClr val="242424"/>
                </a:solidFill>
                <a:effectLst/>
                <a:latin typeface="source-serif-pro"/>
              </a:rPr>
              <a:t> and is the only line of text that occurs only once</a:t>
            </a:r>
          </a:p>
          <a:p>
            <a:pPr algn="l"/>
            <a:r>
              <a:rPr lang="en-US" sz="2800" b="0" i="0" dirty="0">
                <a:solidFill>
                  <a:srgbClr val="242424"/>
                </a:solidFill>
                <a:effectLst/>
                <a:latin typeface="source-serif-pro"/>
              </a:rPr>
              <a:t>This command sorts the content of data.txt and then displays the lines that occur only once</a:t>
            </a:r>
          </a:p>
        </p:txBody>
      </p:sp>
      <p:sp>
        <p:nvSpPr>
          <p:cNvPr id="9" name="TextBox 8">
            <a:extLst>
              <a:ext uri="{FF2B5EF4-FFF2-40B4-BE49-F238E27FC236}">
                <a16:creationId xmlns:a16="http://schemas.microsoft.com/office/drawing/2014/main" id="{4442635B-9E4E-E9E6-8270-8C471EF7CA44}"/>
              </a:ext>
            </a:extLst>
          </p:cNvPr>
          <p:cNvSpPr txBox="1"/>
          <p:nvPr/>
        </p:nvSpPr>
        <p:spPr>
          <a:xfrm>
            <a:off x="186812" y="3429000"/>
            <a:ext cx="11474245" cy="1200329"/>
          </a:xfrm>
          <a:prstGeom prst="rect">
            <a:avLst/>
          </a:prstGeom>
          <a:noFill/>
        </p:spPr>
        <p:txBody>
          <a:bodyPr wrap="square">
            <a:spAutoFit/>
          </a:bodyPr>
          <a:lstStyle/>
          <a:p>
            <a:pPr algn="l"/>
            <a:r>
              <a:rPr lang="en-US" b="0" i="0" dirty="0">
                <a:solidFill>
                  <a:srgbClr val="FF0000"/>
                </a:solidFill>
                <a:effectLst/>
                <a:latin typeface="Raleway" pitchFamily="2" charset="0"/>
              </a:rPr>
              <a:t>To do this I ran the command below in order to sort the lines alphabetically and then remove all duplicates from the output.</a:t>
            </a:r>
          </a:p>
          <a:p>
            <a:br>
              <a:rPr lang="en-US" dirty="0">
                <a:solidFill>
                  <a:srgbClr val="FF0000"/>
                </a:solidFill>
              </a:rPr>
            </a:br>
            <a:endParaRPr lang="ar-EG" dirty="0">
              <a:solidFill>
                <a:srgbClr val="FF0000"/>
              </a:solidFill>
            </a:endParaRPr>
          </a:p>
        </p:txBody>
      </p:sp>
      <p:sp>
        <p:nvSpPr>
          <p:cNvPr id="11" name="TextBox 10">
            <a:extLst>
              <a:ext uri="{FF2B5EF4-FFF2-40B4-BE49-F238E27FC236}">
                <a16:creationId xmlns:a16="http://schemas.microsoft.com/office/drawing/2014/main" id="{AF3130D8-2574-D4FE-C7DF-5F95710CB9AB}"/>
              </a:ext>
            </a:extLst>
          </p:cNvPr>
          <p:cNvSpPr txBox="1"/>
          <p:nvPr/>
        </p:nvSpPr>
        <p:spPr>
          <a:xfrm>
            <a:off x="304801" y="4400820"/>
            <a:ext cx="6096000" cy="523220"/>
          </a:xfrm>
          <a:prstGeom prst="rect">
            <a:avLst/>
          </a:prstGeom>
          <a:noFill/>
        </p:spPr>
        <p:txBody>
          <a:bodyPr wrap="square">
            <a:spAutoFit/>
          </a:bodyPr>
          <a:lstStyle/>
          <a:p>
            <a:pPr algn="l"/>
            <a:r>
              <a:rPr lang="en-US" sz="2800" b="0" i="1" dirty="0">
                <a:solidFill>
                  <a:srgbClr val="000000"/>
                </a:solidFill>
                <a:effectLst/>
                <a:latin typeface="Raleway" pitchFamily="2" charset="0"/>
              </a:rPr>
              <a:t>sort data.txt | </a:t>
            </a:r>
            <a:r>
              <a:rPr lang="en-US" sz="2800" b="0" i="1" dirty="0" err="1">
                <a:solidFill>
                  <a:srgbClr val="000000"/>
                </a:solidFill>
                <a:effectLst/>
                <a:latin typeface="Raleway" pitchFamily="2" charset="0"/>
              </a:rPr>
              <a:t>uniq</a:t>
            </a:r>
            <a:r>
              <a:rPr lang="en-US" sz="2800" b="0" i="1" dirty="0">
                <a:solidFill>
                  <a:srgbClr val="000000"/>
                </a:solidFill>
                <a:effectLst/>
                <a:latin typeface="Raleway" pitchFamily="2" charset="0"/>
              </a:rPr>
              <a:t> -u</a:t>
            </a:r>
            <a:endParaRPr lang="en-US" sz="2800" b="0" i="0" dirty="0">
              <a:solidFill>
                <a:srgbClr val="000000"/>
              </a:solidFill>
              <a:effectLst/>
              <a:latin typeface="Raleway" pitchFamily="2" charset="0"/>
            </a:endParaRPr>
          </a:p>
        </p:txBody>
      </p:sp>
      <p:pic>
        <p:nvPicPr>
          <p:cNvPr id="8194" name="Picture 2">
            <a:extLst>
              <a:ext uri="{FF2B5EF4-FFF2-40B4-BE49-F238E27FC236}">
                <a16:creationId xmlns:a16="http://schemas.microsoft.com/office/drawing/2014/main" id="{0D2D7992-8A7E-D6C5-501B-16CE1A0749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74382" y="4342785"/>
            <a:ext cx="7686675" cy="1733550"/>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6ABE667B-8D63-2C52-E0A8-7E2B037A3706}"/>
              </a:ext>
            </a:extLst>
          </p:cNvPr>
          <p:cNvSpPr txBox="1"/>
          <p:nvPr/>
        </p:nvSpPr>
        <p:spPr>
          <a:xfrm>
            <a:off x="186812" y="6105831"/>
            <a:ext cx="4751109" cy="646331"/>
          </a:xfrm>
          <a:prstGeom prst="rect">
            <a:avLst/>
          </a:prstGeom>
          <a:noFill/>
        </p:spPr>
        <p:txBody>
          <a:bodyPr wrap="none" rtlCol="1">
            <a:spAutoFit/>
          </a:bodyPr>
          <a:lstStyle/>
          <a:p>
            <a:r>
              <a:rPr lang="en-US" dirty="0"/>
              <a:t>Username: </a:t>
            </a:r>
            <a:r>
              <a:rPr lang="en-US" dirty="0">
                <a:solidFill>
                  <a:srgbClr val="FF0000"/>
                </a:solidFill>
              </a:rPr>
              <a:t>bnadit9</a:t>
            </a:r>
          </a:p>
          <a:p>
            <a:r>
              <a:rPr lang="en-US" dirty="0"/>
              <a:t>Password: </a:t>
            </a:r>
            <a:r>
              <a:rPr lang="en-US" dirty="0">
                <a:solidFill>
                  <a:srgbClr val="FF0000"/>
                </a:solidFill>
              </a:rPr>
              <a:t>EN632PlfYiZbn3PhVK3XOGSlNInNE00t</a:t>
            </a:r>
            <a:endParaRPr lang="ar-EG" dirty="0">
              <a:solidFill>
                <a:srgbClr val="FF0000"/>
              </a:solidFill>
            </a:endParaRPr>
          </a:p>
        </p:txBody>
      </p:sp>
    </p:spTree>
    <p:extLst>
      <p:ext uri="{BB962C8B-B14F-4D97-AF65-F5344CB8AC3E}">
        <p14:creationId xmlns:p14="http://schemas.microsoft.com/office/powerpoint/2010/main" val="18645810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AB2E0F0-0BAB-F45B-1BB4-E427F9B0318E}"/>
              </a:ext>
            </a:extLst>
          </p:cNvPr>
          <p:cNvSpPr txBox="1"/>
          <p:nvPr/>
        </p:nvSpPr>
        <p:spPr>
          <a:xfrm>
            <a:off x="98321" y="403739"/>
            <a:ext cx="11720051" cy="5509200"/>
          </a:xfrm>
          <a:prstGeom prst="rect">
            <a:avLst/>
          </a:prstGeom>
          <a:noFill/>
        </p:spPr>
        <p:txBody>
          <a:bodyPr wrap="square">
            <a:spAutoFit/>
          </a:bodyPr>
          <a:lstStyle/>
          <a:p>
            <a:r>
              <a:rPr lang="ar-EG" sz="2000" b="1" dirty="0"/>
              <a:t>Remove duplicate lines with </a:t>
            </a:r>
            <a:r>
              <a:rPr lang="ar-EG" sz="2000" b="1" dirty="0">
                <a:solidFill>
                  <a:srgbClr val="FF0000"/>
                </a:solidFill>
              </a:rPr>
              <a:t>uniq</a:t>
            </a:r>
          </a:p>
          <a:p>
            <a:r>
              <a:rPr lang="ar-EG" sz="1600" dirty="0" err="1"/>
              <a:t>After</a:t>
            </a:r>
            <a:r>
              <a:rPr lang="ar-EG" sz="1600" dirty="0"/>
              <a:t> </a:t>
            </a:r>
            <a:r>
              <a:rPr lang="ar-EG" sz="1600" dirty="0" err="1"/>
              <a:t>sorting</a:t>
            </a:r>
            <a:r>
              <a:rPr lang="ar-EG" sz="1600" dirty="0"/>
              <a:t> a </a:t>
            </a:r>
            <a:r>
              <a:rPr lang="ar-EG" sz="1600" dirty="0" err="1"/>
              <a:t>file</a:t>
            </a:r>
            <a:r>
              <a:rPr lang="ar-EG" sz="1600" dirty="0"/>
              <a:t> </a:t>
            </a:r>
            <a:r>
              <a:rPr lang="ar-EG" sz="1600" dirty="0" err="1"/>
              <a:t>you</a:t>
            </a:r>
            <a:r>
              <a:rPr lang="ar-EG" sz="1600" dirty="0"/>
              <a:t> </a:t>
            </a:r>
            <a:r>
              <a:rPr lang="ar-EG" sz="1600" dirty="0" err="1"/>
              <a:t>will</a:t>
            </a:r>
            <a:r>
              <a:rPr lang="ar-EG" sz="1600" dirty="0"/>
              <a:t> </a:t>
            </a:r>
            <a:r>
              <a:rPr lang="ar-EG" sz="1600" dirty="0" err="1"/>
              <a:t>often</a:t>
            </a:r>
            <a:r>
              <a:rPr lang="ar-EG" sz="1600" dirty="0"/>
              <a:t> </a:t>
            </a:r>
            <a:r>
              <a:rPr lang="ar-EG" sz="1600" dirty="0" err="1"/>
              <a:t>find</a:t>
            </a:r>
            <a:r>
              <a:rPr lang="ar-EG" sz="1600" dirty="0"/>
              <a:t> </a:t>
            </a:r>
            <a:r>
              <a:rPr lang="ar-EG" sz="1600" dirty="0" err="1"/>
              <a:t>that</a:t>
            </a:r>
            <a:r>
              <a:rPr lang="ar-EG" sz="1600" dirty="0"/>
              <a:t> </a:t>
            </a:r>
            <a:r>
              <a:rPr lang="ar-EG" sz="1600" dirty="0" err="1"/>
              <a:t>some</a:t>
            </a:r>
            <a:r>
              <a:rPr lang="ar-EG" sz="1600" dirty="0"/>
              <a:t> duplicate </a:t>
            </a:r>
            <a:r>
              <a:rPr lang="ar-EG" sz="1600" dirty="0" err="1"/>
              <a:t>data</a:t>
            </a:r>
            <a:r>
              <a:rPr lang="ar-EG" sz="1600" dirty="0"/>
              <a:t>, </a:t>
            </a:r>
            <a:r>
              <a:rPr lang="ar-EG" sz="1600" dirty="0" err="1"/>
              <a:t>or</a:t>
            </a:r>
            <a:r>
              <a:rPr lang="ar-EG" sz="1600" dirty="0"/>
              <a:t> </a:t>
            </a:r>
            <a:r>
              <a:rPr lang="ar-EG" sz="1600" dirty="0" err="1"/>
              <a:t>you</a:t>
            </a:r>
            <a:r>
              <a:rPr lang="ar-EG" sz="1600" dirty="0"/>
              <a:t> </a:t>
            </a:r>
            <a:r>
              <a:rPr lang="ar-EG" sz="1600" dirty="0" err="1"/>
              <a:t>may</a:t>
            </a:r>
            <a:r>
              <a:rPr lang="ar-EG" sz="1600" dirty="0"/>
              <a:t> </a:t>
            </a:r>
            <a:r>
              <a:rPr lang="ar-EG" sz="1600" dirty="0" err="1"/>
              <a:t>be</a:t>
            </a:r>
            <a:r>
              <a:rPr lang="ar-EG" sz="1600" dirty="0"/>
              <a:t> </a:t>
            </a:r>
            <a:r>
              <a:rPr lang="ar-EG" sz="1600" dirty="0" err="1"/>
              <a:t>given</a:t>
            </a:r>
            <a:r>
              <a:rPr lang="ar-EG" sz="1600" dirty="0"/>
              <a:t> </a:t>
            </a:r>
            <a:r>
              <a:rPr lang="ar-EG" sz="1600" dirty="0" err="1"/>
              <a:t>various</a:t>
            </a:r>
            <a:r>
              <a:rPr lang="ar-EG" sz="1600" dirty="0"/>
              <a:t> </a:t>
            </a:r>
            <a:r>
              <a:rPr lang="ar-EG" sz="1600" dirty="0" err="1"/>
              <a:t>lists</a:t>
            </a:r>
            <a:r>
              <a:rPr lang="ar-EG" sz="1600" dirty="0"/>
              <a:t> </a:t>
            </a:r>
            <a:r>
              <a:rPr lang="ar-EG" sz="1600" dirty="0" err="1"/>
              <a:t>that</a:t>
            </a:r>
            <a:r>
              <a:rPr lang="ar-EG" sz="1600" dirty="0"/>
              <a:t> </a:t>
            </a:r>
            <a:r>
              <a:rPr lang="ar-EG" sz="1600" dirty="0" err="1"/>
              <a:t>need</a:t>
            </a:r>
            <a:r>
              <a:rPr lang="ar-EG" sz="1600" dirty="0"/>
              <a:t> </a:t>
            </a:r>
            <a:r>
              <a:rPr lang="ar-EG" sz="1600" dirty="0" err="1"/>
              <a:t>deduping</a:t>
            </a:r>
            <a:r>
              <a:rPr lang="ar-EG" sz="1600" dirty="0"/>
              <a:t>. </a:t>
            </a:r>
            <a:r>
              <a:rPr lang="ar-EG" sz="1600" dirty="0" err="1"/>
              <a:t>sort</a:t>
            </a:r>
            <a:r>
              <a:rPr lang="ar-EG" sz="1600" dirty="0"/>
              <a:t> </a:t>
            </a:r>
            <a:r>
              <a:rPr lang="ar-EG" sz="1600" dirty="0" err="1"/>
              <a:t>and</a:t>
            </a:r>
            <a:r>
              <a:rPr lang="ar-EG" sz="1600" dirty="0"/>
              <a:t> uniq </a:t>
            </a:r>
            <a:r>
              <a:rPr lang="ar-EG" sz="1600" dirty="0" err="1"/>
              <a:t>will</a:t>
            </a:r>
            <a:r>
              <a:rPr lang="ar-EG" sz="1600" dirty="0"/>
              <a:t> </a:t>
            </a:r>
            <a:r>
              <a:rPr lang="ar-EG" sz="1600" dirty="0" err="1"/>
              <a:t>quickly</a:t>
            </a:r>
            <a:r>
              <a:rPr lang="ar-EG" sz="1600" dirty="0"/>
              <a:t> </a:t>
            </a:r>
            <a:r>
              <a:rPr lang="ar-EG" sz="1600" dirty="0" err="1"/>
              <a:t>and</a:t>
            </a:r>
            <a:r>
              <a:rPr lang="ar-EG" sz="1600" dirty="0"/>
              <a:t> </a:t>
            </a:r>
            <a:r>
              <a:rPr lang="ar-EG" sz="1600" dirty="0" err="1"/>
              <a:t>easily</a:t>
            </a:r>
            <a:r>
              <a:rPr lang="ar-EG" sz="1600" dirty="0"/>
              <a:t> </a:t>
            </a:r>
            <a:r>
              <a:rPr lang="ar-EG" sz="1600" dirty="0" err="1"/>
              <a:t>remove</a:t>
            </a:r>
            <a:r>
              <a:rPr lang="ar-EG" sz="1600" dirty="0"/>
              <a:t> </a:t>
            </a:r>
            <a:r>
              <a:rPr lang="ar-EG" sz="1600" dirty="0" err="1"/>
              <a:t>duplicates</a:t>
            </a:r>
            <a:r>
              <a:rPr lang="ar-EG" sz="1600" dirty="0"/>
              <a:t>, </a:t>
            </a:r>
            <a:r>
              <a:rPr lang="en-US" sz="1600" dirty="0"/>
              <a:t>list</a:t>
            </a:r>
            <a:r>
              <a:rPr lang="ar-EG" sz="1600" dirty="0"/>
              <a:t> </a:t>
            </a:r>
            <a:r>
              <a:rPr lang="ar-EG" sz="1600" dirty="0" err="1"/>
              <a:t>only</a:t>
            </a:r>
            <a:r>
              <a:rPr lang="ar-EG" sz="1600" dirty="0"/>
              <a:t> the </a:t>
            </a:r>
            <a:r>
              <a:rPr lang="ar-EG" sz="1600" dirty="0" err="1"/>
              <a:t>dupilcates</a:t>
            </a:r>
            <a:r>
              <a:rPr lang="ar-EG" sz="1600" dirty="0"/>
              <a:t> </a:t>
            </a:r>
            <a:r>
              <a:rPr lang="ar-EG" sz="1600" dirty="0" err="1"/>
              <a:t>or</a:t>
            </a:r>
            <a:r>
              <a:rPr lang="ar-EG" sz="1600" dirty="0"/>
              <a:t> </a:t>
            </a:r>
            <a:r>
              <a:rPr lang="ar-EG" sz="1600" dirty="0" err="1"/>
              <a:t>only</a:t>
            </a:r>
            <a:r>
              <a:rPr lang="ar-EG" sz="1600" dirty="0"/>
              <a:t> the </a:t>
            </a:r>
            <a:r>
              <a:rPr lang="ar-EG" sz="1600" dirty="0" err="1"/>
              <a:t>unique</a:t>
            </a:r>
            <a:r>
              <a:rPr lang="ar-EG" sz="1600" dirty="0"/>
              <a:t> </a:t>
            </a:r>
            <a:r>
              <a:rPr lang="ar-EG" sz="1600" dirty="0" err="1"/>
              <a:t>data</a:t>
            </a:r>
            <a:r>
              <a:rPr lang="ar-EG" sz="1600" dirty="0"/>
              <a:t>.</a:t>
            </a:r>
          </a:p>
          <a:p>
            <a:endParaRPr lang="ar-EG" sz="1600" dirty="0"/>
          </a:p>
          <a:p>
            <a:r>
              <a:rPr lang="ar-EG" sz="1600" dirty="0" err="1"/>
              <a:t>sort</a:t>
            </a:r>
            <a:r>
              <a:rPr lang="ar-EG" sz="1600" dirty="0"/>
              <a:t> myfile.txt | uniq</a:t>
            </a:r>
          </a:p>
          <a:p>
            <a:endParaRPr lang="ar-EG" sz="1600" dirty="0"/>
          </a:p>
          <a:p>
            <a:r>
              <a:rPr lang="ar-EG" sz="1600" dirty="0" err="1"/>
              <a:t>List</a:t>
            </a:r>
            <a:r>
              <a:rPr lang="ar-EG" sz="1600" dirty="0"/>
              <a:t> </a:t>
            </a:r>
            <a:r>
              <a:rPr lang="ar-EG" sz="1600" dirty="0" err="1"/>
              <a:t>only</a:t>
            </a:r>
            <a:r>
              <a:rPr lang="ar-EG" sz="1600" dirty="0"/>
              <a:t> the </a:t>
            </a:r>
            <a:r>
              <a:rPr lang="ar-EG" sz="1600" dirty="0" err="1"/>
              <a:t>unique</a:t>
            </a:r>
            <a:r>
              <a:rPr lang="ar-EG" sz="1600" dirty="0"/>
              <a:t> lines: </a:t>
            </a:r>
            <a:r>
              <a:rPr lang="ar-EG" sz="1600" dirty="0" err="1"/>
              <a:t>sort</a:t>
            </a:r>
            <a:r>
              <a:rPr lang="ar-EG" sz="1600" dirty="0"/>
              <a:t> myfile.txt | uniq -u</a:t>
            </a:r>
          </a:p>
          <a:p>
            <a:endParaRPr lang="ar-EG" sz="1600" dirty="0"/>
          </a:p>
          <a:p>
            <a:r>
              <a:rPr lang="ar-EG" sz="1600" dirty="0" err="1"/>
              <a:t>List</a:t>
            </a:r>
            <a:r>
              <a:rPr lang="ar-EG" sz="1600" dirty="0"/>
              <a:t> </a:t>
            </a:r>
            <a:r>
              <a:rPr lang="ar-EG" sz="1600" dirty="0" err="1"/>
              <a:t>only</a:t>
            </a:r>
            <a:r>
              <a:rPr lang="ar-EG" sz="1600" dirty="0"/>
              <a:t> the duplicate lines: </a:t>
            </a:r>
            <a:r>
              <a:rPr lang="ar-EG" sz="1600" dirty="0" err="1"/>
              <a:t>sort</a:t>
            </a:r>
            <a:r>
              <a:rPr lang="ar-EG" sz="1600" dirty="0"/>
              <a:t> myfile.txt | uniq -d</a:t>
            </a:r>
          </a:p>
          <a:p>
            <a:endParaRPr lang="ar-EG" sz="1600" dirty="0"/>
          </a:p>
          <a:p>
            <a:r>
              <a:rPr lang="ar-EG" sz="1600" dirty="0" err="1"/>
              <a:t>Get</a:t>
            </a:r>
            <a:r>
              <a:rPr lang="ar-EG" sz="1600" dirty="0"/>
              <a:t> a </a:t>
            </a:r>
            <a:r>
              <a:rPr lang="ar-EG" sz="1600" dirty="0" err="1"/>
              <a:t>count</a:t>
            </a:r>
            <a:r>
              <a:rPr lang="ar-EG" sz="1600" dirty="0"/>
              <a:t> </a:t>
            </a:r>
            <a:r>
              <a:rPr lang="ar-EG" sz="1600" dirty="0" err="1"/>
              <a:t>of</a:t>
            </a:r>
            <a:r>
              <a:rPr lang="ar-EG" sz="1600" dirty="0"/>
              <a:t> the </a:t>
            </a:r>
            <a:r>
              <a:rPr lang="ar-EG" sz="1600" dirty="0" err="1"/>
              <a:t>number</a:t>
            </a:r>
            <a:r>
              <a:rPr lang="ar-EG" sz="1600" dirty="0"/>
              <a:t> </a:t>
            </a:r>
            <a:r>
              <a:rPr lang="ar-EG" sz="1600" dirty="0" err="1"/>
              <a:t>of</a:t>
            </a:r>
            <a:r>
              <a:rPr lang="ar-EG" sz="1600" dirty="0"/>
              <a:t> lines </a:t>
            </a:r>
            <a:r>
              <a:rPr lang="ar-EG" sz="1600" dirty="0" err="1"/>
              <a:t>by</a:t>
            </a:r>
            <a:r>
              <a:rPr lang="ar-EG" sz="1600" dirty="0"/>
              <a:t> </a:t>
            </a:r>
            <a:r>
              <a:rPr lang="ar-EG" sz="1600" dirty="0" err="1"/>
              <a:t>adding</a:t>
            </a:r>
            <a:r>
              <a:rPr lang="ar-EG" sz="1600" dirty="0"/>
              <a:t> the -c </a:t>
            </a:r>
            <a:r>
              <a:rPr lang="ar-EG" sz="1600" dirty="0" err="1"/>
              <a:t>option</a:t>
            </a:r>
            <a:r>
              <a:rPr lang="ar-EG" sz="1600" dirty="0"/>
              <a:t>.</a:t>
            </a:r>
          </a:p>
          <a:p>
            <a:endParaRPr lang="ar-EG" sz="1600" dirty="0"/>
          </a:p>
          <a:p>
            <a:r>
              <a:rPr lang="ar-EG" sz="1600" dirty="0" err="1"/>
              <a:t>sort</a:t>
            </a:r>
            <a:r>
              <a:rPr lang="ar-EG" sz="1600" dirty="0"/>
              <a:t> myfile.txt | uniq -</a:t>
            </a:r>
            <a:r>
              <a:rPr lang="ar-EG" sz="1600" dirty="0" err="1"/>
              <a:t>uc</a:t>
            </a:r>
            <a:endParaRPr lang="ar-EG" sz="1600" dirty="0"/>
          </a:p>
          <a:p>
            <a:endParaRPr lang="ar-EG" sz="1600" dirty="0"/>
          </a:p>
          <a:p>
            <a:r>
              <a:rPr lang="ar-EG" sz="1600" dirty="0" err="1"/>
              <a:t>sort</a:t>
            </a:r>
            <a:r>
              <a:rPr lang="ar-EG" sz="1600" dirty="0"/>
              <a:t> myfile.txt | uniq -dc</a:t>
            </a:r>
          </a:p>
          <a:p>
            <a:endParaRPr lang="ar-EG" sz="1600" dirty="0"/>
          </a:p>
          <a:p>
            <a:r>
              <a:rPr lang="ar-EG" sz="1600" dirty="0" err="1"/>
              <a:t>Skip</a:t>
            </a:r>
            <a:r>
              <a:rPr lang="ar-EG" sz="1600" dirty="0"/>
              <a:t> </a:t>
            </a:r>
            <a:r>
              <a:rPr lang="ar-EG" sz="1600" dirty="0" err="1"/>
              <a:t>fields</a:t>
            </a:r>
            <a:r>
              <a:rPr lang="ar-EG" sz="1600" dirty="0"/>
              <a:t>: uniq -f </a:t>
            </a:r>
            <a:r>
              <a:rPr lang="en-US" sz="1600" dirty="0"/>
              <a:t>3</a:t>
            </a:r>
            <a:r>
              <a:rPr lang="ar-EG" sz="1600" dirty="0"/>
              <a:t>  </a:t>
            </a:r>
            <a:r>
              <a:rPr lang="ar-EG" sz="1600" dirty="0" err="1"/>
              <a:t>mylogfile</a:t>
            </a:r>
            <a:r>
              <a:rPr lang="ar-EG" sz="1600" dirty="0"/>
              <a:t>. </a:t>
            </a:r>
            <a:r>
              <a:rPr lang="ar-EG" sz="1600" dirty="0" err="1"/>
              <a:t>this</a:t>
            </a:r>
            <a:r>
              <a:rPr lang="ar-EG" sz="1600" dirty="0"/>
              <a:t> </a:t>
            </a:r>
            <a:r>
              <a:rPr lang="ar-EG" sz="1600" dirty="0" err="1"/>
              <a:t>could</a:t>
            </a:r>
            <a:r>
              <a:rPr lang="ar-EG" sz="1600" dirty="0"/>
              <a:t> </a:t>
            </a:r>
            <a:r>
              <a:rPr lang="ar-EG" sz="1600" dirty="0" err="1"/>
              <a:t>be</a:t>
            </a:r>
            <a:r>
              <a:rPr lang="ar-EG" sz="1600" dirty="0"/>
              <a:t> </a:t>
            </a:r>
            <a:r>
              <a:rPr lang="ar-EG" sz="1600" dirty="0" err="1"/>
              <a:t>useful</a:t>
            </a:r>
            <a:r>
              <a:rPr lang="ar-EG" sz="1600" dirty="0"/>
              <a:t> with </a:t>
            </a:r>
            <a:r>
              <a:rPr lang="ar-EG" sz="1600" dirty="0" err="1"/>
              <a:t>log</a:t>
            </a:r>
            <a:r>
              <a:rPr lang="ar-EG" sz="1600" dirty="0"/>
              <a:t> </a:t>
            </a:r>
            <a:r>
              <a:rPr lang="ar-EG" sz="1600" dirty="0" err="1"/>
              <a:t>files</a:t>
            </a:r>
            <a:r>
              <a:rPr lang="ar-EG" sz="1600" dirty="0"/>
              <a:t> </a:t>
            </a:r>
            <a:r>
              <a:rPr lang="ar-EG" sz="1600" dirty="0" err="1"/>
              <a:t>to</a:t>
            </a:r>
            <a:r>
              <a:rPr lang="ar-EG" sz="1600" dirty="0"/>
              <a:t> </a:t>
            </a:r>
            <a:r>
              <a:rPr lang="ar-EG" sz="1600" dirty="0" err="1"/>
              <a:t>skip</a:t>
            </a:r>
            <a:r>
              <a:rPr lang="ar-EG" sz="1600" dirty="0"/>
              <a:t> the </a:t>
            </a:r>
            <a:r>
              <a:rPr lang="ar-EG" sz="1600" dirty="0" err="1"/>
              <a:t>time</a:t>
            </a:r>
            <a:r>
              <a:rPr lang="ar-EG" sz="1600" dirty="0"/>
              <a:t> </a:t>
            </a:r>
            <a:r>
              <a:rPr lang="ar-EG" sz="1600" dirty="0" err="1"/>
              <a:t>stamp</a:t>
            </a:r>
            <a:r>
              <a:rPr lang="ar-EG" sz="1600" dirty="0"/>
              <a:t> </a:t>
            </a:r>
            <a:r>
              <a:rPr lang="ar-EG" sz="1600" dirty="0" err="1"/>
              <a:t>data</a:t>
            </a:r>
            <a:endParaRPr lang="ar-EG" sz="1600" dirty="0"/>
          </a:p>
          <a:p>
            <a:endParaRPr lang="ar-EG" sz="1600" dirty="0"/>
          </a:p>
          <a:p>
            <a:r>
              <a:rPr lang="ar-EG" sz="1600" dirty="0" err="1"/>
              <a:t>Skip</a:t>
            </a:r>
            <a:r>
              <a:rPr lang="ar-EG" sz="1600" dirty="0"/>
              <a:t> </a:t>
            </a:r>
            <a:r>
              <a:rPr lang="ar-EG" sz="1600" dirty="0" err="1"/>
              <a:t>characters</a:t>
            </a:r>
            <a:r>
              <a:rPr lang="ar-EG" sz="1600" dirty="0"/>
              <a:t>. uniq -s 30 myfile.txt. </a:t>
            </a:r>
            <a:r>
              <a:rPr lang="ar-EG" sz="1600" dirty="0" err="1"/>
              <a:t>Skip</a:t>
            </a:r>
            <a:r>
              <a:rPr lang="ar-EG" sz="1600" dirty="0"/>
              <a:t> the </a:t>
            </a:r>
            <a:r>
              <a:rPr lang="ar-EG" sz="1600" dirty="0" err="1"/>
              <a:t>first</a:t>
            </a:r>
            <a:r>
              <a:rPr lang="ar-EG" sz="1600" dirty="0"/>
              <a:t> 30 </a:t>
            </a:r>
            <a:r>
              <a:rPr lang="ar-EG" sz="1600" dirty="0" err="1"/>
              <a:t>characters</a:t>
            </a:r>
            <a:endParaRPr lang="ar-EG" sz="1600" dirty="0"/>
          </a:p>
          <a:p>
            <a:endParaRPr lang="ar-EG" sz="1600" dirty="0"/>
          </a:p>
          <a:p>
            <a:r>
              <a:rPr lang="ar-EG" sz="1600" dirty="0" err="1"/>
              <a:t>Compare</a:t>
            </a:r>
            <a:r>
              <a:rPr lang="ar-EG" sz="1600" dirty="0"/>
              <a:t> </a:t>
            </a:r>
            <a:r>
              <a:rPr lang="ar-EG" sz="1600" dirty="0" err="1"/>
              <a:t>characters</a:t>
            </a:r>
            <a:r>
              <a:rPr lang="ar-EG" sz="1600" dirty="0"/>
              <a:t>. uniq -w 30 myfile.txt. </a:t>
            </a:r>
            <a:r>
              <a:rPr lang="ar-EG" sz="1600" dirty="0" err="1"/>
              <a:t>Compare</a:t>
            </a:r>
            <a:r>
              <a:rPr lang="ar-EG" sz="1600" dirty="0"/>
              <a:t> the </a:t>
            </a:r>
            <a:r>
              <a:rPr lang="ar-EG" sz="1600" dirty="0" err="1"/>
              <a:t>first</a:t>
            </a:r>
            <a:r>
              <a:rPr lang="ar-EG" sz="1600" dirty="0"/>
              <a:t> 30 </a:t>
            </a:r>
            <a:r>
              <a:rPr lang="ar-EG" sz="1600" dirty="0" err="1"/>
              <a:t>characters</a:t>
            </a:r>
            <a:endParaRPr lang="ar-EG" sz="1600" dirty="0"/>
          </a:p>
        </p:txBody>
      </p:sp>
      <p:sp>
        <p:nvSpPr>
          <p:cNvPr id="13" name="TextBox 12">
            <a:extLst>
              <a:ext uri="{FF2B5EF4-FFF2-40B4-BE49-F238E27FC236}">
                <a16:creationId xmlns:a16="http://schemas.microsoft.com/office/drawing/2014/main" id="{B3F6B67C-459F-0C54-91E4-578A4DE269D4}"/>
              </a:ext>
            </a:extLst>
          </p:cNvPr>
          <p:cNvSpPr txBox="1"/>
          <p:nvPr/>
        </p:nvSpPr>
        <p:spPr>
          <a:xfrm>
            <a:off x="98321" y="6022244"/>
            <a:ext cx="9065341" cy="646331"/>
          </a:xfrm>
          <a:prstGeom prst="rect">
            <a:avLst/>
          </a:prstGeom>
          <a:noFill/>
        </p:spPr>
        <p:txBody>
          <a:bodyPr wrap="square">
            <a:spAutoFit/>
          </a:bodyPr>
          <a:lstStyle/>
          <a:p>
            <a:pPr algn="l"/>
            <a:r>
              <a:rPr lang="en-US" b="1" i="0" dirty="0">
                <a:solidFill>
                  <a:srgbClr val="000000"/>
                </a:solidFill>
                <a:effectLst/>
                <a:latin typeface="Raleway" pitchFamily="2" charset="0"/>
              </a:rPr>
              <a:t>Reference:</a:t>
            </a:r>
            <a:endParaRPr lang="en-US" b="0" i="0" dirty="0">
              <a:solidFill>
                <a:srgbClr val="000000"/>
              </a:solidFill>
              <a:effectLst/>
              <a:latin typeface="Raleway" pitchFamily="2" charset="0"/>
            </a:endParaRPr>
          </a:p>
          <a:p>
            <a:r>
              <a:rPr lang="en-US" b="0" i="0" dirty="0">
                <a:effectLst/>
                <a:latin typeface="Raleway" pitchFamily="2" charset="0"/>
                <a:hlinkClick r:id="rId2"/>
              </a:rPr>
              <a:t>http://www.liamdelahunty.com/tips/linux_remove_duplicate_lines_with_uniq.php</a:t>
            </a:r>
            <a:endParaRPr lang="ar-EG" dirty="0"/>
          </a:p>
        </p:txBody>
      </p:sp>
    </p:spTree>
    <p:extLst>
      <p:ext uri="{BB962C8B-B14F-4D97-AF65-F5344CB8AC3E}">
        <p14:creationId xmlns:p14="http://schemas.microsoft.com/office/powerpoint/2010/main" val="15075368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B83D8-AA62-31B8-8E7D-4D38F38EBA5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5769431-6D88-C8AC-6D81-0A4308B58792}"/>
              </a:ext>
            </a:extLst>
          </p:cNvPr>
          <p:cNvSpPr txBox="1"/>
          <p:nvPr/>
        </p:nvSpPr>
        <p:spPr>
          <a:xfrm>
            <a:off x="186813" y="452735"/>
            <a:ext cx="6096000" cy="461665"/>
          </a:xfrm>
          <a:prstGeom prst="rect">
            <a:avLst/>
          </a:prstGeom>
          <a:noFill/>
        </p:spPr>
        <p:txBody>
          <a:bodyPr wrap="square">
            <a:spAutoFit/>
          </a:bodyPr>
          <a:lstStyle/>
          <a:p>
            <a:pPr algn="l"/>
            <a:r>
              <a:rPr lang="en-US" sz="2400" b="1" i="0" dirty="0">
                <a:solidFill>
                  <a:srgbClr val="FF0000"/>
                </a:solidFill>
                <a:effectLst/>
                <a:latin typeface="sohne"/>
              </a:rPr>
              <a:t>Bandit Level 9 → Level 10</a:t>
            </a:r>
          </a:p>
        </p:txBody>
      </p:sp>
      <p:sp>
        <p:nvSpPr>
          <p:cNvPr id="7" name="TextBox 6">
            <a:extLst>
              <a:ext uri="{FF2B5EF4-FFF2-40B4-BE49-F238E27FC236}">
                <a16:creationId xmlns:a16="http://schemas.microsoft.com/office/drawing/2014/main" id="{B4921FE3-770E-888C-36E6-9D9DBEADA442}"/>
              </a:ext>
            </a:extLst>
          </p:cNvPr>
          <p:cNvSpPr txBox="1"/>
          <p:nvPr/>
        </p:nvSpPr>
        <p:spPr>
          <a:xfrm>
            <a:off x="186813" y="1149130"/>
            <a:ext cx="11346426" cy="1384995"/>
          </a:xfrm>
          <a:prstGeom prst="rect">
            <a:avLst/>
          </a:prstGeom>
          <a:noFill/>
        </p:spPr>
        <p:txBody>
          <a:bodyPr wrap="square">
            <a:spAutoFit/>
          </a:bodyPr>
          <a:lstStyle/>
          <a:p>
            <a:pPr algn="l"/>
            <a:r>
              <a:rPr lang="en-US" sz="2800" b="1" i="0" dirty="0">
                <a:solidFill>
                  <a:srgbClr val="FF0000"/>
                </a:solidFill>
                <a:effectLst/>
                <a:latin typeface="sohne"/>
              </a:rPr>
              <a:t>Level Goal</a:t>
            </a:r>
          </a:p>
          <a:p>
            <a:pPr algn="l"/>
            <a:r>
              <a:rPr lang="en-US" sz="2800" b="0" i="0" dirty="0">
                <a:solidFill>
                  <a:srgbClr val="242424"/>
                </a:solidFill>
                <a:effectLst/>
                <a:latin typeface="source-serif-pro"/>
              </a:rPr>
              <a:t>The password for the next level is stored in the file data.txt in one of the few human-readable strings, beginning with several “=</a:t>
            </a:r>
            <a:r>
              <a:rPr lang="en-US" sz="2800" dirty="0">
                <a:solidFill>
                  <a:srgbClr val="242424"/>
                </a:solidFill>
                <a:latin typeface="source-serif-pro"/>
              </a:rPr>
              <a:t>“</a:t>
            </a:r>
            <a:r>
              <a:rPr lang="en-US" sz="2800" b="0" i="0" dirty="0">
                <a:solidFill>
                  <a:srgbClr val="242424"/>
                </a:solidFill>
                <a:effectLst/>
                <a:latin typeface="source-serif-pro"/>
              </a:rPr>
              <a:t> characters.</a:t>
            </a:r>
          </a:p>
        </p:txBody>
      </p:sp>
      <p:sp>
        <p:nvSpPr>
          <p:cNvPr id="5" name="Rectangle 1">
            <a:extLst>
              <a:ext uri="{FF2B5EF4-FFF2-40B4-BE49-F238E27FC236}">
                <a16:creationId xmlns:a16="http://schemas.microsoft.com/office/drawing/2014/main" id="{75323CF9-B607-B242-2C33-099FEF667124}"/>
              </a:ext>
            </a:extLst>
          </p:cNvPr>
          <p:cNvSpPr>
            <a:spLocks noChangeArrowheads="1"/>
          </p:cNvSpPr>
          <p:nvPr/>
        </p:nvSpPr>
        <p:spPr bwMode="auto">
          <a:xfrm>
            <a:off x="311499" y="2739631"/>
            <a:ext cx="11346426" cy="156966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ar-EG" altLang="ar-EG" sz="2400" b="0" i="0" u="none" strike="noStrike" cap="none" normalizeH="0" baseline="0" dirty="0">
                <a:ln>
                  <a:noFill/>
                </a:ln>
                <a:solidFill>
                  <a:srgbClr val="242424"/>
                </a:solidFill>
                <a:effectLst/>
                <a:latin typeface="source-serif-pro"/>
              </a:rPr>
              <a:t>As </a:t>
            </a:r>
            <a:r>
              <a:rPr kumimoji="0" lang="ar-EG" altLang="ar-EG" sz="2400" b="0" i="0" u="none" strike="noStrike" cap="none" normalizeH="0" baseline="0" dirty="0" err="1">
                <a:ln>
                  <a:noFill/>
                </a:ln>
                <a:solidFill>
                  <a:srgbClr val="242424"/>
                </a:solidFill>
                <a:effectLst/>
                <a:latin typeface="source-serif-pro"/>
              </a:rPr>
              <a:t>per</a:t>
            </a:r>
            <a:r>
              <a:rPr kumimoji="0" lang="ar-EG" altLang="ar-EG" sz="2400" b="0" i="0" u="none" strike="noStrike" cap="none" normalizeH="0" baseline="0" dirty="0">
                <a:ln>
                  <a:noFill/>
                </a:ln>
                <a:solidFill>
                  <a:srgbClr val="242424"/>
                </a:solidFill>
                <a:effectLst/>
                <a:latin typeface="source-serif-pro"/>
              </a:rPr>
              <a:t> the </a:t>
            </a:r>
            <a:r>
              <a:rPr kumimoji="0" lang="ar-EG" altLang="ar-EG" sz="2400" b="0" i="0" u="none" strike="noStrike" cap="none" normalizeH="0" baseline="0" dirty="0" err="1">
                <a:ln>
                  <a:noFill/>
                </a:ln>
                <a:solidFill>
                  <a:srgbClr val="242424"/>
                </a:solidFill>
                <a:effectLst/>
                <a:latin typeface="source-serif-pro"/>
              </a:rPr>
              <a:t>hint</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it</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was</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noted</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that</a:t>
            </a:r>
            <a:r>
              <a:rPr kumimoji="0" lang="ar-EG" altLang="ar-EG" sz="2400" b="0" i="0" u="none" strike="noStrike" cap="none" normalizeH="0" baseline="0" dirty="0">
                <a:ln>
                  <a:noFill/>
                </a:ln>
                <a:solidFill>
                  <a:srgbClr val="242424"/>
                </a:solidFill>
                <a:effectLst/>
                <a:latin typeface="source-serif-pro"/>
              </a:rPr>
              <a:t> the </a:t>
            </a:r>
            <a:r>
              <a:rPr kumimoji="0" lang="ar-EG" altLang="ar-EG" sz="2400" b="0" i="0" u="none" strike="noStrike" cap="none" normalizeH="0" baseline="0" dirty="0" err="1">
                <a:ln>
                  <a:noFill/>
                </a:ln>
                <a:solidFill>
                  <a:srgbClr val="242424"/>
                </a:solidFill>
                <a:effectLst/>
                <a:latin typeface="source-serif-pro"/>
              </a:rPr>
              <a:t>file</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contained</a:t>
            </a:r>
            <a:r>
              <a:rPr kumimoji="0" lang="ar-EG" altLang="ar-EG" sz="2400" b="0" i="0" u="none" strike="noStrike" cap="none" normalizeH="0" baseline="0" dirty="0">
                <a:ln>
                  <a:noFill/>
                </a:ln>
                <a:solidFill>
                  <a:srgbClr val="242424"/>
                </a:solidFill>
                <a:effectLst/>
                <a:latin typeface="source-serif-pro"/>
              </a:rPr>
              <a:t> a </a:t>
            </a:r>
            <a:r>
              <a:rPr kumimoji="0" lang="ar-EG" altLang="ar-EG" sz="2400" b="0" i="0" u="none" strike="noStrike" cap="none" normalizeH="0" baseline="0" dirty="0" err="1">
                <a:ln>
                  <a:noFill/>
                </a:ln>
                <a:solidFill>
                  <a:srgbClr val="242424"/>
                </a:solidFill>
                <a:effectLst/>
                <a:latin typeface="source-serif-pro"/>
              </a:rPr>
              <a:t>mixture</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of</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strings</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and</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binary</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data</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potentially</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causing</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readability</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challenges</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To</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segregate</a:t>
            </a:r>
            <a:r>
              <a:rPr kumimoji="0" lang="ar-EG" altLang="ar-EG" sz="2400" b="0" i="0" u="none" strike="noStrike" cap="none" normalizeH="0" baseline="0" dirty="0">
                <a:ln>
                  <a:noFill/>
                </a:ln>
                <a:solidFill>
                  <a:srgbClr val="242424"/>
                </a:solidFill>
                <a:effectLst/>
                <a:latin typeface="source-serif-pro"/>
              </a:rPr>
              <a:t> the </a:t>
            </a:r>
            <a:r>
              <a:rPr kumimoji="0" lang="ar-EG" altLang="ar-EG" sz="2400" b="0" i="0" u="none" strike="noStrike" cap="none" normalizeH="0" baseline="0" dirty="0" err="1">
                <a:ln>
                  <a:noFill/>
                </a:ln>
                <a:solidFill>
                  <a:srgbClr val="242424"/>
                </a:solidFill>
                <a:effectLst/>
                <a:latin typeface="source-serif-pro"/>
              </a:rPr>
              <a:t>plain</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text</a:t>
            </a:r>
            <a:r>
              <a:rPr kumimoji="0" lang="ar-EG" altLang="ar-EG" sz="2400" b="0" i="0" u="none" strike="noStrike" cap="none" normalizeH="0" baseline="0" dirty="0">
                <a:ln>
                  <a:noFill/>
                </a:ln>
                <a:solidFill>
                  <a:srgbClr val="242424"/>
                </a:solidFill>
                <a:effectLst/>
                <a:latin typeface="source-serif-pro"/>
              </a:rPr>
              <a:t>, the </a:t>
            </a:r>
            <a:r>
              <a:rPr kumimoji="0" lang="ar-EG" altLang="ar-EG" sz="2400" b="1" i="0" u="none" strike="noStrike" cap="none" normalizeH="0" baseline="0" dirty="0">
                <a:ln>
                  <a:noFill/>
                </a:ln>
                <a:solidFill>
                  <a:srgbClr val="242424"/>
                </a:solidFill>
                <a:effectLst/>
                <a:latin typeface="source-serif-pro"/>
              </a:rPr>
              <a:t>“</a:t>
            </a:r>
            <a:r>
              <a:rPr kumimoji="0" lang="ar-EG" altLang="ar-EG" sz="2400" b="1" i="0" u="none" strike="noStrike" cap="none" normalizeH="0" baseline="0" dirty="0" err="1">
                <a:ln>
                  <a:noFill/>
                </a:ln>
                <a:solidFill>
                  <a:srgbClr val="242424"/>
                </a:solidFill>
                <a:effectLst/>
                <a:latin typeface="source-serif-pro"/>
              </a:rPr>
              <a:t>cat</a:t>
            </a:r>
            <a:r>
              <a:rPr kumimoji="0" lang="ar-EG" altLang="ar-EG" sz="2400" b="1" i="0" u="none" strike="noStrike" cap="none" normalizeH="0" baseline="0" dirty="0">
                <a:ln>
                  <a:noFill/>
                </a:ln>
                <a:solidFill>
                  <a:srgbClr val="242424"/>
                </a:solidFill>
                <a:effectLst/>
                <a:latin typeface="source-serif-pro"/>
              </a:rPr>
              <a:t> data.txt | </a:t>
            </a:r>
            <a:r>
              <a:rPr kumimoji="0" lang="ar-EG" altLang="ar-EG" sz="2400" b="1" i="0" u="none" strike="noStrike" cap="none" normalizeH="0" baseline="0" dirty="0" err="1">
                <a:ln>
                  <a:noFill/>
                </a:ln>
                <a:solidFill>
                  <a:srgbClr val="242424"/>
                </a:solidFill>
                <a:effectLst/>
                <a:latin typeface="source-serif-pro"/>
              </a:rPr>
              <a:t>strings</a:t>
            </a:r>
            <a:r>
              <a:rPr kumimoji="0" lang="ar-EG" altLang="ar-EG" sz="2400" b="1"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command</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was</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executed</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Subsequently</a:t>
            </a:r>
            <a:r>
              <a:rPr kumimoji="0" lang="ar-EG" altLang="ar-EG" sz="2400" b="0" i="0" u="none" strike="noStrike" cap="none" normalizeH="0" baseline="0" dirty="0">
                <a:ln>
                  <a:noFill/>
                </a:ln>
                <a:solidFill>
                  <a:srgbClr val="242424"/>
                </a:solidFill>
                <a:effectLst/>
                <a:latin typeface="source-serif-pro"/>
              </a:rPr>
              <a:t>, the lines </a:t>
            </a:r>
            <a:r>
              <a:rPr kumimoji="0" lang="ar-EG" altLang="ar-EG" sz="2400" b="0" i="0" u="none" strike="noStrike" cap="none" normalizeH="0" baseline="0" dirty="0" err="1">
                <a:ln>
                  <a:noFill/>
                </a:ln>
                <a:solidFill>
                  <a:srgbClr val="242424"/>
                </a:solidFill>
                <a:effectLst/>
                <a:latin typeface="source-serif-pro"/>
              </a:rPr>
              <a:t>commencing</a:t>
            </a:r>
            <a:r>
              <a:rPr kumimoji="0" lang="ar-EG" altLang="ar-EG" sz="2400" b="0" i="0" u="none" strike="noStrike" cap="none" normalizeH="0" baseline="0" dirty="0">
                <a:ln>
                  <a:noFill/>
                </a:ln>
                <a:solidFill>
                  <a:srgbClr val="242424"/>
                </a:solidFill>
                <a:effectLst/>
                <a:latin typeface="source-serif-pro"/>
              </a:rPr>
              <a:t> with the</a:t>
            </a:r>
            <a:r>
              <a:rPr kumimoji="0" lang="ar-EG" altLang="ar-EG" sz="2400" b="1" i="0" u="none" strike="noStrike" cap="none" normalizeH="0" baseline="0" dirty="0">
                <a:ln>
                  <a:noFill/>
                </a:ln>
                <a:solidFill>
                  <a:srgbClr val="242424"/>
                </a:solidFill>
                <a:effectLst/>
                <a:latin typeface="source-serif-pro"/>
              </a:rPr>
              <a:t> “=” </a:t>
            </a:r>
            <a:r>
              <a:rPr kumimoji="0" lang="ar-EG" altLang="ar-EG" sz="2400" b="0" i="0" u="none" strike="noStrike" cap="none" normalizeH="0" baseline="0" dirty="0" err="1">
                <a:ln>
                  <a:noFill/>
                </a:ln>
                <a:solidFill>
                  <a:srgbClr val="242424"/>
                </a:solidFill>
                <a:effectLst/>
                <a:latin typeface="source-serif-pro"/>
              </a:rPr>
              <a:t>sign</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were</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sought</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after</a:t>
            </a:r>
            <a:r>
              <a:rPr kumimoji="0" lang="ar-EG" altLang="ar-EG" sz="2400" b="0" i="0" u="none" strike="noStrike" cap="none" normalizeH="0" baseline="0" dirty="0">
                <a:ln>
                  <a:noFill/>
                </a:ln>
                <a:solidFill>
                  <a:srgbClr val="242424"/>
                </a:solidFill>
                <a:effectLst/>
                <a:latin typeface="source-serif-pro"/>
              </a:rPr>
              <a:t> </a:t>
            </a:r>
            <a:r>
              <a:rPr kumimoji="0" lang="ar-EG" altLang="ar-EG" sz="2400" b="0" i="0" u="none" strike="noStrike" cap="none" normalizeH="0" baseline="0" dirty="0" err="1">
                <a:ln>
                  <a:noFill/>
                </a:ln>
                <a:solidFill>
                  <a:srgbClr val="242424"/>
                </a:solidFill>
                <a:effectLst/>
                <a:latin typeface="source-serif-pro"/>
              </a:rPr>
              <a:t>using</a:t>
            </a:r>
            <a:r>
              <a:rPr kumimoji="0" lang="ar-EG" altLang="ar-EG" sz="2400" b="0" i="0" u="none" strike="noStrike" cap="none" normalizeH="0" baseline="0" dirty="0">
                <a:ln>
                  <a:noFill/>
                </a:ln>
                <a:solidFill>
                  <a:srgbClr val="242424"/>
                </a:solidFill>
                <a:effectLst/>
                <a:latin typeface="source-serif-pro"/>
              </a:rPr>
              <a:t> the </a:t>
            </a:r>
            <a:r>
              <a:rPr kumimoji="0" lang="ar-EG" altLang="ar-EG" sz="2400" b="0" i="0" u="none" strike="noStrike" cap="none" normalizeH="0" baseline="0" dirty="0" err="1">
                <a:ln>
                  <a:noFill/>
                </a:ln>
                <a:solidFill>
                  <a:srgbClr val="242424"/>
                </a:solidFill>
                <a:effectLst/>
                <a:latin typeface="source-serif-pro"/>
              </a:rPr>
              <a:t>command</a:t>
            </a:r>
            <a:r>
              <a:rPr kumimoji="0" lang="ar-EG" altLang="ar-EG" sz="2400" b="0" i="0" u="none" strike="noStrike" cap="none" normalizeH="0" baseline="0" dirty="0">
                <a:ln>
                  <a:noFill/>
                </a:ln>
                <a:solidFill>
                  <a:srgbClr val="242424"/>
                </a:solidFill>
                <a:effectLst/>
                <a:latin typeface="source-serif-pro"/>
              </a:rPr>
              <a:t>:</a:t>
            </a:r>
            <a:endParaRPr kumimoji="0" lang="ar-EG" altLang="ar-EG" sz="1100" b="0" i="0" u="none" strike="noStrike" cap="none" normalizeH="0" baseline="0" dirty="0">
              <a:ln>
                <a:noFill/>
              </a:ln>
              <a:solidFill>
                <a:schemeClr val="tx1"/>
              </a:solidFill>
              <a:effectLst/>
            </a:endParaRPr>
          </a:p>
        </p:txBody>
      </p:sp>
      <p:sp>
        <p:nvSpPr>
          <p:cNvPr id="6" name="Rectangle 2">
            <a:extLst>
              <a:ext uri="{FF2B5EF4-FFF2-40B4-BE49-F238E27FC236}">
                <a16:creationId xmlns:a16="http://schemas.microsoft.com/office/drawing/2014/main" id="{6C8C2213-1522-0B83-CF55-81C22FF7B6B6}"/>
              </a:ext>
            </a:extLst>
          </p:cNvPr>
          <p:cNvSpPr>
            <a:spLocks noChangeArrowheads="1"/>
          </p:cNvSpPr>
          <p:nvPr/>
        </p:nvSpPr>
        <p:spPr bwMode="auto">
          <a:xfrm>
            <a:off x="186813" y="5089635"/>
            <a:ext cx="41492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ar-EG" altLang="ar-EG" sz="2000" b="1" u="none" strike="noStrike" cap="none" normalizeH="0" baseline="0" dirty="0" err="1">
                <a:ln>
                  <a:noFill/>
                </a:ln>
                <a:solidFill>
                  <a:srgbClr val="242424"/>
                </a:solidFill>
                <a:effectLst/>
                <a:latin typeface="source-serif-pro"/>
              </a:rPr>
              <a:t>cat</a:t>
            </a:r>
            <a:r>
              <a:rPr kumimoji="0" lang="ar-EG" altLang="ar-EG" sz="2000" b="1" u="none" strike="noStrike" cap="none" normalizeH="0" baseline="0" dirty="0">
                <a:ln>
                  <a:noFill/>
                </a:ln>
                <a:solidFill>
                  <a:srgbClr val="242424"/>
                </a:solidFill>
                <a:effectLst/>
                <a:latin typeface="source-serif-pro"/>
              </a:rPr>
              <a:t> data.txt | </a:t>
            </a:r>
            <a:r>
              <a:rPr kumimoji="0" lang="ar-EG" altLang="ar-EG" sz="2000" b="1" u="none" strike="noStrike" cap="none" normalizeH="0" baseline="0" dirty="0" err="1">
                <a:ln>
                  <a:noFill/>
                </a:ln>
                <a:solidFill>
                  <a:srgbClr val="242424"/>
                </a:solidFill>
                <a:effectLst/>
                <a:latin typeface="source-serif-pro"/>
              </a:rPr>
              <a:t>strings</a:t>
            </a:r>
            <a:r>
              <a:rPr kumimoji="0" lang="ar-EG" altLang="ar-EG" sz="2000" b="1" u="none" strike="noStrike" cap="none" normalizeH="0" baseline="0" dirty="0">
                <a:ln>
                  <a:noFill/>
                </a:ln>
                <a:solidFill>
                  <a:srgbClr val="242424"/>
                </a:solidFill>
                <a:effectLst/>
                <a:latin typeface="source-serif-pro"/>
              </a:rPr>
              <a:t> | </a:t>
            </a:r>
            <a:r>
              <a:rPr kumimoji="0" lang="ar-EG" altLang="ar-EG" sz="2000" b="1" u="none" strike="noStrike" cap="none" normalizeH="0" baseline="0" dirty="0" err="1">
                <a:ln>
                  <a:noFill/>
                </a:ln>
                <a:solidFill>
                  <a:srgbClr val="242424"/>
                </a:solidFill>
                <a:effectLst/>
                <a:latin typeface="source-serif-pro"/>
              </a:rPr>
              <a:t>grep</a:t>
            </a:r>
            <a:r>
              <a:rPr kumimoji="0" lang="ar-EG" altLang="ar-EG" sz="2000" b="1" u="none" strike="noStrike" cap="none" normalizeH="0" baseline="0" dirty="0">
                <a:ln>
                  <a:noFill/>
                </a:ln>
                <a:solidFill>
                  <a:srgbClr val="242424"/>
                </a:solidFill>
                <a:effectLst/>
                <a:latin typeface="source-serif-pro"/>
              </a:rPr>
              <a:t> "==" </a:t>
            </a:r>
            <a:endParaRPr kumimoji="0" lang="ar-EG" altLang="ar-EG" sz="1050" b="0" u="none" strike="noStrike" cap="none" normalizeH="0" baseline="0" dirty="0">
              <a:ln>
                <a:noFill/>
              </a:ln>
              <a:solidFill>
                <a:schemeClr val="tx1"/>
              </a:solidFill>
              <a:effectLst/>
            </a:endParaRPr>
          </a:p>
        </p:txBody>
      </p:sp>
      <p:sp>
        <p:nvSpPr>
          <p:cNvPr id="10" name="TextBox 9">
            <a:extLst>
              <a:ext uri="{FF2B5EF4-FFF2-40B4-BE49-F238E27FC236}">
                <a16:creationId xmlns:a16="http://schemas.microsoft.com/office/drawing/2014/main" id="{34D3A085-0823-D06D-2B1F-102D73796A3C}"/>
              </a:ext>
            </a:extLst>
          </p:cNvPr>
          <p:cNvSpPr txBox="1"/>
          <p:nvPr/>
        </p:nvSpPr>
        <p:spPr>
          <a:xfrm>
            <a:off x="186813" y="4514797"/>
            <a:ext cx="6096000" cy="369332"/>
          </a:xfrm>
          <a:prstGeom prst="rect">
            <a:avLst/>
          </a:prstGeom>
          <a:noFill/>
        </p:spPr>
        <p:txBody>
          <a:bodyPr wrap="square">
            <a:spAutoFit/>
          </a:bodyPr>
          <a:lstStyle/>
          <a:p>
            <a:r>
              <a:rPr lang="en-US" b="0" i="0" dirty="0">
                <a:solidFill>
                  <a:srgbClr val="FF0000"/>
                </a:solidFill>
                <a:effectLst/>
                <a:latin typeface="Raleway" pitchFamily="2" charset="0"/>
              </a:rPr>
              <a:t>To do this I ran the command below </a:t>
            </a:r>
            <a:endParaRPr lang="ar-EG" dirty="0"/>
          </a:p>
        </p:txBody>
      </p:sp>
    </p:spTree>
    <p:extLst>
      <p:ext uri="{BB962C8B-B14F-4D97-AF65-F5344CB8AC3E}">
        <p14:creationId xmlns:p14="http://schemas.microsoft.com/office/powerpoint/2010/main" val="24931818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D93805C-4C25-7F00-5580-A13F53C0D4D6}"/>
              </a:ext>
            </a:extLst>
          </p:cNvPr>
          <p:cNvSpPr txBox="1"/>
          <p:nvPr/>
        </p:nvSpPr>
        <p:spPr>
          <a:xfrm>
            <a:off x="452283" y="913156"/>
            <a:ext cx="10874477" cy="1938992"/>
          </a:xfrm>
          <a:prstGeom prst="rect">
            <a:avLst/>
          </a:prstGeom>
          <a:noFill/>
        </p:spPr>
        <p:txBody>
          <a:bodyPr wrap="square">
            <a:spAutoFit/>
          </a:bodyPr>
          <a:lstStyle/>
          <a:p>
            <a:pPr algn="l"/>
            <a:r>
              <a:rPr lang="en-US" sz="2400" b="0" i="0" dirty="0">
                <a:solidFill>
                  <a:srgbClr val="242424"/>
                </a:solidFill>
                <a:effectLst/>
                <a:latin typeface="source-serif-pro"/>
              </a:rPr>
              <a:t>Several “=” signs are initiated at the beginning of each of them, and if the same format for all passwords is followed, it is anticipated that the password will be located as the last line.</a:t>
            </a:r>
          </a:p>
          <a:p>
            <a:br>
              <a:rPr lang="en-US" sz="2400" dirty="0">
                <a:effectLst/>
              </a:rPr>
            </a:br>
            <a:endParaRPr lang="ar-EG" sz="2400" dirty="0"/>
          </a:p>
        </p:txBody>
      </p:sp>
      <p:pic>
        <p:nvPicPr>
          <p:cNvPr id="11266" name="Picture 2">
            <a:extLst>
              <a:ext uri="{FF2B5EF4-FFF2-40B4-BE49-F238E27FC236}">
                <a16:creationId xmlns:a16="http://schemas.microsoft.com/office/drawing/2014/main" id="{A9E8E050-9AF2-FBB0-D169-71AAA2DC5A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0890" y="2991440"/>
            <a:ext cx="8334375" cy="202882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ADDEED8-9E54-5E0D-4828-82105606A4CF}"/>
              </a:ext>
            </a:extLst>
          </p:cNvPr>
          <p:cNvSpPr txBox="1"/>
          <p:nvPr/>
        </p:nvSpPr>
        <p:spPr>
          <a:xfrm>
            <a:off x="186812" y="6105831"/>
            <a:ext cx="4751109" cy="646331"/>
          </a:xfrm>
          <a:prstGeom prst="rect">
            <a:avLst/>
          </a:prstGeom>
          <a:noFill/>
        </p:spPr>
        <p:txBody>
          <a:bodyPr wrap="none" rtlCol="1">
            <a:spAutoFit/>
          </a:bodyPr>
          <a:lstStyle/>
          <a:p>
            <a:r>
              <a:rPr lang="en-US" dirty="0"/>
              <a:t>Username: </a:t>
            </a:r>
            <a:r>
              <a:rPr lang="en-US" dirty="0">
                <a:solidFill>
                  <a:srgbClr val="FF0000"/>
                </a:solidFill>
              </a:rPr>
              <a:t>bnadit10</a:t>
            </a:r>
          </a:p>
          <a:p>
            <a:r>
              <a:rPr lang="en-US" dirty="0"/>
              <a:t>Password: </a:t>
            </a:r>
            <a:r>
              <a:rPr lang="en-US" dirty="0">
                <a:solidFill>
                  <a:srgbClr val="FF0000"/>
                </a:solidFill>
              </a:rPr>
              <a:t>G7w8LIi6J3kTb8A7j9LgrywtEUlyyp6s</a:t>
            </a:r>
            <a:endParaRPr lang="ar-EG" dirty="0">
              <a:solidFill>
                <a:srgbClr val="FF0000"/>
              </a:solidFill>
            </a:endParaRPr>
          </a:p>
        </p:txBody>
      </p:sp>
    </p:spTree>
    <p:extLst>
      <p:ext uri="{BB962C8B-B14F-4D97-AF65-F5344CB8AC3E}">
        <p14:creationId xmlns:p14="http://schemas.microsoft.com/office/powerpoint/2010/main" val="41248542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AD86731-8808-5215-912C-FB55269E823B}"/>
              </a:ext>
            </a:extLst>
          </p:cNvPr>
          <p:cNvSpPr>
            <a:spLocks noGrp="1"/>
          </p:cNvSpPr>
          <p:nvPr>
            <p:ph type="body" sz="quarter" idx="10"/>
          </p:nvPr>
        </p:nvSpPr>
        <p:spPr/>
        <p:txBody>
          <a:bodyPr>
            <a:normAutofit fontScale="92500" lnSpcReduction="10000"/>
          </a:bodyPr>
          <a:lstStyle/>
          <a:p>
            <a:r>
              <a:rPr lang="en-US" dirty="0"/>
              <a:t>other solution</a:t>
            </a:r>
            <a:endParaRPr lang="ar-EG" dirty="0"/>
          </a:p>
        </p:txBody>
      </p:sp>
      <p:sp>
        <p:nvSpPr>
          <p:cNvPr id="4" name="TextBox 3">
            <a:extLst>
              <a:ext uri="{FF2B5EF4-FFF2-40B4-BE49-F238E27FC236}">
                <a16:creationId xmlns:a16="http://schemas.microsoft.com/office/drawing/2014/main" id="{DD2DC2DD-FE94-7D36-5A20-3FEA5A515F7D}"/>
              </a:ext>
            </a:extLst>
          </p:cNvPr>
          <p:cNvSpPr txBox="1"/>
          <p:nvPr/>
        </p:nvSpPr>
        <p:spPr>
          <a:xfrm>
            <a:off x="323529" y="990119"/>
            <a:ext cx="11573196" cy="1423275"/>
          </a:xfrm>
          <a:prstGeom prst="rect">
            <a:avLst/>
          </a:prstGeom>
          <a:noFill/>
        </p:spPr>
        <p:txBody>
          <a:bodyPr wrap="square">
            <a:spAutoFit/>
          </a:bodyPr>
          <a:lstStyle/>
          <a:p>
            <a:pPr algn="l">
              <a:lnSpc>
                <a:spcPct val="150000"/>
              </a:lnSpc>
            </a:pPr>
            <a:r>
              <a:rPr lang="en-US" sz="2000" b="0" i="0" dirty="0">
                <a:solidFill>
                  <a:srgbClr val="000000"/>
                </a:solidFill>
                <a:effectLst/>
                <a:latin typeface="Raleway" pitchFamily="2" charset="0"/>
              </a:rPr>
              <a:t>According to the hint, the file contains both strings and binary data which can make it difficult to read. In order to sort out the plain text I ran "cat data.txt | string". The next part is to grep the lines that start with the = sign. To do everything in 1 line I used the command below:</a:t>
            </a:r>
          </a:p>
        </p:txBody>
      </p:sp>
      <p:sp>
        <p:nvSpPr>
          <p:cNvPr id="6" name="TextBox 5">
            <a:extLst>
              <a:ext uri="{FF2B5EF4-FFF2-40B4-BE49-F238E27FC236}">
                <a16:creationId xmlns:a16="http://schemas.microsoft.com/office/drawing/2014/main" id="{EEBA408B-2CEB-6DCC-FB40-5F863BBCBC61}"/>
              </a:ext>
            </a:extLst>
          </p:cNvPr>
          <p:cNvSpPr txBox="1"/>
          <p:nvPr/>
        </p:nvSpPr>
        <p:spPr>
          <a:xfrm>
            <a:off x="323529" y="2694490"/>
            <a:ext cx="6096000" cy="400110"/>
          </a:xfrm>
          <a:prstGeom prst="rect">
            <a:avLst/>
          </a:prstGeom>
          <a:noFill/>
        </p:spPr>
        <p:txBody>
          <a:bodyPr wrap="square">
            <a:spAutoFit/>
          </a:bodyPr>
          <a:lstStyle/>
          <a:p>
            <a:pPr algn="l"/>
            <a:r>
              <a:rPr lang="en-US" sz="2000" b="0" i="1" dirty="0">
                <a:solidFill>
                  <a:srgbClr val="FF0000"/>
                </a:solidFill>
                <a:effectLst/>
                <a:latin typeface="Raleway" pitchFamily="2" charset="0"/>
              </a:rPr>
              <a:t>cat data.txt | strings | grep ^=</a:t>
            </a:r>
            <a:endParaRPr lang="en-US" sz="2000" b="0" i="0" dirty="0">
              <a:solidFill>
                <a:srgbClr val="FF0000"/>
              </a:solidFill>
              <a:effectLst/>
              <a:latin typeface="Raleway" pitchFamily="2" charset="0"/>
            </a:endParaRPr>
          </a:p>
        </p:txBody>
      </p:sp>
      <p:pic>
        <p:nvPicPr>
          <p:cNvPr id="8" name="Picture 7">
            <a:extLst>
              <a:ext uri="{FF2B5EF4-FFF2-40B4-BE49-F238E27FC236}">
                <a16:creationId xmlns:a16="http://schemas.microsoft.com/office/drawing/2014/main" id="{F54FB34D-9CEC-E4B1-499F-8B6D1ECBB307}"/>
              </a:ext>
            </a:extLst>
          </p:cNvPr>
          <p:cNvPicPr>
            <a:picLocks noChangeAspect="1"/>
          </p:cNvPicPr>
          <p:nvPr/>
        </p:nvPicPr>
        <p:blipFill>
          <a:blip r:embed="rId2"/>
          <a:stretch>
            <a:fillRect/>
          </a:stretch>
        </p:blipFill>
        <p:spPr>
          <a:xfrm>
            <a:off x="2204501" y="3501369"/>
            <a:ext cx="7782997" cy="2535637"/>
          </a:xfrm>
          <a:prstGeom prst="rect">
            <a:avLst/>
          </a:prstGeom>
        </p:spPr>
      </p:pic>
    </p:spTree>
    <p:extLst>
      <p:ext uri="{BB962C8B-B14F-4D97-AF65-F5344CB8AC3E}">
        <p14:creationId xmlns:p14="http://schemas.microsoft.com/office/powerpoint/2010/main" val="40348917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그룹 5">
            <a:extLst>
              <a:ext uri="{FF2B5EF4-FFF2-40B4-BE49-F238E27FC236}">
                <a16:creationId xmlns:a16="http://schemas.microsoft.com/office/drawing/2014/main" id="{65AAB7AF-DB1F-4935-80EC-17FCE6FDC84A}"/>
              </a:ext>
            </a:extLst>
          </p:cNvPr>
          <p:cNvGrpSpPr/>
          <p:nvPr/>
        </p:nvGrpSpPr>
        <p:grpSpPr>
          <a:xfrm>
            <a:off x="6096000" y="2769507"/>
            <a:ext cx="6096000" cy="1318987"/>
            <a:chOff x="1" y="4959383"/>
            <a:chExt cx="12191999" cy="1318987"/>
          </a:xfrm>
        </p:grpSpPr>
        <p:sp>
          <p:nvSpPr>
            <p:cNvPr id="4" name="TextBox 3">
              <a:extLst>
                <a:ext uri="{FF2B5EF4-FFF2-40B4-BE49-F238E27FC236}">
                  <a16:creationId xmlns:a16="http://schemas.microsoft.com/office/drawing/2014/main" id="{1DF8EF26-7AD5-4E7F-95B3-9A57CF80C483}"/>
                </a:ext>
              </a:extLst>
            </p:cNvPr>
            <p:cNvSpPr txBox="1"/>
            <p:nvPr/>
          </p:nvSpPr>
          <p:spPr>
            <a:xfrm>
              <a:off x="1" y="4959383"/>
              <a:ext cx="12191999" cy="1015663"/>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6000" b="0" i="0" u="none" strike="noStrike" kern="1200" cap="none" spc="0" normalizeH="0" baseline="0" noProof="0" dirty="0">
                  <a:ln>
                    <a:noFill/>
                  </a:ln>
                  <a:solidFill>
                    <a:prstClr val="white"/>
                  </a:solidFill>
                  <a:effectLst/>
                  <a:uLnTx/>
                  <a:uFillTx/>
                  <a:latin typeface="Arial"/>
                  <a:ea typeface="맑은 고딕"/>
                  <a:cs typeface="Arial" pitchFamily="34" charset="0"/>
                </a:rPr>
                <a:t>THANK YOU</a:t>
              </a:r>
              <a:endParaRPr kumimoji="0" lang="ko-KR" altLang="en-US" sz="6000" b="0" i="0" u="none" strike="noStrike" kern="1200" cap="none" spc="0" normalizeH="0" baseline="0" noProof="0" dirty="0">
                <a:ln>
                  <a:noFill/>
                </a:ln>
                <a:solidFill>
                  <a:prstClr val="white"/>
                </a:solidFill>
                <a:effectLst/>
                <a:uLnTx/>
                <a:uFillTx/>
                <a:latin typeface="Arial"/>
                <a:ea typeface="맑은 고딕"/>
                <a:cs typeface="Arial" pitchFamily="34" charset="0"/>
              </a:endParaRPr>
            </a:p>
          </p:txBody>
        </p:sp>
        <p:sp>
          <p:nvSpPr>
            <p:cNvPr id="5" name="TextBox 4">
              <a:extLst>
                <a:ext uri="{FF2B5EF4-FFF2-40B4-BE49-F238E27FC236}">
                  <a16:creationId xmlns:a16="http://schemas.microsoft.com/office/drawing/2014/main" id="{BADEB2CA-D11F-4CA5-BC5A-6C38FF4BF392}"/>
                </a:ext>
              </a:extLst>
            </p:cNvPr>
            <p:cNvSpPr txBox="1"/>
            <p:nvPr/>
          </p:nvSpPr>
          <p:spPr>
            <a:xfrm>
              <a:off x="51" y="5898714"/>
              <a:ext cx="12191852" cy="379656"/>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en-US" sz="1867" b="0" i="0" u="none" strike="noStrike" kern="1200" cap="none" spc="0" normalizeH="0" baseline="0" noProof="0" dirty="0">
                <a:ln>
                  <a:noFill/>
                </a:ln>
                <a:solidFill>
                  <a:prstClr val="white"/>
                </a:solidFill>
                <a:effectLst/>
                <a:uLnTx/>
                <a:uFillTx/>
                <a:latin typeface="Arial"/>
                <a:ea typeface="맑은 고딕"/>
                <a:cs typeface="Arial" pitchFamily="34" charset="0"/>
              </a:endParaRPr>
            </a:p>
          </p:txBody>
        </p:sp>
      </p:grpSp>
    </p:spTree>
    <p:extLst>
      <p:ext uri="{BB962C8B-B14F-4D97-AF65-F5344CB8AC3E}">
        <p14:creationId xmlns:p14="http://schemas.microsoft.com/office/powerpoint/2010/main" val="821656516"/>
      </p:ext>
    </p:extLst>
  </p:cSld>
  <p:clrMapOvr>
    <a:masterClrMapping/>
  </p:clrMapOvr>
</p:sld>
</file>

<file path=ppt/theme/theme1.xml><?xml version="1.0" encoding="utf-8"?>
<a:theme xmlns:a="http://schemas.openxmlformats.org/drawingml/2006/main" name="Contents Slide Master">
  <a:themeElements>
    <a:clrScheme name="ALLPPT-116">
      <a:dk1>
        <a:srgbClr val="000000"/>
      </a:dk1>
      <a:lt1>
        <a:sysClr val="window" lastClr="FFFFFF"/>
      </a:lt1>
      <a:dk2>
        <a:srgbClr val="1F497D"/>
      </a:dk2>
      <a:lt2>
        <a:srgbClr val="EEECE1"/>
      </a:lt2>
      <a:accent1>
        <a:srgbClr val="07A398"/>
      </a:accent1>
      <a:accent2>
        <a:srgbClr val="0680C3"/>
      </a:accent2>
      <a:accent3>
        <a:srgbClr val="FBA200"/>
      </a:accent3>
      <a:accent4>
        <a:srgbClr val="E62601"/>
      </a:accent4>
      <a:accent5>
        <a:srgbClr val="2C2F45"/>
      </a:accent5>
      <a:accent6>
        <a:srgbClr val="7F7F7F"/>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Frame">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9935E573-C197-41A8-BCA1-5D5F62C560B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Cover and End Slide Master">
  <a:themeElements>
    <a:clrScheme name="ALLPPT-116">
      <a:dk1>
        <a:srgbClr val="000000"/>
      </a:dk1>
      <a:lt1>
        <a:sysClr val="window" lastClr="FFFFFF"/>
      </a:lt1>
      <a:dk2>
        <a:srgbClr val="1F497D"/>
      </a:dk2>
      <a:lt2>
        <a:srgbClr val="EEECE1"/>
      </a:lt2>
      <a:accent1>
        <a:srgbClr val="07A398"/>
      </a:accent1>
      <a:accent2>
        <a:srgbClr val="0680C3"/>
      </a:accent2>
      <a:accent3>
        <a:srgbClr val="FBA200"/>
      </a:accent3>
      <a:accent4>
        <a:srgbClr val="E62601"/>
      </a:accent4>
      <a:accent5>
        <a:srgbClr val="2C2F45"/>
      </a:accent5>
      <a:accent6>
        <a:srgbClr val="7F7F7F"/>
      </a:accent6>
      <a:hlink>
        <a:srgbClr val="0000FF"/>
      </a:hlink>
      <a:folHlink>
        <a:srgbClr val="800080"/>
      </a:folHlink>
    </a:clrScheme>
    <a:fontScheme name="ALLPPT PONTS">
      <a:majorFont>
        <a:latin typeface="Arial"/>
        <a:ea typeface="Malgun Gothic"/>
        <a:cs typeface=""/>
      </a:majorFont>
      <a:minorFont>
        <a:latin typeface="Arial"/>
        <a:ea typeface="맑은 고딕"/>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2202</TotalTime>
  <Words>1380</Words>
  <Application>Microsoft Office PowerPoint</Application>
  <PresentationFormat>Widescreen</PresentationFormat>
  <Paragraphs>99</Paragraphs>
  <Slides>17</Slides>
  <Notes>0</Notes>
  <HiddenSlides>0</HiddenSlides>
  <MMClips>0</MMClips>
  <ScaleCrop>false</ScaleCrop>
  <HeadingPairs>
    <vt:vector size="6" baseType="variant">
      <vt:variant>
        <vt:lpstr>Fonts Used</vt:lpstr>
      </vt:variant>
      <vt:variant>
        <vt:i4>10</vt:i4>
      </vt:variant>
      <vt:variant>
        <vt:lpstr>Theme</vt:lpstr>
      </vt:variant>
      <vt:variant>
        <vt:i4>4</vt:i4>
      </vt:variant>
      <vt:variant>
        <vt:lpstr>Slide Titles</vt:lpstr>
      </vt:variant>
      <vt:variant>
        <vt:i4>17</vt:i4>
      </vt:variant>
    </vt:vector>
  </HeadingPairs>
  <TitlesOfParts>
    <vt:vector size="31" baseType="lpstr">
      <vt:lpstr>Arial</vt:lpstr>
      <vt:lpstr>Calibri</vt:lpstr>
      <vt:lpstr>Calibri Light</vt:lpstr>
      <vt:lpstr>Corbel</vt:lpstr>
      <vt:lpstr>Pontano Sans</vt:lpstr>
      <vt:lpstr>Raleway</vt:lpstr>
      <vt:lpstr>sohne</vt:lpstr>
      <vt:lpstr>Source Sans 3</vt:lpstr>
      <vt:lpstr>source-serif-pro</vt:lpstr>
      <vt:lpstr>Wingdings 2</vt:lpstr>
      <vt:lpstr>Contents Slide Master</vt:lpstr>
      <vt:lpstr>Frame</vt:lpstr>
      <vt:lpstr>Office Theme</vt:lpstr>
      <vt:lpstr>Cover and End Slide Master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Ibrahim Hassaan</dc:creator>
  <cp:lastModifiedBy>Ramy Ebeid</cp:lastModifiedBy>
  <cp:revision>44</cp:revision>
  <dcterms:created xsi:type="dcterms:W3CDTF">2024-01-24T21:29:27Z</dcterms:created>
  <dcterms:modified xsi:type="dcterms:W3CDTF">2024-02-23T19:12:14Z</dcterms:modified>
</cp:coreProperties>
</file>